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6" r:id="rId20"/>
    <p:sldId id="274" r:id="rId21"/>
    <p:sldId id="275" r:id="rId22"/>
    <p:sldId id="277" r:id="rId23"/>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iJd+kgrf0JRTgbLtp7Pt6QsSty6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B5F707-6327-4866-AE9F-9886FE01D54E}" v="3" dt="2026-07-22T01:54:20.4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31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manasa Chadalavada" userId="14e45060-ed96-4888-9322-0b04a8a5706a" providerId="ADAL" clId="{A767541E-4A6C-47D5-8E1E-34BA079AB897}"/>
    <pc:docChg chg="custSel addSld modSld">
      <pc:chgData name="Saimanasa Chadalavada" userId="14e45060-ed96-4888-9322-0b04a8a5706a" providerId="ADAL" clId="{A767541E-4A6C-47D5-8E1E-34BA079AB897}" dt="2026-07-22T01:54:20.437" v="35"/>
      <pc:docMkLst>
        <pc:docMk/>
      </pc:docMkLst>
      <pc:sldChg chg="delSp modSp mod">
        <pc:chgData name="Saimanasa Chadalavada" userId="14e45060-ed96-4888-9322-0b04a8a5706a" providerId="ADAL" clId="{A767541E-4A6C-47D5-8E1E-34BA079AB897}" dt="2026-07-21T18:44:24.447" v="28" actId="1076"/>
        <pc:sldMkLst>
          <pc:docMk/>
          <pc:sldMk cId="0" sldId="257"/>
        </pc:sldMkLst>
        <pc:spChg chg="del">
          <ac:chgData name="Saimanasa Chadalavada" userId="14e45060-ed96-4888-9322-0b04a8a5706a" providerId="ADAL" clId="{A767541E-4A6C-47D5-8E1E-34BA079AB897}" dt="2026-07-21T18:44:10.788" v="24" actId="478"/>
          <ac:spMkLst>
            <pc:docMk/>
            <pc:sldMk cId="0" sldId="257"/>
            <ac:spMk id="36" creationId="{00000000-0000-0000-0000-000000000000}"/>
          </ac:spMkLst>
        </pc:spChg>
        <pc:spChg chg="del mod">
          <ac:chgData name="Saimanasa Chadalavada" userId="14e45060-ed96-4888-9322-0b04a8a5706a" providerId="ADAL" clId="{A767541E-4A6C-47D5-8E1E-34BA079AB897}" dt="2026-07-21T18:44:09.133" v="23" actId="478"/>
          <ac:spMkLst>
            <pc:docMk/>
            <pc:sldMk cId="0" sldId="257"/>
            <ac:spMk id="37" creationId="{00000000-0000-0000-0000-000000000000}"/>
          </ac:spMkLst>
        </pc:spChg>
        <pc:spChg chg="mod">
          <ac:chgData name="Saimanasa Chadalavada" userId="14e45060-ed96-4888-9322-0b04a8a5706a" providerId="ADAL" clId="{A767541E-4A6C-47D5-8E1E-34BA079AB897}" dt="2026-07-21T18:44:18.471" v="26" actId="1076"/>
          <ac:spMkLst>
            <pc:docMk/>
            <pc:sldMk cId="0" sldId="257"/>
            <ac:spMk id="38" creationId="{00000000-0000-0000-0000-000000000000}"/>
          </ac:spMkLst>
        </pc:spChg>
        <pc:spChg chg="mod">
          <ac:chgData name="Saimanasa Chadalavada" userId="14e45060-ed96-4888-9322-0b04a8a5706a" providerId="ADAL" clId="{A767541E-4A6C-47D5-8E1E-34BA079AB897}" dt="2026-07-21T18:44:15.372" v="25" actId="1076"/>
          <ac:spMkLst>
            <pc:docMk/>
            <pc:sldMk cId="0" sldId="257"/>
            <ac:spMk id="39" creationId="{00000000-0000-0000-0000-000000000000}"/>
          </ac:spMkLst>
        </pc:spChg>
        <pc:spChg chg="mod">
          <ac:chgData name="Saimanasa Chadalavada" userId="14e45060-ed96-4888-9322-0b04a8a5706a" providerId="ADAL" clId="{A767541E-4A6C-47D5-8E1E-34BA079AB897}" dt="2026-07-21T18:44:21.228" v="27" actId="1076"/>
          <ac:spMkLst>
            <pc:docMk/>
            <pc:sldMk cId="0" sldId="257"/>
            <ac:spMk id="40" creationId="{00000000-0000-0000-0000-000000000000}"/>
          </ac:spMkLst>
        </pc:spChg>
        <pc:spChg chg="mod">
          <ac:chgData name="Saimanasa Chadalavada" userId="14e45060-ed96-4888-9322-0b04a8a5706a" providerId="ADAL" clId="{A767541E-4A6C-47D5-8E1E-34BA079AB897}" dt="2026-07-21T18:44:24.447" v="28" actId="1076"/>
          <ac:spMkLst>
            <pc:docMk/>
            <pc:sldMk cId="0" sldId="257"/>
            <ac:spMk id="41" creationId="{00000000-0000-0000-0000-000000000000}"/>
          </ac:spMkLst>
        </pc:spChg>
      </pc:sldChg>
      <pc:sldChg chg="addSp modSp mod">
        <pc:chgData name="Saimanasa Chadalavada" userId="14e45060-ed96-4888-9322-0b04a8a5706a" providerId="ADAL" clId="{A767541E-4A6C-47D5-8E1E-34BA079AB897}" dt="2026-07-21T18:29:54.173" v="20" actId="13822"/>
        <pc:sldMkLst>
          <pc:docMk/>
          <pc:sldMk cId="0" sldId="274"/>
        </pc:sldMkLst>
        <pc:spChg chg="add mod">
          <ac:chgData name="Saimanasa Chadalavada" userId="14e45060-ed96-4888-9322-0b04a8a5706a" providerId="ADAL" clId="{A767541E-4A6C-47D5-8E1E-34BA079AB897}" dt="2026-07-21T18:29:43.206" v="17" actId="21"/>
          <ac:spMkLst>
            <pc:docMk/>
            <pc:sldMk cId="0" sldId="274"/>
            <ac:spMk id="3" creationId="{B983ABF1-F63B-A391-5E72-03BFF22381A9}"/>
          </ac:spMkLst>
        </pc:spChg>
        <pc:spChg chg="add mod">
          <ac:chgData name="Saimanasa Chadalavada" userId="14e45060-ed96-4888-9322-0b04a8a5706a" providerId="ADAL" clId="{A767541E-4A6C-47D5-8E1E-34BA079AB897}" dt="2026-07-21T18:29:54.173" v="20" actId="13822"/>
          <ac:spMkLst>
            <pc:docMk/>
            <pc:sldMk cId="0" sldId="274"/>
            <ac:spMk id="4" creationId="{F68FBE81-E091-049D-6F49-06228E39BC6C}"/>
          </ac:spMkLst>
        </pc:spChg>
      </pc:sldChg>
      <pc:sldChg chg="modSp add mod setBg">
        <pc:chgData name="Saimanasa Chadalavada" userId="14e45060-ed96-4888-9322-0b04a8a5706a" providerId="ADAL" clId="{A767541E-4A6C-47D5-8E1E-34BA079AB897}" dt="2026-07-21T18:45:52.007" v="34" actId="20577"/>
        <pc:sldMkLst>
          <pc:docMk/>
          <pc:sldMk cId="0" sldId="276"/>
        </pc:sldMkLst>
        <pc:spChg chg="mod">
          <ac:chgData name="Saimanasa Chadalavada" userId="14e45060-ed96-4888-9322-0b04a8a5706a" providerId="ADAL" clId="{A767541E-4A6C-47D5-8E1E-34BA079AB897}" dt="2026-07-21T18:45:44.986" v="31" actId="20577"/>
          <ac:spMkLst>
            <pc:docMk/>
            <pc:sldMk cId="0" sldId="276"/>
            <ac:spMk id="12" creationId="{00000000-0000-0000-0000-000000000000}"/>
          </ac:spMkLst>
        </pc:spChg>
        <pc:spChg chg="mod">
          <ac:chgData name="Saimanasa Chadalavada" userId="14e45060-ed96-4888-9322-0b04a8a5706a" providerId="ADAL" clId="{A767541E-4A6C-47D5-8E1E-34BA079AB897}" dt="2026-07-21T18:45:52.007" v="34" actId="20577"/>
          <ac:spMkLst>
            <pc:docMk/>
            <pc:sldMk cId="0" sldId="276"/>
            <ac:spMk id="16" creationId="{00000000-0000-0000-0000-000000000000}"/>
          </ac:spMkLst>
        </pc:spChg>
      </pc:sldChg>
      <pc:sldChg chg="add setBg">
        <pc:chgData name="Saimanasa Chadalavada" userId="14e45060-ed96-4888-9322-0b04a8a5706a" providerId="ADAL" clId="{A767541E-4A6C-47D5-8E1E-34BA079AB897}" dt="2026-07-22T01:54:20.437" v="35"/>
        <pc:sldMkLst>
          <pc:docMk/>
          <pc:sldMk cId="0" sldId="2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 name="Google Shape;1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 name="Google Shape;1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 name="Google Shape;2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 name="Google Shape;25;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9" name="Google Shape;14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 name="Google Shape;21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8" name="Google Shape;21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5" name="Google Shape;28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6" name="Google Shape;28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4" name="Google Shape;354;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5" name="Google Shape;415;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6" name="Google Shape;416;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7" name="Google Shape;477;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8" name="Google Shape;478;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4" name="Google Shape;50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5" name="Google Shape;50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7" name="Google Shape;567;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8" name="Google Shape;568;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2" name="Google Shape;65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3" name="Google Shape;65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2" name="Google Shape;68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3" name="Google Shape;683;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5" name="Google Shape;74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6" name="Google Shape;746;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6"/>
        <p:cNvGrpSpPr/>
        <p:nvPr/>
      </p:nvGrpSpPr>
      <p:grpSpPr>
        <a:xfrm>
          <a:off x="0" y="0"/>
          <a:ext cx="0" cy="0"/>
          <a:chOff x="0" y="0"/>
          <a:chExt cx="0" cy="0"/>
        </a:xfrm>
      </p:grpSpPr>
      <p:sp>
        <p:nvSpPr>
          <p:cNvPr id="807" name="Google Shape;807;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8" name="Google Shape;808;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9" name="Google Shape;809;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0" name="Google Shape;870;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1" name="Google Shape;871;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2" name="Google Shape;932;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3" name="Google Shape;933;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5" name="Google Shape;995;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8" name="Google Shape;1058;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3"/>
        <p:cNvGrpSpPr/>
        <p:nvPr/>
      </p:nvGrpSpPr>
      <p:grpSpPr>
        <a:xfrm>
          <a:off x="0" y="0"/>
          <a:ext cx="0" cy="0"/>
          <a:chOff x="0" y="0"/>
          <a:chExt cx="0" cy="0"/>
        </a:xfrm>
      </p:grpSpPr>
      <p:sp>
        <p:nvSpPr>
          <p:cNvPr id="1094" name="Google Shape;109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5" name="Google Shape;109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6" name="Google Shape;1096;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hyperlink" Target="https://doi.org/10.1002/j.1538-7305.1948.tb01338.x" TargetMode="Externa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0.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3.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6.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30.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0A6E"/>
        </a:solidFill>
        <a:effectLst/>
      </p:bgPr>
    </p:bg>
    <p:spTree>
      <p:nvGrpSpPr>
        <p:cNvPr id="1" name="Shape 15"/>
        <p:cNvGrpSpPr/>
        <p:nvPr/>
      </p:nvGrpSpPr>
      <p:grpSpPr>
        <a:xfrm>
          <a:off x="0" y="0"/>
          <a:ext cx="0" cy="0"/>
          <a:chOff x="0" y="0"/>
          <a:chExt cx="0" cy="0"/>
        </a:xfrm>
      </p:grpSpPr>
      <p:pic>
        <p:nvPicPr>
          <p:cNvPr id="16" name="Google Shape;16;p1" descr="logo/trilytics_logo_clean.png"/>
          <p:cNvPicPr preferRelativeResize="0"/>
          <p:nvPr/>
        </p:nvPicPr>
        <p:blipFill rotWithShape="1">
          <a:blip r:embed="rId3">
            <a:alphaModFix/>
          </a:blip>
          <a:srcRect/>
          <a:stretch/>
        </p:blipFill>
        <p:spPr>
          <a:xfrm>
            <a:off x="452025" y="274312"/>
            <a:ext cx="2835844" cy="1554475"/>
          </a:xfrm>
          <a:prstGeom prst="rect">
            <a:avLst/>
          </a:prstGeom>
          <a:noFill/>
          <a:ln>
            <a:noFill/>
          </a:ln>
        </p:spPr>
      </p:pic>
      <p:sp>
        <p:nvSpPr>
          <p:cNvPr id="17" name="Google Shape;17;p1"/>
          <p:cNvSpPr/>
          <p:nvPr/>
        </p:nvSpPr>
        <p:spPr>
          <a:xfrm>
            <a:off x="746757" y="2148840"/>
            <a:ext cx="10698600" cy="36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0DC3C"/>
              </a:buClr>
              <a:buSzPts val="1500"/>
              <a:buFont typeface="Arial"/>
              <a:buNone/>
            </a:pPr>
            <a:r>
              <a:rPr lang="en-US" sz="2000" b="1" i="0" u="none" strike="noStrike" cap="none">
                <a:solidFill>
                  <a:srgbClr val="F0DC3C"/>
                </a:solidFill>
                <a:latin typeface="Arial"/>
                <a:ea typeface="Arial"/>
                <a:cs typeface="Arial"/>
                <a:sym typeface="Arial"/>
              </a:rPr>
              <a:t>SUN PHARMA CASE CHALLENGE</a:t>
            </a:r>
            <a:endParaRPr sz="2000" b="0" i="0" u="none" strike="noStrike" cap="none">
              <a:solidFill>
                <a:schemeClr val="dk1"/>
              </a:solidFill>
              <a:latin typeface="Calibri"/>
              <a:ea typeface="Calibri"/>
              <a:cs typeface="Calibri"/>
              <a:sym typeface="Calibri"/>
            </a:endParaRPr>
          </a:p>
        </p:txBody>
      </p:sp>
      <p:sp>
        <p:nvSpPr>
          <p:cNvPr id="18" name="Google Shape;18;p1"/>
          <p:cNvSpPr/>
          <p:nvPr/>
        </p:nvSpPr>
        <p:spPr>
          <a:xfrm>
            <a:off x="731520" y="2834640"/>
            <a:ext cx="10698480" cy="1554480"/>
          </a:xfrm>
          <a:prstGeom prst="rect">
            <a:avLst/>
          </a:prstGeom>
          <a:noFill/>
          <a:ln>
            <a:noFill/>
          </a:ln>
        </p:spPr>
        <p:txBody>
          <a:bodyPr spcFirstLastPara="1" wrap="square" lIns="0" tIns="0" rIns="0" bIns="0" anchor="ctr" anchorCtr="0">
            <a:noAutofit/>
          </a:bodyPr>
          <a:lstStyle/>
          <a:p>
            <a:pPr marL="0" marR="0" lvl="0" indent="0" algn="ctr" rtl="0">
              <a:lnSpc>
                <a:spcPct val="110000"/>
              </a:lnSpc>
              <a:spcBef>
                <a:spcPts val="0"/>
              </a:spcBef>
              <a:spcAft>
                <a:spcPts val="0"/>
              </a:spcAft>
              <a:buClr>
                <a:srgbClr val="FFFFFF"/>
              </a:buClr>
              <a:buSzPts val="3800"/>
              <a:buFont typeface="Arial"/>
              <a:buNone/>
            </a:pPr>
            <a:r>
              <a:rPr lang="en-US" sz="3800" b="1" i="0" u="none" strike="noStrike" cap="none">
                <a:solidFill>
                  <a:srgbClr val="FFFFFF"/>
                </a:solidFill>
                <a:latin typeface="Arial"/>
                <a:ea typeface="Arial"/>
                <a:cs typeface="Arial"/>
                <a:sym typeface="Arial"/>
              </a:rPr>
              <a:t>District-Level Pharmaceutical</a:t>
            </a:r>
            <a:endParaRPr sz="3800" b="0" i="0" u="none" strike="noStrike" cap="none">
              <a:solidFill>
                <a:schemeClr val="dk1"/>
              </a:solidFill>
              <a:latin typeface="Calibri"/>
              <a:ea typeface="Calibri"/>
              <a:cs typeface="Calibri"/>
              <a:sym typeface="Calibri"/>
            </a:endParaRPr>
          </a:p>
          <a:p>
            <a:pPr marL="0" marR="0" lvl="0" indent="0" algn="ctr" rtl="0">
              <a:lnSpc>
                <a:spcPct val="110000"/>
              </a:lnSpc>
              <a:spcBef>
                <a:spcPts val="0"/>
              </a:spcBef>
              <a:spcAft>
                <a:spcPts val="0"/>
              </a:spcAft>
              <a:buClr>
                <a:srgbClr val="FFFFFF"/>
              </a:buClr>
              <a:buSzPts val="3800"/>
              <a:buFont typeface="Arial"/>
              <a:buNone/>
            </a:pPr>
            <a:r>
              <a:rPr lang="en-US" sz="3800" b="1" i="0" u="none" strike="noStrike" cap="none">
                <a:solidFill>
                  <a:srgbClr val="FFFFFF"/>
                </a:solidFill>
                <a:latin typeface="Arial"/>
                <a:ea typeface="Arial"/>
                <a:cs typeface="Arial"/>
                <a:sym typeface="Arial"/>
              </a:rPr>
              <a:t>Market Attractiveness Index</a:t>
            </a:r>
            <a:endParaRPr sz="3800" b="0" i="0" u="none" strike="noStrike" cap="none">
              <a:solidFill>
                <a:schemeClr val="dk1"/>
              </a:solidFill>
              <a:latin typeface="Calibri"/>
              <a:ea typeface="Calibri"/>
              <a:cs typeface="Calibri"/>
              <a:sym typeface="Calibri"/>
            </a:endParaRPr>
          </a:p>
        </p:txBody>
      </p:sp>
      <p:sp>
        <p:nvSpPr>
          <p:cNvPr id="19" name="Google Shape;19;p1"/>
          <p:cNvSpPr/>
          <p:nvPr/>
        </p:nvSpPr>
        <p:spPr>
          <a:xfrm>
            <a:off x="1645920" y="4480560"/>
            <a:ext cx="8869680" cy="914400"/>
          </a:xfrm>
          <a:prstGeom prst="rect">
            <a:avLst/>
          </a:prstGeom>
          <a:noFill/>
          <a:ln>
            <a:noFill/>
          </a:ln>
        </p:spPr>
        <p:txBody>
          <a:bodyPr spcFirstLastPara="1" wrap="square" lIns="0" tIns="0" rIns="0" bIns="0" anchor="ctr" anchorCtr="0">
            <a:noAutofit/>
          </a:bodyPr>
          <a:lstStyle/>
          <a:p>
            <a:pPr marL="0" marR="0" lvl="0" indent="0" algn="ctr" rtl="0">
              <a:lnSpc>
                <a:spcPct val="130000"/>
              </a:lnSpc>
              <a:spcBef>
                <a:spcPts val="0"/>
              </a:spcBef>
              <a:spcAft>
                <a:spcPts val="0"/>
              </a:spcAft>
              <a:buClr>
                <a:srgbClr val="CADCE0"/>
              </a:buClr>
              <a:buSzPts val="1300"/>
              <a:buFont typeface="Arial"/>
              <a:buNone/>
            </a:pPr>
            <a:r>
              <a:rPr lang="en-US" sz="1300" b="0" i="1" u="none" strike="noStrike" cap="none">
                <a:solidFill>
                  <a:srgbClr val="CADCE0"/>
                </a:solidFill>
                <a:latin typeface="Arial"/>
                <a:ea typeface="Arial"/>
                <a:cs typeface="Arial"/>
                <a:sym typeface="Arial"/>
              </a:rPr>
              <a:t>A statistically rigorous, business-reasoned framework scoring 706 Indian districts across Overall, Chronic, Acute, and Chronic+Acute Overlap indices  built on entropy</a:t>
            </a:r>
            <a:r>
              <a:rPr lang="en-US" sz="1300" i="1">
                <a:solidFill>
                  <a:srgbClr val="CADCE0"/>
                </a:solidFill>
              </a:rPr>
              <a:t> </a:t>
            </a:r>
            <a:r>
              <a:rPr lang="en-US" sz="1300" b="0" i="1" u="none" strike="noStrike" cap="none">
                <a:solidFill>
                  <a:srgbClr val="CADCE0"/>
                </a:solidFill>
                <a:latin typeface="Arial"/>
                <a:ea typeface="Arial"/>
                <a:cs typeface="Arial"/>
                <a:sym typeface="Arial"/>
              </a:rPr>
              <a:t>weighted composite indexing, validated against ground truth, and translated into sales-force deployment strategy.</a:t>
            </a:r>
            <a:endParaRPr sz="1300" b="0" i="0" u="none" strike="noStrike" cap="none">
              <a:solidFill>
                <a:schemeClr val="dk1"/>
              </a:solidFill>
              <a:latin typeface="Calibri"/>
              <a:ea typeface="Calibri"/>
              <a:cs typeface="Calibri"/>
              <a:sym typeface="Calibri"/>
            </a:endParaRPr>
          </a:p>
        </p:txBody>
      </p:sp>
      <p:sp>
        <p:nvSpPr>
          <p:cNvPr id="20" name="Google Shape;20;p1"/>
          <p:cNvSpPr/>
          <p:nvPr/>
        </p:nvSpPr>
        <p:spPr>
          <a:xfrm>
            <a:off x="0" y="5845975"/>
            <a:ext cx="11656200" cy="1012200"/>
          </a:xfrm>
          <a:prstGeom prst="rect">
            <a:avLst/>
          </a:prstGeom>
          <a:noFill/>
          <a:ln w="9525" cap="flat" cmpd="sng">
            <a:solidFill>
              <a:srgbClr val="FFFF00"/>
            </a:solidFill>
            <a:prstDash val="solid"/>
            <a:round/>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Clr>
                <a:srgbClr val="8FAAB0"/>
              </a:buClr>
              <a:buSzPts val="1100"/>
              <a:buFont typeface="Arial"/>
              <a:buNone/>
            </a:pPr>
            <a:r>
              <a:rPr lang="en-US" sz="1700" b="0" i="0" u="none" strike="noStrike" cap="none">
                <a:solidFill>
                  <a:srgbClr val="F0DC3C"/>
                </a:solidFill>
                <a:latin typeface="Arial"/>
                <a:ea typeface="Arial"/>
                <a:cs typeface="Arial"/>
                <a:sym typeface="Arial"/>
              </a:rPr>
              <a:t>Team </a:t>
            </a:r>
            <a:r>
              <a:rPr lang="en-US" sz="1700" b="1">
                <a:solidFill>
                  <a:srgbClr val="F0DC3C"/>
                </a:solidFill>
              </a:rPr>
              <a:t>Case Closed</a:t>
            </a:r>
            <a:r>
              <a:rPr lang="en-US" sz="1700" b="1" i="0" u="none" strike="noStrike" cap="none">
                <a:solidFill>
                  <a:srgbClr val="F0DC3C"/>
                </a:solidFill>
              </a:rPr>
              <a:t> </a:t>
            </a:r>
            <a:endParaRPr sz="1700" b="1" i="0" u="none" strike="noStrike" cap="none">
              <a:solidFill>
                <a:srgbClr val="F0DC3C"/>
              </a:solidFill>
            </a:endParaRPr>
          </a:p>
          <a:p>
            <a:pPr marL="0" lvl="0" indent="0" algn="ctr" rtl="0">
              <a:spcBef>
                <a:spcPts val="0"/>
              </a:spcBef>
              <a:spcAft>
                <a:spcPts val="0"/>
              </a:spcAft>
              <a:buClr>
                <a:srgbClr val="8FAAB0"/>
              </a:buClr>
              <a:buSzPts val="1100"/>
              <a:buFont typeface="Arial"/>
              <a:buNone/>
            </a:pPr>
            <a:r>
              <a:rPr lang="en-US" sz="1700">
                <a:solidFill>
                  <a:srgbClr val="F0DC3C"/>
                </a:solidFill>
              </a:rPr>
              <a:t>· Sai Manasa C · Sathvik Shetty · Siddharth · Kevin Mathews</a:t>
            </a:r>
            <a:endParaRPr sz="1700" b="1">
              <a:solidFill>
                <a:srgbClr val="F0DC3C"/>
              </a:solidFill>
            </a:endParaRPr>
          </a:p>
          <a:p>
            <a:pPr marL="0" marR="0" lvl="0" indent="0" algn="ctr" rtl="0">
              <a:spcBef>
                <a:spcPts val="0"/>
              </a:spcBef>
              <a:spcAft>
                <a:spcPts val="0"/>
              </a:spcAft>
              <a:buClr>
                <a:srgbClr val="8FAAB0"/>
              </a:buClr>
              <a:buSzPts val="1100"/>
              <a:buFont typeface="Arial"/>
              <a:buNone/>
            </a:pPr>
            <a:r>
              <a:rPr lang="en-US" sz="1700" b="0" i="0" u="none" strike="noStrike" cap="none">
                <a:solidFill>
                  <a:srgbClr val="F0DC3C"/>
                </a:solidFill>
                <a:latin typeface="Arial"/>
                <a:ea typeface="Arial"/>
                <a:cs typeface="Arial"/>
                <a:sym typeface="Arial"/>
              </a:rPr>
              <a:t>·  Indian Institute of Management Udaipur ·  </a:t>
            </a:r>
            <a:endParaRPr sz="1700" b="0" i="0" u="none" strike="noStrike" cap="none">
              <a:solidFill>
                <a:srgbClr val="F0DC3C"/>
              </a:solidFill>
              <a:latin typeface="Calibri"/>
              <a:ea typeface="Calibri"/>
              <a:cs typeface="Calibri"/>
              <a:sym typeface="Calibri"/>
            </a:endParaRPr>
          </a:p>
        </p:txBody>
      </p:sp>
      <p:pic>
        <p:nvPicPr>
          <p:cNvPr id="21" name="Google Shape;21;p1"/>
          <p:cNvPicPr preferRelativeResize="0"/>
          <p:nvPr/>
        </p:nvPicPr>
        <p:blipFill>
          <a:blip r:embed="rId4">
            <a:alphaModFix/>
          </a:blip>
          <a:stretch>
            <a:fillRect/>
          </a:stretch>
        </p:blipFill>
        <p:spPr>
          <a:xfrm>
            <a:off x="7724111" y="274300"/>
            <a:ext cx="4012349" cy="1554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
        <p:cNvGrpSpPr/>
        <p:nvPr/>
      </p:nvGrpSpPr>
      <p:grpSpPr>
        <a:xfrm>
          <a:off x="0" y="0"/>
          <a:ext cx="0" cy="0"/>
          <a:chOff x="0" y="0"/>
          <a:chExt cx="0" cy="0"/>
        </a:xfrm>
      </p:grpSpPr>
      <p:sp>
        <p:nvSpPr>
          <p:cNvPr id="27" name="Google Shape;27;p2"/>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 name="Google Shape;28;p2"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29" name="Google Shape;29;p2"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30" name="Google Shape;30;p2"/>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31" name="Google Shape;31;p2"/>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32" name="Google Shape;32;p2"/>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Executive Summary — A Data-Driven, Reasoned Case for Deployment</a:t>
            </a:r>
            <a:endParaRPr sz="2200" b="0" i="0" u="none" strike="noStrike" cap="none">
              <a:solidFill>
                <a:schemeClr val="dk1"/>
              </a:solidFill>
              <a:latin typeface="Calibri"/>
              <a:ea typeface="Calibri"/>
              <a:cs typeface="Calibri"/>
              <a:sym typeface="Calibri"/>
            </a:endParaRPr>
          </a:p>
        </p:txBody>
      </p:sp>
      <p:sp>
        <p:nvSpPr>
          <p:cNvPr id="33" name="Google Shape;33;p2"/>
          <p:cNvSpPr/>
          <p:nvPr/>
        </p:nvSpPr>
        <p:spPr>
          <a:xfrm>
            <a:off x="274320" y="1536192"/>
            <a:ext cx="6309360" cy="5120640"/>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sz="900"/>
          </a:p>
        </p:txBody>
      </p:sp>
      <p:sp>
        <p:nvSpPr>
          <p:cNvPr id="34" name="Google Shape;34;p2"/>
          <p:cNvSpPr/>
          <p:nvPr/>
        </p:nvSpPr>
        <p:spPr>
          <a:xfrm>
            <a:off x="457200" y="1645920"/>
            <a:ext cx="5943600" cy="2013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The Core Deliverable</a:t>
            </a:r>
            <a:endParaRPr sz="1150" b="0" i="0" u="none" strike="noStrike" cap="none">
              <a:solidFill>
                <a:schemeClr val="dk1"/>
              </a:solidFill>
              <a:latin typeface="Calibri"/>
              <a:ea typeface="Calibri"/>
              <a:cs typeface="Calibri"/>
              <a:sym typeface="Calibri"/>
            </a:endParaRPr>
          </a:p>
        </p:txBody>
      </p:sp>
      <p:sp>
        <p:nvSpPr>
          <p:cNvPr id="35" name="Google Shape;35;p2"/>
          <p:cNvSpPr/>
          <p:nvPr/>
        </p:nvSpPr>
        <p:spPr>
          <a:xfrm>
            <a:off x="457200" y="1801351"/>
            <a:ext cx="5943600" cy="969300"/>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00" b="0" i="0" u="none" strike="noStrike" cap="none">
                <a:solidFill>
                  <a:srgbClr val="241B3D"/>
                </a:solidFill>
                <a:latin typeface="Arial"/>
                <a:ea typeface="Arial"/>
                <a:cs typeface="Arial"/>
                <a:sym typeface="Arial"/>
              </a:rPr>
              <a:t>We built a district-level Market Attractiveness Index (MAI) for the Indian pharmaceutical industry, covering all 706 districts across four parallel indices: Overall, Chronic Therapy, Acute Therapy, and a Chronic+Acute Overlap index capturing diseases like TB and COPD that straddle both categories. Every score is built from a documented, six-pillar variable set rather than an opaque black-box model.</a:t>
            </a:r>
            <a:endParaRPr sz="900" b="0" i="0" u="none" strike="noStrike" cap="none">
              <a:solidFill>
                <a:schemeClr val="dk1"/>
              </a:solidFill>
              <a:latin typeface="Calibri"/>
              <a:ea typeface="Calibri"/>
              <a:cs typeface="Calibri"/>
              <a:sym typeface="Calibri"/>
            </a:endParaRPr>
          </a:p>
        </p:txBody>
      </p:sp>
      <p:sp>
        <p:nvSpPr>
          <p:cNvPr id="38" name="Google Shape;38;p2"/>
          <p:cNvSpPr/>
          <p:nvPr/>
        </p:nvSpPr>
        <p:spPr>
          <a:xfrm>
            <a:off x="434340" y="2935243"/>
            <a:ext cx="5943600" cy="2013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dirty="0">
                <a:solidFill>
                  <a:srgbClr val="5F32F2"/>
                </a:solidFill>
                <a:latin typeface="Arial"/>
                <a:ea typeface="Arial"/>
                <a:cs typeface="Arial"/>
                <a:sym typeface="Arial"/>
              </a:rPr>
              <a:t>What Sets This Submission Apart</a:t>
            </a:r>
            <a:endParaRPr sz="1150" b="0" i="0" u="none" strike="noStrike" cap="none" dirty="0">
              <a:solidFill>
                <a:schemeClr val="dk1"/>
              </a:solidFill>
              <a:latin typeface="Calibri"/>
              <a:ea typeface="Calibri"/>
              <a:cs typeface="Calibri"/>
              <a:sym typeface="Calibri"/>
            </a:endParaRPr>
          </a:p>
        </p:txBody>
      </p:sp>
      <p:sp>
        <p:nvSpPr>
          <p:cNvPr id="39" name="Google Shape;39;p2"/>
          <p:cNvSpPr/>
          <p:nvPr/>
        </p:nvSpPr>
        <p:spPr>
          <a:xfrm>
            <a:off x="457200" y="2915771"/>
            <a:ext cx="5943600" cy="957900"/>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00" b="0" i="0" u="none" strike="noStrike" cap="none" dirty="0">
                <a:solidFill>
                  <a:srgbClr val="241B3D"/>
                </a:solidFill>
                <a:latin typeface="Arial"/>
                <a:ea typeface="Arial"/>
                <a:cs typeface="Arial"/>
                <a:sym typeface="Arial"/>
              </a:rPr>
              <a:t>Every weight, threshold, and formula has a documented justification. We found and fixed real bugs during validation</a:t>
            </a:r>
            <a:r>
              <a:rPr lang="en-US" sz="900" dirty="0">
                <a:solidFill>
                  <a:srgbClr val="241B3D"/>
                </a:solidFill>
              </a:rPr>
              <a:t> </a:t>
            </a:r>
            <a:r>
              <a:rPr lang="en-US" sz="900" b="0" i="0" u="none" strike="noStrike" cap="none" dirty="0">
                <a:solidFill>
                  <a:srgbClr val="241B3D"/>
                </a:solidFill>
                <a:latin typeface="Arial"/>
                <a:ea typeface="Arial"/>
                <a:cs typeface="Arial"/>
                <a:sym typeface="Arial"/>
              </a:rPr>
              <a:t>a small-district statistical-noise artifact, a population double-counting error, and a clustering-distance mismatch — and disclosed every fix. Reasoning, not just computation, is the differentiator.</a:t>
            </a:r>
            <a:endParaRPr sz="900" b="0" i="0" u="none" strike="noStrike" cap="none" dirty="0">
              <a:solidFill>
                <a:schemeClr val="dk1"/>
              </a:solidFill>
              <a:latin typeface="Calibri"/>
              <a:ea typeface="Calibri"/>
              <a:cs typeface="Calibri"/>
              <a:sym typeface="Calibri"/>
            </a:endParaRPr>
          </a:p>
        </p:txBody>
      </p:sp>
      <p:sp>
        <p:nvSpPr>
          <p:cNvPr id="40" name="Google Shape;40;p2"/>
          <p:cNvSpPr/>
          <p:nvPr/>
        </p:nvSpPr>
        <p:spPr>
          <a:xfrm>
            <a:off x="434340" y="3916973"/>
            <a:ext cx="5943600" cy="2013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dirty="0">
                <a:solidFill>
                  <a:srgbClr val="5F32F2"/>
                </a:solidFill>
                <a:latin typeface="Arial"/>
                <a:ea typeface="Arial"/>
                <a:cs typeface="Arial"/>
                <a:sym typeface="Arial"/>
              </a:rPr>
              <a:t>Our Four District Archetypes, Briefly</a:t>
            </a:r>
            <a:endParaRPr sz="1150" b="0" i="0" u="none" strike="noStrike" cap="none" dirty="0">
              <a:solidFill>
                <a:schemeClr val="dk1"/>
              </a:solidFill>
              <a:latin typeface="Calibri"/>
              <a:ea typeface="Calibri"/>
              <a:cs typeface="Calibri"/>
              <a:sym typeface="Calibri"/>
            </a:endParaRPr>
          </a:p>
        </p:txBody>
      </p:sp>
      <p:sp>
        <p:nvSpPr>
          <p:cNvPr id="41" name="Google Shape;41;p2"/>
          <p:cNvSpPr/>
          <p:nvPr/>
        </p:nvSpPr>
        <p:spPr>
          <a:xfrm>
            <a:off x="377952" y="4224528"/>
            <a:ext cx="5943600" cy="969300"/>
          </a:xfrm>
          <a:prstGeom prst="rect">
            <a:avLst/>
          </a:prstGeom>
          <a:noFill/>
          <a:ln>
            <a:noFill/>
          </a:ln>
        </p:spPr>
        <p:txBody>
          <a:bodyPr spcFirstLastPara="1" wrap="square" lIns="25400" tIns="25400" rIns="25400" bIns="25400" anchor="t" anchorCtr="0">
            <a:noAutofit/>
          </a:bodyPr>
          <a:lstStyle/>
          <a:p>
            <a:pPr marL="177800" marR="0" lvl="0" indent="-179070" algn="l" rtl="0">
              <a:lnSpc>
                <a:spcPct val="115000"/>
              </a:lnSpc>
              <a:spcBef>
                <a:spcPts val="0"/>
              </a:spcBef>
              <a:spcAft>
                <a:spcPts val="0"/>
              </a:spcAft>
              <a:buClr>
                <a:srgbClr val="241B3D"/>
              </a:buClr>
              <a:buSzPts val="900"/>
              <a:buFont typeface="Arial"/>
              <a:buChar char="•"/>
            </a:pPr>
            <a:r>
              <a:rPr lang="en-US" sz="900" b="0" i="0" u="none" strike="noStrike" cap="none" dirty="0">
                <a:solidFill>
                  <a:srgbClr val="241B3D"/>
                </a:solidFill>
                <a:latin typeface="Arial"/>
                <a:ea typeface="Arial"/>
                <a:cs typeface="Arial"/>
                <a:sym typeface="Arial"/>
              </a:rPr>
              <a:t>Elite Metro Powerhouses (n=6): highest value AND highest growth — the mature, still-accelerating core</a:t>
            </a:r>
            <a:endParaRPr sz="900" b="0" i="0" u="none" strike="noStrike" cap="none" dirty="0">
              <a:solidFill>
                <a:schemeClr val="dk1"/>
              </a:solidFill>
              <a:latin typeface="Calibri"/>
              <a:ea typeface="Calibri"/>
              <a:cs typeface="Calibri"/>
              <a:sym typeface="Calibri"/>
            </a:endParaRPr>
          </a:p>
          <a:p>
            <a:pPr marL="177800" marR="0" lvl="0" indent="-179070" algn="l" rtl="0">
              <a:lnSpc>
                <a:spcPct val="115000"/>
              </a:lnSpc>
              <a:spcBef>
                <a:spcPts val="0"/>
              </a:spcBef>
              <a:spcAft>
                <a:spcPts val="0"/>
              </a:spcAft>
              <a:buClr>
                <a:srgbClr val="241B3D"/>
              </a:buClr>
              <a:buSzPts val="900"/>
              <a:buFont typeface="Arial"/>
              <a:buChar char="•"/>
            </a:pPr>
            <a:r>
              <a:rPr lang="en-US" sz="900" b="0" i="0" u="none" strike="noStrike" cap="none" dirty="0">
                <a:solidFill>
                  <a:srgbClr val="241B3D"/>
                </a:solidFill>
                <a:latin typeface="Arial"/>
                <a:ea typeface="Arial"/>
                <a:cs typeface="Arial"/>
                <a:sym typeface="Arial"/>
              </a:rPr>
              <a:t>Established High-Value (n=210): strong fundamentals, room to grow into Tier 1</a:t>
            </a:r>
            <a:endParaRPr sz="900" b="0" i="0" u="none" strike="noStrike" cap="none" dirty="0">
              <a:solidFill>
                <a:schemeClr val="dk1"/>
              </a:solidFill>
              <a:latin typeface="Calibri"/>
              <a:ea typeface="Calibri"/>
              <a:cs typeface="Calibri"/>
              <a:sym typeface="Calibri"/>
            </a:endParaRPr>
          </a:p>
          <a:p>
            <a:pPr marL="177800" marR="0" lvl="0" indent="-179070" algn="l" rtl="0">
              <a:lnSpc>
                <a:spcPct val="115000"/>
              </a:lnSpc>
              <a:spcBef>
                <a:spcPts val="0"/>
              </a:spcBef>
              <a:spcAft>
                <a:spcPts val="0"/>
              </a:spcAft>
              <a:buClr>
                <a:srgbClr val="241B3D"/>
              </a:buClr>
              <a:buSzPts val="900"/>
              <a:buFont typeface="Arial"/>
              <a:buChar char="•"/>
            </a:pPr>
            <a:r>
              <a:rPr lang="en-US" sz="900" b="0" i="0" u="none" strike="noStrike" cap="none" dirty="0">
                <a:solidFill>
                  <a:srgbClr val="241B3D"/>
                </a:solidFill>
                <a:latin typeface="Arial"/>
                <a:ea typeface="Arial"/>
                <a:cs typeface="Arial"/>
                <a:sym typeface="Arial"/>
              </a:rPr>
              <a:t>Mainstream Mid-Tier (n=391): the bulk of the country, average scores, genuine strategic ambiguity</a:t>
            </a:r>
            <a:endParaRPr sz="900" b="0" i="0" u="none" strike="noStrike" cap="none" dirty="0">
              <a:solidFill>
                <a:schemeClr val="dk1"/>
              </a:solidFill>
              <a:latin typeface="Calibri"/>
              <a:ea typeface="Calibri"/>
              <a:cs typeface="Calibri"/>
              <a:sym typeface="Calibri"/>
            </a:endParaRPr>
          </a:p>
          <a:p>
            <a:pPr marL="177800" marR="0" lvl="0" indent="-179070" algn="l" rtl="0">
              <a:lnSpc>
                <a:spcPct val="115000"/>
              </a:lnSpc>
              <a:spcBef>
                <a:spcPts val="0"/>
              </a:spcBef>
              <a:spcAft>
                <a:spcPts val="0"/>
              </a:spcAft>
              <a:buClr>
                <a:srgbClr val="241B3D"/>
              </a:buClr>
              <a:buSzPts val="900"/>
              <a:buFont typeface="Arial"/>
              <a:buChar char="•"/>
            </a:pPr>
            <a:r>
              <a:rPr lang="en-US" sz="900" b="0" i="0" u="none" strike="noStrike" cap="none" dirty="0">
                <a:solidFill>
                  <a:srgbClr val="241B3D"/>
                </a:solidFill>
                <a:latin typeface="Arial"/>
                <a:ea typeface="Arial"/>
                <a:cs typeface="Arial"/>
                <a:sym typeface="Arial"/>
              </a:rPr>
              <a:t>Small Underserved, Chronic-Leaning (n=99): weaker infrastructure but real chronic-risk profile — an access-building opportunity (full detail in EDA section)</a:t>
            </a:r>
            <a:endParaRPr sz="900" b="0" i="0" u="none" strike="noStrike" cap="none" dirty="0">
              <a:solidFill>
                <a:schemeClr val="dk1"/>
              </a:solidFill>
              <a:latin typeface="Calibri"/>
              <a:ea typeface="Calibri"/>
              <a:cs typeface="Calibri"/>
              <a:sym typeface="Calibri"/>
            </a:endParaRPr>
          </a:p>
        </p:txBody>
      </p:sp>
      <p:sp>
        <p:nvSpPr>
          <p:cNvPr id="42" name="Google Shape;42;p2"/>
          <p:cNvSpPr/>
          <p:nvPr/>
        </p:nvSpPr>
        <p:spPr>
          <a:xfrm>
            <a:off x="68122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68854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Entropy Weight by Pillar</a:t>
            </a:r>
            <a:endParaRPr sz="800" b="0" i="0" u="none" strike="noStrike" cap="none">
              <a:solidFill>
                <a:schemeClr val="dk1"/>
              </a:solidFill>
              <a:latin typeface="Calibri"/>
              <a:ea typeface="Calibri"/>
              <a:cs typeface="Calibri"/>
              <a:sym typeface="Calibri"/>
            </a:endParaRPr>
          </a:p>
        </p:txBody>
      </p:sp>
      <p:pic>
        <p:nvPicPr>
          <p:cNvPr id="44" name="Google Shape;44;p2" descr="charts/09_pillar_weights.png"/>
          <p:cNvPicPr preferRelativeResize="0"/>
          <p:nvPr/>
        </p:nvPicPr>
        <p:blipFill rotWithShape="1">
          <a:blip r:embed="rId5">
            <a:alphaModFix/>
          </a:blip>
          <a:srcRect/>
          <a:stretch/>
        </p:blipFill>
        <p:spPr>
          <a:xfrm>
            <a:off x="6903720" y="1755648"/>
            <a:ext cx="2263140" cy="1810512"/>
          </a:xfrm>
          <a:prstGeom prst="rect">
            <a:avLst/>
          </a:prstGeom>
          <a:noFill/>
          <a:ln>
            <a:noFill/>
          </a:ln>
        </p:spPr>
      </p:pic>
      <p:sp>
        <p:nvSpPr>
          <p:cNvPr id="45" name="Google Shape;45;p2"/>
          <p:cNvSpPr/>
          <p:nvPr/>
        </p:nvSpPr>
        <p:spPr>
          <a:xfrm>
            <a:off x="68854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Bar chart: share of total index weight (%) contributed by each of the six pillars, derived purely from district-to-district data variability (entropy method) — Chronic and Access pillars dominate, together explaining ~69% of the Overall MAI.</a:t>
            </a:r>
            <a:endParaRPr sz="630" b="0" i="0" u="none" strike="noStrike" cap="none">
              <a:solidFill>
                <a:schemeClr val="dk1"/>
              </a:solidFill>
              <a:latin typeface="Calibri"/>
              <a:ea typeface="Calibri"/>
              <a:cs typeface="Calibri"/>
              <a:sym typeface="Calibri"/>
            </a:endParaRPr>
          </a:p>
        </p:txBody>
      </p:sp>
      <p:sp>
        <p:nvSpPr>
          <p:cNvPr id="46" name="Google Shape;46;p2"/>
          <p:cNvSpPr/>
          <p:nvPr/>
        </p:nvSpPr>
        <p:spPr>
          <a:xfrm>
            <a:off x="9441180" y="1536192"/>
            <a:ext cx="2446020" cy="2468880"/>
          </a:xfrm>
          <a:prstGeom prst="rect">
            <a:avLst/>
          </a:prstGeom>
          <a:solidFill>
            <a:srgbClr val="160A6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95143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District Archetype Mix (n=706)</a:t>
            </a:r>
            <a:endParaRPr sz="800" b="0" i="0" u="none" strike="noStrike" cap="none">
              <a:solidFill>
                <a:schemeClr val="dk1"/>
              </a:solidFill>
              <a:latin typeface="Calibri"/>
              <a:ea typeface="Calibri"/>
              <a:cs typeface="Calibri"/>
              <a:sym typeface="Calibri"/>
            </a:endParaRPr>
          </a:p>
        </p:txBody>
      </p:sp>
      <p:pic>
        <p:nvPicPr>
          <p:cNvPr id="48" name="Google Shape;48;p2" descr="charts/08_cluster_donut.png"/>
          <p:cNvPicPr preferRelativeResize="0"/>
          <p:nvPr/>
        </p:nvPicPr>
        <p:blipFill rotWithShape="1">
          <a:blip r:embed="rId6">
            <a:alphaModFix/>
          </a:blip>
          <a:srcRect/>
          <a:stretch/>
        </p:blipFill>
        <p:spPr>
          <a:xfrm>
            <a:off x="9532620" y="1755648"/>
            <a:ext cx="2263140" cy="1810512"/>
          </a:xfrm>
          <a:prstGeom prst="rect">
            <a:avLst/>
          </a:prstGeom>
          <a:noFill/>
          <a:ln>
            <a:noFill/>
          </a:ln>
        </p:spPr>
      </p:pic>
      <p:sp>
        <p:nvSpPr>
          <p:cNvPr id="49" name="Google Shape;49;p2"/>
          <p:cNvSpPr/>
          <p:nvPr/>
        </p:nvSpPr>
        <p:spPr>
          <a:xfrm>
            <a:off x="95143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Donut chart: share of all 706 districts falling into each of 4 weighted K-Means archetypes. Mainstream Mid-Tier is the largest group (55%); Elite Metro Powerhouses are a distinct, tiny top segment (&lt;1%).</a:t>
            </a:r>
            <a:endParaRPr sz="630" b="0" i="0" u="none" strike="noStrike" cap="none">
              <a:solidFill>
                <a:schemeClr val="dk1"/>
              </a:solidFill>
              <a:latin typeface="Calibri"/>
              <a:ea typeface="Calibri"/>
              <a:cs typeface="Calibri"/>
              <a:sym typeface="Calibri"/>
            </a:endParaRPr>
          </a:p>
        </p:txBody>
      </p:sp>
      <p:sp>
        <p:nvSpPr>
          <p:cNvPr id="50" name="Google Shape;50;p2"/>
          <p:cNvSpPr/>
          <p:nvPr/>
        </p:nvSpPr>
        <p:spPr>
          <a:xfrm>
            <a:off x="6812280" y="4187952"/>
            <a:ext cx="2446020" cy="2468880"/>
          </a:xfrm>
          <a:prstGeom prst="rect">
            <a:avLst/>
          </a:prstGeom>
          <a:solidFill>
            <a:srgbClr val="5F32F2"/>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68854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Our End-to-End Process</a:t>
            </a:r>
            <a:endParaRPr sz="800" b="0" i="0" u="none" strike="noStrike" cap="none">
              <a:solidFill>
                <a:schemeClr val="dk1"/>
              </a:solidFill>
              <a:latin typeface="Calibri"/>
              <a:ea typeface="Calibri"/>
              <a:cs typeface="Calibri"/>
              <a:sym typeface="Calibri"/>
            </a:endParaRPr>
          </a:p>
        </p:txBody>
      </p:sp>
      <p:sp>
        <p:nvSpPr>
          <p:cNvPr id="52" name="Google Shape;52;p2"/>
          <p:cNvSpPr/>
          <p:nvPr/>
        </p:nvSpPr>
        <p:spPr>
          <a:xfrm>
            <a:off x="69220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69585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Data sourcing &amp;</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crosswalk cleaning</a:t>
            </a:r>
            <a:endParaRPr sz="760" b="0" i="0" u="none" strike="noStrike" cap="none">
              <a:solidFill>
                <a:schemeClr val="dk1"/>
              </a:solidFill>
              <a:latin typeface="Calibri"/>
              <a:ea typeface="Calibri"/>
              <a:cs typeface="Calibri"/>
              <a:sym typeface="Calibri"/>
            </a:endParaRPr>
          </a:p>
        </p:txBody>
      </p:sp>
      <p:sp>
        <p:nvSpPr>
          <p:cNvPr id="54" name="Google Shape;54;p2"/>
          <p:cNvSpPr/>
          <p:nvPr/>
        </p:nvSpPr>
        <p:spPr>
          <a:xfrm>
            <a:off x="79621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6922008" y="5042916"/>
            <a:ext cx="2226564" cy="466344"/>
          </a:xfrm>
          <a:prstGeom prst="roundRect">
            <a:avLst>
              <a:gd name="adj" fmla="val 9804"/>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2"/>
          <p:cNvSpPr/>
          <p:nvPr/>
        </p:nvSpPr>
        <p:spPr>
          <a:xfrm>
            <a:off x="69585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Entropy + judgment</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weighted index</a:t>
            </a:r>
            <a:endParaRPr sz="760" b="0" i="0" u="none" strike="noStrike" cap="none">
              <a:solidFill>
                <a:schemeClr val="dk1"/>
              </a:solidFill>
              <a:latin typeface="Calibri"/>
              <a:ea typeface="Calibri"/>
              <a:cs typeface="Calibri"/>
              <a:sym typeface="Calibri"/>
            </a:endParaRPr>
          </a:p>
        </p:txBody>
      </p:sp>
      <p:sp>
        <p:nvSpPr>
          <p:cNvPr id="57" name="Google Shape;57;p2"/>
          <p:cNvSpPr/>
          <p:nvPr/>
        </p:nvSpPr>
        <p:spPr>
          <a:xfrm>
            <a:off x="79621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69220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69585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K-Means archetype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segmentation</a:t>
            </a:r>
            <a:endParaRPr sz="760" b="0" i="0" u="none" strike="noStrike" cap="none">
              <a:solidFill>
                <a:schemeClr val="dk1"/>
              </a:solidFill>
              <a:latin typeface="Calibri"/>
              <a:ea typeface="Calibri"/>
              <a:cs typeface="Calibri"/>
              <a:sym typeface="Calibri"/>
            </a:endParaRPr>
          </a:p>
        </p:txBody>
      </p:sp>
      <p:sp>
        <p:nvSpPr>
          <p:cNvPr id="60" name="Google Shape;60;p2"/>
          <p:cNvSpPr/>
          <p:nvPr/>
        </p:nvSpPr>
        <p:spPr>
          <a:xfrm>
            <a:off x="79621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6922008" y="6094476"/>
            <a:ext cx="2226564" cy="466344"/>
          </a:xfrm>
          <a:prstGeom prst="roundRect">
            <a:avLst>
              <a:gd name="adj" fmla="val 9804"/>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2"/>
          <p:cNvSpPr/>
          <p:nvPr/>
        </p:nvSpPr>
        <p:spPr>
          <a:xfrm>
            <a:off x="69585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Validation &amp;</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business layer</a:t>
            </a:r>
            <a:endParaRPr sz="760" b="0" i="0" u="none" strike="noStrike" cap="none">
              <a:solidFill>
                <a:schemeClr val="dk1"/>
              </a:solidFill>
              <a:latin typeface="Calibri"/>
              <a:ea typeface="Calibri"/>
              <a:cs typeface="Calibri"/>
              <a:sym typeface="Calibri"/>
            </a:endParaRPr>
          </a:p>
        </p:txBody>
      </p:sp>
      <p:sp>
        <p:nvSpPr>
          <p:cNvPr id="63" name="Google Shape;63;p2"/>
          <p:cNvSpPr/>
          <p:nvPr/>
        </p:nvSpPr>
        <p:spPr>
          <a:xfrm>
            <a:off x="9441180" y="4187952"/>
            <a:ext cx="2446020" cy="2468880"/>
          </a:xfrm>
          <a:prstGeom prst="rect">
            <a:avLst/>
          </a:prstGeom>
          <a:solidFill>
            <a:srgbClr val="38521F"/>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95143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Four Parallel Indices</a:t>
            </a:r>
            <a:endParaRPr sz="800" b="0" i="0" u="none" strike="noStrike" cap="none">
              <a:solidFill>
                <a:schemeClr val="dk1"/>
              </a:solidFill>
              <a:latin typeface="Calibri"/>
              <a:ea typeface="Calibri"/>
              <a:cs typeface="Calibri"/>
              <a:sym typeface="Calibri"/>
            </a:endParaRPr>
          </a:p>
        </p:txBody>
      </p:sp>
      <p:sp>
        <p:nvSpPr>
          <p:cNvPr id="65" name="Google Shape;65;p2"/>
          <p:cNvSpPr/>
          <p:nvPr/>
        </p:nvSpPr>
        <p:spPr>
          <a:xfrm>
            <a:off x="95509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95874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Overall MAI</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(all therapies)</a:t>
            </a:r>
            <a:endParaRPr sz="760" b="0" i="0" u="none" strike="noStrike" cap="none">
              <a:solidFill>
                <a:schemeClr val="dk1"/>
              </a:solidFill>
              <a:latin typeface="Calibri"/>
              <a:ea typeface="Calibri"/>
              <a:cs typeface="Calibri"/>
              <a:sym typeface="Calibri"/>
            </a:endParaRPr>
          </a:p>
        </p:txBody>
      </p:sp>
      <p:sp>
        <p:nvSpPr>
          <p:cNvPr id="67" name="Google Shape;67;p2"/>
          <p:cNvSpPr/>
          <p:nvPr/>
        </p:nvSpPr>
        <p:spPr>
          <a:xfrm>
            <a:off x="105910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9550908" y="5042916"/>
            <a:ext cx="2226564" cy="466344"/>
          </a:xfrm>
          <a:prstGeom prst="roundRect">
            <a:avLst>
              <a:gd name="adj" fmla="val 9804"/>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95874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Chronic MAI</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(risk factors)</a:t>
            </a:r>
            <a:endParaRPr sz="760" b="0" i="0" u="none" strike="noStrike" cap="none">
              <a:solidFill>
                <a:schemeClr val="dk1"/>
              </a:solidFill>
              <a:latin typeface="Calibri"/>
              <a:ea typeface="Calibri"/>
              <a:cs typeface="Calibri"/>
              <a:sym typeface="Calibri"/>
            </a:endParaRPr>
          </a:p>
        </p:txBody>
      </p:sp>
      <p:sp>
        <p:nvSpPr>
          <p:cNvPr id="70" name="Google Shape;70;p2"/>
          <p:cNvSpPr/>
          <p:nvPr/>
        </p:nvSpPr>
        <p:spPr>
          <a:xfrm>
            <a:off x="105910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95509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95874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Acute MAI</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(infectious burden)</a:t>
            </a:r>
            <a:endParaRPr sz="760" b="0" i="0" u="none" strike="noStrike" cap="none">
              <a:solidFill>
                <a:schemeClr val="dk1"/>
              </a:solidFill>
              <a:latin typeface="Calibri"/>
              <a:ea typeface="Calibri"/>
              <a:cs typeface="Calibri"/>
              <a:sym typeface="Calibri"/>
            </a:endParaRPr>
          </a:p>
        </p:txBody>
      </p:sp>
      <p:sp>
        <p:nvSpPr>
          <p:cNvPr id="73" name="Google Shape;73;p2"/>
          <p:cNvSpPr/>
          <p:nvPr/>
        </p:nvSpPr>
        <p:spPr>
          <a:xfrm>
            <a:off x="105910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9550908" y="6094476"/>
            <a:ext cx="2226564" cy="466344"/>
          </a:xfrm>
          <a:prstGeom prst="roundRect">
            <a:avLst>
              <a:gd name="adj" fmla="val 9804"/>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95874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Chronic+Acute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Overlap MAI</a:t>
            </a:r>
            <a:endParaRPr sz="760" b="0" i="0" u="none" strike="noStrike" cap="none">
              <a:solidFill>
                <a:schemeClr val="dk1"/>
              </a:solidFill>
              <a:latin typeface="Calibri"/>
              <a:ea typeface="Calibri"/>
              <a:cs typeface="Calibri"/>
              <a:sym typeface="Calibri"/>
            </a:endParaRPr>
          </a:p>
        </p:txBody>
      </p:sp>
      <p:sp>
        <p:nvSpPr>
          <p:cNvPr id="76" name="Google Shape;76;p2"/>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2"/>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2"/>
          <p:cNvSpPr/>
          <p:nvPr/>
        </p:nvSpPr>
        <p:spPr>
          <a:xfrm>
            <a:off x="4648200" y="6565392"/>
            <a:ext cx="2895600" cy="292608"/>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83" name="Google Shape;83;p2"/>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2</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8"/>
        <p:cNvGrpSpPr/>
        <p:nvPr/>
      </p:nvGrpSpPr>
      <p:grpSpPr>
        <a:xfrm>
          <a:off x="0" y="0"/>
          <a:ext cx="0" cy="0"/>
          <a:chOff x="0" y="0"/>
          <a:chExt cx="0" cy="0"/>
        </a:xfrm>
      </p:grpSpPr>
      <p:sp>
        <p:nvSpPr>
          <p:cNvPr id="89" name="Google Shape;89;p3"/>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0" name="Google Shape;90;p3"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91" name="Google Shape;91;p3"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sp>
        <p:nvSpPr>
          <p:cNvPr id="92" name="Google Shape;92;p3"/>
          <p:cNvSpPr/>
          <p:nvPr/>
        </p:nvSpPr>
        <p:spPr>
          <a:xfrm>
            <a:off x="274320" y="914400"/>
            <a:ext cx="2332338"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B4143C"/>
              </a:buClr>
              <a:buSzPts val="650"/>
              <a:buFont typeface="Arial"/>
              <a:buNone/>
            </a:pPr>
            <a:endParaRPr sz="650" b="0" i="0" u="none" strike="noStrike" cap="none">
              <a:solidFill>
                <a:schemeClr val="dk1"/>
              </a:solidFill>
              <a:latin typeface="Calibri"/>
              <a:ea typeface="Calibri"/>
              <a:cs typeface="Calibri"/>
              <a:sym typeface="Calibri"/>
            </a:endParaRPr>
          </a:p>
        </p:txBody>
      </p:sp>
      <p:cxnSp>
        <p:nvCxnSpPr>
          <p:cNvPr id="93" name="Google Shape;93;p3"/>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94" name="Google Shape;94;p3"/>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95" name="Google Shape;95;p3"/>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The Challenge — and Our 6-Pillar Framework</a:t>
            </a:r>
            <a:endParaRPr sz="2200" b="0" i="0" u="none" strike="noStrike" cap="none">
              <a:solidFill>
                <a:schemeClr val="dk1"/>
              </a:solidFill>
              <a:latin typeface="Calibri"/>
              <a:ea typeface="Calibri"/>
              <a:cs typeface="Calibri"/>
              <a:sym typeface="Calibri"/>
            </a:endParaRPr>
          </a:p>
        </p:txBody>
      </p:sp>
      <p:sp>
        <p:nvSpPr>
          <p:cNvPr id="96" name="Google Shape;96;p3"/>
          <p:cNvSpPr/>
          <p:nvPr/>
        </p:nvSpPr>
        <p:spPr>
          <a:xfrm>
            <a:off x="274320" y="1536192"/>
            <a:ext cx="6309360" cy="5120640"/>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a:p>
        </p:txBody>
      </p:sp>
      <p:sp>
        <p:nvSpPr>
          <p:cNvPr id="97" name="Google Shape;97;p3"/>
          <p:cNvSpPr/>
          <p:nvPr/>
        </p:nvSpPr>
        <p:spPr>
          <a:xfrm>
            <a:off x="457200" y="1645920"/>
            <a:ext cx="5943600" cy="201168"/>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The Gap in Current Practice</a:t>
            </a:r>
            <a:endParaRPr sz="1150" b="0" i="0" u="none" strike="noStrike" cap="none">
              <a:solidFill>
                <a:schemeClr val="dk1"/>
              </a:solidFill>
              <a:latin typeface="Calibri"/>
              <a:ea typeface="Calibri"/>
              <a:cs typeface="Calibri"/>
              <a:sym typeface="Calibri"/>
            </a:endParaRPr>
          </a:p>
        </p:txBody>
      </p:sp>
      <p:sp>
        <p:nvSpPr>
          <p:cNvPr id="98" name="Google Shape;98;p3"/>
          <p:cNvSpPr/>
          <p:nvPr/>
        </p:nvSpPr>
        <p:spPr>
          <a:xfrm>
            <a:off x="457200" y="1801363"/>
            <a:ext cx="5943600" cy="969300"/>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Traditional pharma market planning relies on competition benchmarking, doctor-universe coverage, and internal sales indicators alone. These approaches systematically miss disease prevalence, affordability, access gaps, and forward-looking growth signals emerging high-growth districts and underserved markets go unnoticed until a competitor moves first.</a:t>
            </a:r>
            <a:endParaRPr sz="920" b="0" i="0" u="none" strike="noStrike" cap="none">
              <a:solidFill>
                <a:schemeClr val="dk1"/>
              </a:solidFill>
              <a:latin typeface="Calibri"/>
              <a:ea typeface="Calibri"/>
              <a:cs typeface="Calibri"/>
              <a:sym typeface="Calibri"/>
            </a:endParaRPr>
          </a:p>
        </p:txBody>
      </p:sp>
      <p:sp>
        <p:nvSpPr>
          <p:cNvPr id="99" name="Google Shape;99;p3"/>
          <p:cNvSpPr/>
          <p:nvPr/>
        </p:nvSpPr>
        <p:spPr>
          <a:xfrm>
            <a:off x="457200" y="2798066"/>
            <a:ext cx="5943600" cy="2013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Defining Scope, Explicitly</a:t>
            </a:r>
            <a:endParaRPr sz="1150" b="0" i="0" u="none" strike="noStrike" cap="none">
              <a:solidFill>
                <a:schemeClr val="dk1"/>
              </a:solidFill>
              <a:latin typeface="Calibri"/>
              <a:ea typeface="Calibri"/>
              <a:cs typeface="Calibri"/>
              <a:sym typeface="Calibri"/>
            </a:endParaRPr>
          </a:p>
        </p:txBody>
      </p:sp>
      <p:sp>
        <p:nvSpPr>
          <p:cNvPr id="100" name="Google Shape;100;p3"/>
          <p:cNvSpPr/>
          <p:nvPr/>
        </p:nvSpPr>
        <p:spPr>
          <a:xfrm>
            <a:off x="457200" y="2916935"/>
            <a:ext cx="5943600" cy="969300"/>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We scope 'pharmaceutical industry' as allopathic prescription and OTC medicines, branded generics, biosimilars, and vaccines  explicitly excluding medical devices, AYUSH, and nutraceuticals. All modeling is scoped post-COVID (2022 onward preferred), since 2020-21 carries anomalous acute-care spikes and suppressed chronic-care utilisation.</a:t>
            </a:r>
            <a:endParaRPr sz="920" b="0" i="0" u="none" strike="noStrike" cap="none">
              <a:solidFill>
                <a:schemeClr val="dk1"/>
              </a:solidFill>
              <a:latin typeface="Calibri"/>
              <a:ea typeface="Calibri"/>
              <a:cs typeface="Calibri"/>
              <a:sym typeface="Calibri"/>
            </a:endParaRPr>
          </a:p>
        </p:txBody>
      </p:sp>
      <p:sp>
        <p:nvSpPr>
          <p:cNvPr id="101" name="Google Shape;101;p3"/>
          <p:cNvSpPr/>
          <p:nvPr/>
        </p:nvSpPr>
        <p:spPr>
          <a:xfrm>
            <a:off x="457200" y="3886237"/>
            <a:ext cx="5943600" cy="2013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Our Six Pillars</a:t>
            </a:r>
            <a:endParaRPr sz="1150" b="0" i="0" u="none" strike="noStrike" cap="none">
              <a:solidFill>
                <a:schemeClr val="dk1"/>
              </a:solidFill>
              <a:latin typeface="Calibri"/>
              <a:ea typeface="Calibri"/>
              <a:cs typeface="Calibri"/>
              <a:sym typeface="Calibri"/>
            </a:endParaRPr>
          </a:p>
        </p:txBody>
      </p:sp>
      <p:sp>
        <p:nvSpPr>
          <p:cNvPr id="102" name="Google Shape;102;p3"/>
          <p:cNvSpPr/>
          <p:nvPr/>
        </p:nvSpPr>
        <p:spPr>
          <a:xfrm>
            <a:off x="457200" y="4060006"/>
            <a:ext cx="5943600" cy="969300"/>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Chronic risk factors (hypertension, diabetes, cancer screening, tobacco/alcohol), Acute disease burden (diarrhoea, ARI, childhood infection), Infrastructure &amp; Affordability (sanitation, electricity, insurance, literacy), Provider Access (hospital density), Demographic structure (sex ratio), and economic Momentum (state GDP growth). Each maps to a specific, sourced dataset.</a:t>
            </a:r>
            <a:endParaRPr sz="920" b="0" i="0" u="none" strike="noStrike" cap="none">
              <a:solidFill>
                <a:schemeClr val="dk1"/>
              </a:solidFill>
              <a:latin typeface="Calibri"/>
              <a:ea typeface="Calibri"/>
              <a:cs typeface="Calibri"/>
              <a:sym typeface="Calibri"/>
            </a:endParaRPr>
          </a:p>
        </p:txBody>
      </p:sp>
      <p:sp>
        <p:nvSpPr>
          <p:cNvPr id="103" name="Google Shape;103;p3"/>
          <p:cNvSpPr/>
          <p:nvPr/>
        </p:nvSpPr>
        <p:spPr>
          <a:xfrm>
            <a:off x="457200" y="5042933"/>
            <a:ext cx="5943600" cy="2013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Why Four Indices, Not Three</a:t>
            </a:r>
            <a:endParaRPr sz="1150" b="0" i="0" u="none" strike="noStrike" cap="none">
              <a:solidFill>
                <a:schemeClr val="dk1"/>
              </a:solidFill>
              <a:latin typeface="Calibri"/>
              <a:ea typeface="Calibri"/>
              <a:cs typeface="Calibri"/>
              <a:sym typeface="Calibri"/>
            </a:endParaRPr>
          </a:p>
        </p:txBody>
      </p:sp>
      <p:sp>
        <p:nvSpPr>
          <p:cNvPr id="104" name="Google Shape;104;p3"/>
          <p:cNvSpPr/>
          <p:nvPr/>
        </p:nvSpPr>
        <p:spPr>
          <a:xfrm>
            <a:off x="457200" y="5203074"/>
            <a:ext cx="5943600" cy="822900"/>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Beyond the brief's Overall/Chronic/Acute request, we added Chronic+Acute Overlap, capturing diseases like TB and COPD with both a chronic management phase and recurring acute exacerbations our own analytical addition, addressing a real gap the standard two-way split misses.</a:t>
            </a:r>
            <a:endParaRPr sz="920" b="0" i="0" u="none" strike="noStrike" cap="none">
              <a:solidFill>
                <a:schemeClr val="dk1"/>
              </a:solidFill>
              <a:latin typeface="Calibri"/>
              <a:ea typeface="Calibri"/>
              <a:cs typeface="Calibri"/>
              <a:sym typeface="Calibri"/>
            </a:endParaRPr>
          </a:p>
        </p:txBody>
      </p:sp>
      <p:sp>
        <p:nvSpPr>
          <p:cNvPr id="105" name="Google Shape;105;p3"/>
          <p:cNvSpPr/>
          <p:nvPr/>
        </p:nvSpPr>
        <p:spPr>
          <a:xfrm>
            <a:off x="68122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68854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Indian Pharma Market Growth</a:t>
            </a:r>
            <a:endParaRPr sz="800" b="0" i="0" u="none" strike="noStrike" cap="none">
              <a:solidFill>
                <a:schemeClr val="dk1"/>
              </a:solidFill>
              <a:latin typeface="Calibri"/>
              <a:ea typeface="Calibri"/>
              <a:cs typeface="Calibri"/>
              <a:sym typeface="Calibri"/>
            </a:endParaRPr>
          </a:p>
        </p:txBody>
      </p:sp>
      <p:pic>
        <p:nvPicPr>
          <p:cNvPr id="107" name="Google Shape;107;p3" descr="charts/12_market_growth.png"/>
          <p:cNvPicPr preferRelativeResize="0"/>
          <p:nvPr/>
        </p:nvPicPr>
        <p:blipFill rotWithShape="1">
          <a:blip r:embed="rId5">
            <a:alphaModFix/>
          </a:blip>
          <a:srcRect/>
          <a:stretch/>
        </p:blipFill>
        <p:spPr>
          <a:xfrm>
            <a:off x="6903720" y="1755648"/>
            <a:ext cx="2263140" cy="1810512"/>
          </a:xfrm>
          <a:prstGeom prst="rect">
            <a:avLst/>
          </a:prstGeom>
          <a:noFill/>
          <a:ln>
            <a:noFill/>
          </a:ln>
        </p:spPr>
      </p:pic>
      <p:sp>
        <p:nvSpPr>
          <p:cNvPr id="108" name="Google Shape;108;p3"/>
          <p:cNvSpPr/>
          <p:nvPr/>
        </p:nvSpPr>
        <p:spPr>
          <a:xfrm>
            <a:off x="68854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Bar chart: India's pharma market size, 2024 actual vs. 2030 projected (DrugPatentWatch/Mordor Intelligence estimates), implying ~11% CAGR — the growth backdrop our Momentum pillar is calibrated against.</a:t>
            </a:r>
            <a:endParaRPr sz="630" b="0" i="0" u="none" strike="noStrike" cap="none">
              <a:solidFill>
                <a:schemeClr val="dk1"/>
              </a:solidFill>
              <a:latin typeface="Calibri"/>
              <a:ea typeface="Calibri"/>
              <a:cs typeface="Calibri"/>
              <a:sym typeface="Calibri"/>
            </a:endParaRPr>
          </a:p>
        </p:txBody>
      </p:sp>
      <p:sp>
        <p:nvSpPr>
          <p:cNvPr id="109" name="Google Shape;109;p3"/>
          <p:cNvSpPr/>
          <p:nvPr/>
        </p:nvSpPr>
        <p:spPr>
          <a:xfrm>
            <a:off x="94411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3"/>
          <p:cNvSpPr/>
          <p:nvPr/>
        </p:nvSpPr>
        <p:spPr>
          <a:xfrm>
            <a:off x="95143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Entropy Weight by Pillar</a:t>
            </a:r>
            <a:endParaRPr sz="800" b="0" i="0" u="none" strike="noStrike" cap="none">
              <a:solidFill>
                <a:schemeClr val="dk1"/>
              </a:solidFill>
              <a:latin typeface="Calibri"/>
              <a:ea typeface="Calibri"/>
              <a:cs typeface="Calibri"/>
              <a:sym typeface="Calibri"/>
            </a:endParaRPr>
          </a:p>
        </p:txBody>
      </p:sp>
      <p:pic>
        <p:nvPicPr>
          <p:cNvPr id="111" name="Google Shape;111;p3" descr="charts/09_pillar_weights.png"/>
          <p:cNvPicPr preferRelativeResize="0"/>
          <p:nvPr/>
        </p:nvPicPr>
        <p:blipFill rotWithShape="1">
          <a:blip r:embed="rId6">
            <a:alphaModFix/>
          </a:blip>
          <a:srcRect/>
          <a:stretch/>
        </p:blipFill>
        <p:spPr>
          <a:xfrm>
            <a:off x="9532620" y="1755648"/>
            <a:ext cx="2263140" cy="1810512"/>
          </a:xfrm>
          <a:prstGeom prst="rect">
            <a:avLst/>
          </a:prstGeom>
          <a:noFill/>
          <a:ln>
            <a:noFill/>
          </a:ln>
        </p:spPr>
      </p:pic>
      <p:sp>
        <p:nvSpPr>
          <p:cNvPr id="112" name="Google Shape;112;p3"/>
          <p:cNvSpPr/>
          <p:nvPr/>
        </p:nvSpPr>
        <p:spPr>
          <a:xfrm>
            <a:off x="95143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Same pillar-weight chart as the Executive Summary: Chronic (36.5%) and Access (32.8%) pillars carry the most analytical weight in the Overall MAI, since they show the greatest genuine district-to-district variability.</a:t>
            </a:r>
            <a:endParaRPr sz="630" b="0" i="0" u="none" strike="noStrike" cap="none">
              <a:solidFill>
                <a:schemeClr val="dk1"/>
              </a:solidFill>
              <a:latin typeface="Calibri"/>
              <a:ea typeface="Calibri"/>
              <a:cs typeface="Calibri"/>
              <a:sym typeface="Calibri"/>
            </a:endParaRPr>
          </a:p>
        </p:txBody>
      </p:sp>
      <p:sp>
        <p:nvSpPr>
          <p:cNvPr id="113" name="Google Shape;113;p3"/>
          <p:cNvSpPr/>
          <p:nvPr/>
        </p:nvSpPr>
        <p:spPr>
          <a:xfrm>
            <a:off x="6812280" y="4187952"/>
            <a:ext cx="2445900" cy="2469000"/>
          </a:xfrm>
          <a:prstGeom prst="rect">
            <a:avLst/>
          </a:prstGeom>
          <a:solidFill>
            <a:srgbClr val="B4143C"/>
          </a:solidFill>
          <a:ln>
            <a:noFill/>
          </a:ln>
          <a:effectLst>
            <a:outerShdw blurRad="63500" dist="15240" dir="54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3"/>
          <p:cNvSpPr/>
          <p:nvPr/>
        </p:nvSpPr>
        <p:spPr>
          <a:xfrm>
            <a:off x="6885432" y="4224528"/>
            <a:ext cx="22998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Legacy Approach's Blind Spots</a:t>
            </a:r>
            <a:endParaRPr sz="800" b="0" i="0" u="none" strike="noStrike" cap="none">
              <a:solidFill>
                <a:schemeClr val="dk1"/>
              </a:solidFill>
              <a:latin typeface="Calibri"/>
              <a:ea typeface="Calibri"/>
              <a:cs typeface="Calibri"/>
              <a:sym typeface="Calibri"/>
            </a:endParaRPr>
          </a:p>
        </p:txBody>
      </p:sp>
      <p:sp>
        <p:nvSpPr>
          <p:cNvPr id="115" name="Google Shape;115;p3"/>
          <p:cNvSpPr/>
          <p:nvPr/>
        </p:nvSpPr>
        <p:spPr>
          <a:xfrm>
            <a:off x="6922008" y="4517136"/>
            <a:ext cx="2226600" cy="466200"/>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3"/>
          <p:cNvSpPr/>
          <p:nvPr/>
        </p:nvSpPr>
        <p:spPr>
          <a:xfrm>
            <a:off x="6958584" y="4517136"/>
            <a:ext cx="2153400" cy="466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Competition</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benchmarking only</a:t>
            </a:r>
            <a:endParaRPr sz="760" b="0" i="0" u="none" strike="noStrike" cap="none">
              <a:solidFill>
                <a:schemeClr val="dk1"/>
              </a:solidFill>
              <a:latin typeface="Calibri"/>
              <a:ea typeface="Calibri"/>
              <a:cs typeface="Calibri"/>
              <a:sym typeface="Calibri"/>
            </a:endParaRPr>
          </a:p>
        </p:txBody>
      </p:sp>
      <p:sp>
        <p:nvSpPr>
          <p:cNvPr id="117" name="Google Shape;117;p3"/>
          <p:cNvSpPr/>
          <p:nvPr/>
        </p:nvSpPr>
        <p:spPr>
          <a:xfrm>
            <a:off x="7962138" y="4988052"/>
            <a:ext cx="146400" cy="128100"/>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3"/>
          <p:cNvSpPr/>
          <p:nvPr/>
        </p:nvSpPr>
        <p:spPr>
          <a:xfrm>
            <a:off x="6922008" y="5042916"/>
            <a:ext cx="2226600" cy="466200"/>
          </a:xfrm>
          <a:prstGeom prst="roundRect">
            <a:avLst>
              <a:gd name="adj" fmla="val 9804"/>
            </a:avLst>
          </a:prstGeom>
          <a:solidFill>
            <a:srgbClr val="8A5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3"/>
          <p:cNvSpPr/>
          <p:nvPr/>
        </p:nvSpPr>
        <p:spPr>
          <a:xfrm>
            <a:off x="6958584" y="5042916"/>
            <a:ext cx="2153400" cy="466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Doctor universe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coverage only</a:t>
            </a:r>
            <a:endParaRPr sz="760" b="0" i="0" u="none" strike="noStrike" cap="none">
              <a:solidFill>
                <a:schemeClr val="dk1"/>
              </a:solidFill>
              <a:latin typeface="Calibri"/>
              <a:ea typeface="Calibri"/>
              <a:cs typeface="Calibri"/>
              <a:sym typeface="Calibri"/>
            </a:endParaRPr>
          </a:p>
        </p:txBody>
      </p:sp>
      <p:sp>
        <p:nvSpPr>
          <p:cNvPr id="120" name="Google Shape;120;p3"/>
          <p:cNvSpPr/>
          <p:nvPr/>
        </p:nvSpPr>
        <p:spPr>
          <a:xfrm>
            <a:off x="7962138" y="5513832"/>
            <a:ext cx="146400" cy="128100"/>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3"/>
          <p:cNvSpPr/>
          <p:nvPr/>
        </p:nvSpPr>
        <p:spPr>
          <a:xfrm>
            <a:off x="6922008" y="5568696"/>
            <a:ext cx="2226600" cy="466200"/>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3"/>
          <p:cNvSpPr/>
          <p:nvPr/>
        </p:nvSpPr>
        <p:spPr>
          <a:xfrm>
            <a:off x="6958584" y="5568696"/>
            <a:ext cx="2153400" cy="466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Internal sales</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indicators only</a:t>
            </a:r>
            <a:endParaRPr sz="760" b="0" i="0" u="none" strike="noStrike" cap="none">
              <a:solidFill>
                <a:schemeClr val="dk1"/>
              </a:solidFill>
              <a:latin typeface="Calibri"/>
              <a:ea typeface="Calibri"/>
              <a:cs typeface="Calibri"/>
              <a:sym typeface="Calibri"/>
            </a:endParaRPr>
          </a:p>
        </p:txBody>
      </p:sp>
      <p:sp>
        <p:nvSpPr>
          <p:cNvPr id="123" name="Google Shape;123;p3"/>
          <p:cNvSpPr/>
          <p:nvPr/>
        </p:nvSpPr>
        <p:spPr>
          <a:xfrm>
            <a:off x="7962138" y="6039612"/>
            <a:ext cx="146400" cy="128100"/>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3"/>
          <p:cNvSpPr/>
          <p:nvPr/>
        </p:nvSpPr>
        <p:spPr>
          <a:xfrm>
            <a:off x="6922008" y="6094476"/>
            <a:ext cx="2226600" cy="466200"/>
          </a:xfrm>
          <a:prstGeom prst="roundRect">
            <a:avLst>
              <a:gd name="adj" fmla="val 9804"/>
            </a:avLst>
          </a:prstGeom>
          <a:solidFill>
            <a:srgbClr val="8A5F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3"/>
          <p:cNvSpPr/>
          <p:nvPr/>
        </p:nvSpPr>
        <p:spPr>
          <a:xfrm>
            <a:off x="6958584" y="6094476"/>
            <a:ext cx="2153400" cy="466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Misses real</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market opportunity</a:t>
            </a:r>
            <a:endParaRPr sz="760" b="0" i="0" u="none" strike="noStrike" cap="none">
              <a:solidFill>
                <a:schemeClr val="dk1"/>
              </a:solidFill>
              <a:latin typeface="Calibri"/>
              <a:ea typeface="Calibri"/>
              <a:cs typeface="Calibri"/>
              <a:sym typeface="Calibri"/>
            </a:endParaRPr>
          </a:p>
        </p:txBody>
      </p:sp>
      <p:sp>
        <p:nvSpPr>
          <p:cNvPr id="126" name="Google Shape;126;p3"/>
          <p:cNvSpPr/>
          <p:nvPr/>
        </p:nvSpPr>
        <p:spPr>
          <a:xfrm>
            <a:off x="9441180" y="4187952"/>
            <a:ext cx="2446020" cy="2468880"/>
          </a:xfrm>
          <a:prstGeom prst="rect">
            <a:avLst/>
          </a:prstGeom>
          <a:solidFill>
            <a:srgbClr val="160A6E"/>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3"/>
          <p:cNvSpPr/>
          <p:nvPr/>
        </p:nvSpPr>
        <p:spPr>
          <a:xfrm>
            <a:off x="95143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Our Pillar Architecture</a:t>
            </a:r>
            <a:endParaRPr sz="800" b="0" i="0" u="none" strike="noStrike" cap="none">
              <a:solidFill>
                <a:schemeClr val="dk1"/>
              </a:solidFill>
              <a:latin typeface="Calibri"/>
              <a:ea typeface="Calibri"/>
              <a:cs typeface="Calibri"/>
              <a:sym typeface="Calibri"/>
            </a:endParaRPr>
          </a:p>
        </p:txBody>
      </p:sp>
      <p:sp>
        <p:nvSpPr>
          <p:cNvPr id="128" name="Google Shape;128;p3"/>
          <p:cNvSpPr/>
          <p:nvPr/>
        </p:nvSpPr>
        <p:spPr>
          <a:xfrm>
            <a:off x="95509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3"/>
          <p:cNvSpPr/>
          <p:nvPr/>
        </p:nvSpPr>
        <p:spPr>
          <a:xfrm>
            <a:off x="95874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Chronic + Acute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disease burden</a:t>
            </a:r>
            <a:endParaRPr sz="760" b="0" i="0" u="none" strike="noStrike" cap="none">
              <a:solidFill>
                <a:schemeClr val="dk1"/>
              </a:solidFill>
              <a:latin typeface="Calibri"/>
              <a:ea typeface="Calibri"/>
              <a:cs typeface="Calibri"/>
              <a:sym typeface="Calibri"/>
            </a:endParaRPr>
          </a:p>
        </p:txBody>
      </p:sp>
      <p:sp>
        <p:nvSpPr>
          <p:cNvPr id="130" name="Google Shape;130;p3"/>
          <p:cNvSpPr/>
          <p:nvPr/>
        </p:nvSpPr>
        <p:spPr>
          <a:xfrm>
            <a:off x="105910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3"/>
          <p:cNvSpPr/>
          <p:nvPr/>
        </p:nvSpPr>
        <p:spPr>
          <a:xfrm>
            <a:off x="9550908" y="5042916"/>
            <a:ext cx="2226564" cy="466344"/>
          </a:xfrm>
          <a:prstGeom prst="roundRect">
            <a:avLst>
              <a:gd name="adj" fmla="val 9804"/>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3"/>
          <p:cNvSpPr/>
          <p:nvPr/>
        </p:nvSpPr>
        <p:spPr>
          <a:xfrm>
            <a:off x="95874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Infrastructure +</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Affordability + Access</a:t>
            </a:r>
            <a:endParaRPr sz="760" b="0" i="0" u="none" strike="noStrike" cap="none">
              <a:solidFill>
                <a:schemeClr val="dk1"/>
              </a:solidFill>
              <a:latin typeface="Calibri"/>
              <a:ea typeface="Calibri"/>
              <a:cs typeface="Calibri"/>
              <a:sym typeface="Calibri"/>
            </a:endParaRPr>
          </a:p>
        </p:txBody>
      </p:sp>
      <p:sp>
        <p:nvSpPr>
          <p:cNvPr id="133" name="Google Shape;133;p3"/>
          <p:cNvSpPr/>
          <p:nvPr/>
        </p:nvSpPr>
        <p:spPr>
          <a:xfrm>
            <a:off x="105910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3"/>
          <p:cNvSpPr/>
          <p:nvPr/>
        </p:nvSpPr>
        <p:spPr>
          <a:xfrm>
            <a:off x="95509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3"/>
          <p:cNvSpPr/>
          <p:nvPr/>
        </p:nvSpPr>
        <p:spPr>
          <a:xfrm>
            <a:off x="95874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Demographic +</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Momentum overlay</a:t>
            </a:r>
            <a:endParaRPr sz="760" b="0" i="0" u="none" strike="noStrike" cap="none">
              <a:solidFill>
                <a:schemeClr val="dk1"/>
              </a:solidFill>
              <a:latin typeface="Calibri"/>
              <a:ea typeface="Calibri"/>
              <a:cs typeface="Calibri"/>
              <a:sym typeface="Calibri"/>
            </a:endParaRPr>
          </a:p>
        </p:txBody>
      </p:sp>
      <p:sp>
        <p:nvSpPr>
          <p:cNvPr id="136" name="Google Shape;136;p3"/>
          <p:cNvSpPr/>
          <p:nvPr/>
        </p:nvSpPr>
        <p:spPr>
          <a:xfrm>
            <a:off x="105910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3"/>
          <p:cNvSpPr/>
          <p:nvPr/>
        </p:nvSpPr>
        <p:spPr>
          <a:xfrm>
            <a:off x="9550908" y="6094476"/>
            <a:ext cx="2226564" cy="466344"/>
          </a:xfrm>
          <a:prstGeom prst="roundRect">
            <a:avLst>
              <a:gd name="adj" fmla="val 9804"/>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3"/>
          <p:cNvSpPr/>
          <p:nvPr/>
        </p:nvSpPr>
        <p:spPr>
          <a:xfrm>
            <a:off x="95874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Composite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Overall MAI</a:t>
            </a:r>
            <a:endParaRPr sz="760" b="0" i="0" u="none" strike="noStrike" cap="none">
              <a:solidFill>
                <a:schemeClr val="dk1"/>
              </a:solidFill>
              <a:latin typeface="Calibri"/>
              <a:ea typeface="Calibri"/>
              <a:cs typeface="Calibri"/>
              <a:sym typeface="Calibri"/>
            </a:endParaRPr>
          </a:p>
        </p:txBody>
      </p:sp>
      <p:sp>
        <p:nvSpPr>
          <p:cNvPr id="139" name="Google Shape;139;p3"/>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3"/>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3"/>
          <p:cNvSpPr/>
          <p:nvPr/>
        </p:nvSpPr>
        <p:spPr>
          <a:xfrm>
            <a:off x="4648200" y="6565392"/>
            <a:ext cx="2895600" cy="292500"/>
          </a:xfrm>
          <a:prstGeom prst="triangle">
            <a:avLst>
              <a:gd name="adj" fmla="val 50000"/>
            </a:avLst>
          </a:prstGeom>
          <a:solidFill>
            <a:srgbClr val="8AAE6E">
              <a:alpha val="8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3"/>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3"/>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3"/>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3"/>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146" name="Google Shape;146;p3"/>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3</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1"/>
        <p:cNvGrpSpPr/>
        <p:nvPr/>
      </p:nvGrpSpPr>
      <p:grpSpPr>
        <a:xfrm>
          <a:off x="0" y="0"/>
          <a:ext cx="0" cy="0"/>
          <a:chOff x="0" y="0"/>
          <a:chExt cx="0" cy="0"/>
        </a:xfrm>
      </p:grpSpPr>
      <p:sp>
        <p:nvSpPr>
          <p:cNvPr id="152" name="Google Shape;152;p4"/>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53" name="Google Shape;153;p4"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154" name="Google Shape;154;p4"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155" name="Google Shape;155;p4"/>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156" name="Google Shape;156;p4"/>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157" name="Google Shape;157;p4"/>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PESTLE — Macro Environment Scan</a:t>
            </a:r>
            <a:endParaRPr sz="2200" b="0" i="0" u="none" strike="noStrike" cap="none">
              <a:solidFill>
                <a:schemeClr val="dk1"/>
              </a:solidFill>
              <a:latin typeface="Calibri"/>
              <a:ea typeface="Calibri"/>
              <a:cs typeface="Calibri"/>
              <a:sym typeface="Calibri"/>
            </a:endParaRPr>
          </a:p>
        </p:txBody>
      </p:sp>
      <p:sp>
        <p:nvSpPr>
          <p:cNvPr id="158" name="Google Shape;158;p4"/>
          <p:cNvSpPr/>
          <p:nvPr/>
        </p:nvSpPr>
        <p:spPr>
          <a:xfrm>
            <a:off x="274320" y="1536192"/>
            <a:ext cx="6309360" cy="5120640"/>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a:p>
        </p:txBody>
      </p:sp>
      <p:sp>
        <p:nvSpPr>
          <p:cNvPr id="159" name="Google Shape;159;p4"/>
          <p:cNvSpPr/>
          <p:nvPr/>
        </p:nvSpPr>
        <p:spPr>
          <a:xfrm>
            <a:off x="457200" y="1645920"/>
            <a:ext cx="5943600" cy="201168"/>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Political &amp; Economic</a:t>
            </a:r>
            <a:endParaRPr sz="1150" b="0" i="0" u="none" strike="noStrike" cap="none">
              <a:solidFill>
                <a:schemeClr val="dk1"/>
              </a:solidFill>
              <a:latin typeface="Calibri"/>
              <a:ea typeface="Calibri"/>
              <a:cs typeface="Calibri"/>
              <a:sym typeface="Calibri"/>
            </a:endParaRPr>
          </a:p>
        </p:txBody>
      </p:sp>
      <p:sp>
        <p:nvSpPr>
          <p:cNvPr id="160" name="Google Shape;160;p4"/>
          <p:cNvSpPr/>
          <p:nvPr/>
        </p:nvSpPr>
        <p:spPr>
          <a:xfrm>
            <a:off x="457200" y="1691638"/>
            <a:ext cx="5943600" cy="969300"/>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The broader Pharma PLI scheme (₹15,000 Cr, including ₹6,940 Cr for 41 critical bulk-drug APIs) and PMBJP/Jan Aushadhi Kendras directly expand affordable-generic reach, feeding our Affordability pillar. India's pharma market is projected to grow from $61B (2024) to ~$130B by 2030E (~11% CAGR), directly informing our Momentum pillar.</a:t>
            </a:r>
            <a:endParaRPr sz="920" b="0" i="0" u="none" strike="noStrike" cap="none">
              <a:solidFill>
                <a:schemeClr val="dk1"/>
              </a:solidFill>
              <a:latin typeface="Calibri"/>
              <a:ea typeface="Calibri"/>
              <a:cs typeface="Calibri"/>
              <a:sym typeface="Calibri"/>
            </a:endParaRPr>
          </a:p>
        </p:txBody>
      </p:sp>
      <p:sp>
        <p:nvSpPr>
          <p:cNvPr id="161" name="Google Shape;161;p4"/>
          <p:cNvSpPr/>
          <p:nvPr/>
        </p:nvSpPr>
        <p:spPr>
          <a:xfrm>
            <a:off x="457200" y="2578616"/>
            <a:ext cx="5943600" cy="2013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Social &amp; Technological</a:t>
            </a:r>
            <a:endParaRPr sz="1150" b="0" i="0" u="none" strike="noStrike" cap="none">
              <a:solidFill>
                <a:schemeClr val="dk1"/>
              </a:solidFill>
              <a:latin typeface="Calibri"/>
              <a:ea typeface="Calibri"/>
              <a:cs typeface="Calibri"/>
              <a:sym typeface="Calibri"/>
            </a:endParaRPr>
          </a:p>
        </p:txBody>
      </p:sp>
      <p:sp>
        <p:nvSpPr>
          <p:cNvPr id="162" name="Google Shape;162;p4"/>
          <p:cNvSpPr/>
          <p:nvPr/>
        </p:nvSpPr>
        <p:spPr>
          <a:xfrm>
            <a:off x="457200" y="2798024"/>
            <a:ext cx="5943600" cy="777300"/>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AB-PMJAY's 42+ crore enrollment and 101M diabetics plus 315M hypertensive citizens (Anjana et al., Lancet Diabetes &amp; Endocrinology, 2023) anchor our Chronic MAI sizing. GenAI diagnostics and telemedicine are narrowing the rural patient-to-doctor access gap feeding our Provider Access pillar.</a:t>
            </a:r>
            <a:endParaRPr sz="920" b="0" i="0" u="none" strike="noStrike" cap="none">
              <a:solidFill>
                <a:schemeClr val="dk1"/>
              </a:solidFill>
              <a:latin typeface="Calibri"/>
              <a:ea typeface="Calibri"/>
              <a:cs typeface="Calibri"/>
              <a:sym typeface="Calibri"/>
            </a:endParaRPr>
          </a:p>
        </p:txBody>
      </p:sp>
      <p:sp>
        <p:nvSpPr>
          <p:cNvPr id="163" name="Google Shape;163;p4"/>
          <p:cNvSpPr/>
          <p:nvPr/>
        </p:nvSpPr>
        <p:spPr>
          <a:xfrm>
            <a:off x="457200" y="3593612"/>
            <a:ext cx="5943600" cy="2013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Legal &amp; Environmental</a:t>
            </a:r>
            <a:endParaRPr sz="1150" b="0" i="0" u="none" strike="noStrike" cap="none">
              <a:solidFill>
                <a:schemeClr val="dk1"/>
              </a:solidFill>
              <a:latin typeface="Calibri"/>
              <a:ea typeface="Calibri"/>
              <a:cs typeface="Calibri"/>
              <a:sym typeface="Calibri"/>
            </a:endParaRPr>
          </a:p>
        </p:txBody>
      </p:sp>
      <p:sp>
        <p:nvSpPr>
          <p:cNvPr id="164" name="Google Shape;164;p4"/>
          <p:cNvSpPr/>
          <p:nvPr/>
        </p:nvSpPr>
        <p:spPr>
          <a:xfrm>
            <a:off x="457200" y="3794801"/>
            <a:ext cx="5943600" cy="822900"/>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NPPA/DPCO price caps constrain margins on essential-medicine SKUs in high-volume Tier 1-2 districts. Climate-driven vector-borne and seasonal-illness shifts feed directly into our Acute Therapy MAI's forward-looking layer, since monsoon/heat-wave volatility is a tracked leading indicator of acute demand.</a:t>
            </a:r>
            <a:endParaRPr sz="920" b="0" i="0" u="none" strike="noStrike" cap="none">
              <a:solidFill>
                <a:schemeClr val="dk1"/>
              </a:solidFill>
              <a:latin typeface="Calibri"/>
              <a:ea typeface="Calibri"/>
              <a:cs typeface="Calibri"/>
              <a:sym typeface="Calibri"/>
            </a:endParaRPr>
          </a:p>
        </p:txBody>
      </p:sp>
      <p:sp>
        <p:nvSpPr>
          <p:cNvPr id="165" name="Google Shape;165;p4"/>
          <p:cNvSpPr/>
          <p:nvPr/>
        </p:nvSpPr>
        <p:spPr>
          <a:xfrm>
            <a:off x="457200" y="4654371"/>
            <a:ext cx="5943600" cy="2013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Why This Matters for the Model</a:t>
            </a:r>
            <a:endParaRPr sz="1150" b="0" i="0" u="none" strike="noStrike" cap="none">
              <a:solidFill>
                <a:schemeClr val="dk1"/>
              </a:solidFill>
              <a:latin typeface="Calibri"/>
              <a:ea typeface="Calibri"/>
              <a:cs typeface="Calibri"/>
              <a:sym typeface="Calibri"/>
            </a:endParaRPr>
          </a:p>
        </p:txBody>
      </p:sp>
      <p:sp>
        <p:nvSpPr>
          <p:cNvPr id="166" name="Google Shape;166;p4"/>
          <p:cNvSpPr/>
          <p:nvPr/>
        </p:nvSpPr>
        <p:spPr>
          <a:xfrm>
            <a:off x="457200" y="4830638"/>
            <a:ext cx="5943600" cy="699000"/>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Every PESTLE factor traces to a specific pillar or variable in our quantitative model — this is the business justification for why each of our 36 scoring variables was chosen, not a generic strategic overlay.</a:t>
            </a:r>
            <a:endParaRPr sz="920" b="0" i="0" u="none" strike="noStrike" cap="none">
              <a:solidFill>
                <a:schemeClr val="dk1"/>
              </a:solidFill>
              <a:latin typeface="Calibri"/>
              <a:ea typeface="Calibri"/>
              <a:cs typeface="Calibri"/>
              <a:sym typeface="Calibri"/>
            </a:endParaRPr>
          </a:p>
        </p:txBody>
      </p:sp>
      <p:sp>
        <p:nvSpPr>
          <p:cNvPr id="167" name="Google Shape;167;p4"/>
          <p:cNvSpPr/>
          <p:nvPr/>
        </p:nvSpPr>
        <p:spPr>
          <a:xfrm>
            <a:off x="68122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68854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Pharma Market Size Growth</a:t>
            </a:r>
            <a:endParaRPr sz="800" b="0" i="0" u="none" strike="noStrike" cap="none">
              <a:solidFill>
                <a:schemeClr val="dk1"/>
              </a:solidFill>
              <a:latin typeface="Calibri"/>
              <a:ea typeface="Calibri"/>
              <a:cs typeface="Calibri"/>
              <a:sym typeface="Calibri"/>
            </a:endParaRPr>
          </a:p>
        </p:txBody>
      </p:sp>
      <p:pic>
        <p:nvPicPr>
          <p:cNvPr id="169" name="Google Shape;169;p4" descr="charts/12_market_growth.png"/>
          <p:cNvPicPr preferRelativeResize="0"/>
          <p:nvPr/>
        </p:nvPicPr>
        <p:blipFill rotWithShape="1">
          <a:blip r:embed="rId5">
            <a:alphaModFix/>
          </a:blip>
          <a:srcRect/>
          <a:stretch/>
        </p:blipFill>
        <p:spPr>
          <a:xfrm>
            <a:off x="6903720" y="1755648"/>
            <a:ext cx="2263140" cy="1810512"/>
          </a:xfrm>
          <a:prstGeom prst="rect">
            <a:avLst/>
          </a:prstGeom>
          <a:noFill/>
          <a:ln>
            <a:noFill/>
          </a:ln>
        </p:spPr>
      </p:pic>
      <p:sp>
        <p:nvSpPr>
          <p:cNvPr id="170" name="Google Shape;170;p4"/>
          <p:cNvSpPr/>
          <p:nvPr/>
        </p:nvSpPr>
        <p:spPr>
          <a:xfrm>
            <a:off x="68854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Bar chart: $61B (2024) to a projected ~$130B (2030), sourced from Mordor Intelligence/DrugPatentWatch estimates — the Economic-pillar growth rate our Momentum layer is calibrated against.</a:t>
            </a:r>
            <a:endParaRPr sz="630" b="0" i="0" u="none" strike="noStrike" cap="none">
              <a:solidFill>
                <a:schemeClr val="dk1"/>
              </a:solidFill>
              <a:latin typeface="Calibri"/>
              <a:ea typeface="Calibri"/>
              <a:cs typeface="Calibri"/>
              <a:sym typeface="Calibri"/>
            </a:endParaRPr>
          </a:p>
        </p:txBody>
      </p:sp>
      <p:sp>
        <p:nvSpPr>
          <p:cNvPr id="171" name="Google Shape;171;p4"/>
          <p:cNvSpPr/>
          <p:nvPr/>
        </p:nvSpPr>
        <p:spPr>
          <a:xfrm>
            <a:off x="94411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95143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PESTLE at a Glance</a:t>
            </a:r>
            <a:endParaRPr sz="800" b="0" i="0" u="none" strike="noStrike" cap="none">
              <a:solidFill>
                <a:schemeClr val="dk1"/>
              </a:solidFill>
              <a:latin typeface="Calibri"/>
              <a:ea typeface="Calibri"/>
              <a:cs typeface="Calibri"/>
              <a:sym typeface="Calibri"/>
            </a:endParaRPr>
          </a:p>
        </p:txBody>
      </p:sp>
      <p:sp>
        <p:nvSpPr>
          <p:cNvPr id="173" name="Google Shape;173;p4"/>
          <p:cNvSpPr/>
          <p:nvPr/>
        </p:nvSpPr>
        <p:spPr>
          <a:xfrm>
            <a:off x="9532620" y="1792224"/>
            <a:ext cx="1113282" cy="1069848"/>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9578340" y="1810512"/>
            <a:ext cx="1021842" cy="103327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POLITICAL</a:t>
            </a:r>
            <a:endParaRPr sz="6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₹15,000 Cr PLI scheme; NPPA price monitoring</a:t>
            </a:r>
            <a:endParaRPr sz="630" b="0" i="0" u="none" strike="noStrike" cap="none">
              <a:solidFill>
                <a:schemeClr val="dk1"/>
              </a:solidFill>
              <a:latin typeface="Calibri"/>
              <a:ea typeface="Calibri"/>
              <a:cs typeface="Calibri"/>
              <a:sym typeface="Calibri"/>
            </a:endParaRPr>
          </a:p>
        </p:txBody>
      </p:sp>
      <p:sp>
        <p:nvSpPr>
          <p:cNvPr id="175" name="Google Shape;175;p4"/>
          <p:cNvSpPr/>
          <p:nvPr/>
        </p:nvSpPr>
        <p:spPr>
          <a:xfrm>
            <a:off x="10682478" y="1792224"/>
            <a:ext cx="1113282" cy="1069848"/>
          </a:xfrm>
          <a:prstGeom prst="rect">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4"/>
          <p:cNvSpPr/>
          <p:nvPr/>
        </p:nvSpPr>
        <p:spPr>
          <a:xfrm>
            <a:off x="10728198" y="1810512"/>
            <a:ext cx="1021842" cy="103327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ECONOMIC</a:t>
            </a:r>
            <a:endParaRPr sz="6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$61B→$130B market (~11% CAGR)</a:t>
            </a:r>
            <a:endParaRPr sz="630" b="0" i="0" u="none" strike="noStrike" cap="none">
              <a:solidFill>
                <a:schemeClr val="dk1"/>
              </a:solidFill>
              <a:latin typeface="Calibri"/>
              <a:ea typeface="Calibri"/>
              <a:cs typeface="Calibri"/>
              <a:sym typeface="Calibri"/>
            </a:endParaRPr>
          </a:p>
        </p:txBody>
      </p:sp>
      <p:sp>
        <p:nvSpPr>
          <p:cNvPr id="177" name="Google Shape;177;p4"/>
          <p:cNvSpPr/>
          <p:nvPr/>
        </p:nvSpPr>
        <p:spPr>
          <a:xfrm>
            <a:off x="9532620" y="2898648"/>
            <a:ext cx="1113282" cy="1069848"/>
          </a:xfrm>
          <a:prstGeom prst="rect">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4"/>
          <p:cNvSpPr/>
          <p:nvPr/>
        </p:nvSpPr>
        <p:spPr>
          <a:xfrm>
            <a:off x="9578340" y="2916936"/>
            <a:ext cx="1021842" cy="103327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SOCIAL</a:t>
            </a:r>
            <a:endParaRPr sz="6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42+ Cr PMJAY; 101M diabetics</a:t>
            </a:r>
            <a:endParaRPr sz="630" b="0" i="0" u="none" strike="noStrike" cap="none">
              <a:solidFill>
                <a:schemeClr val="dk1"/>
              </a:solidFill>
              <a:latin typeface="Calibri"/>
              <a:ea typeface="Calibri"/>
              <a:cs typeface="Calibri"/>
              <a:sym typeface="Calibri"/>
            </a:endParaRPr>
          </a:p>
        </p:txBody>
      </p:sp>
      <p:sp>
        <p:nvSpPr>
          <p:cNvPr id="179" name="Google Shape;179;p4"/>
          <p:cNvSpPr/>
          <p:nvPr/>
        </p:nvSpPr>
        <p:spPr>
          <a:xfrm>
            <a:off x="10682478" y="2898648"/>
            <a:ext cx="1113282" cy="1069848"/>
          </a:xfrm>
          <a:prstGeom prst="rect">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4"/>
          <p:cNvSpPr/>
          <p:nvPr/>
        </p:nvSpPr>
        <p:spPr>
          <a:xfrm>
            <a:off x="10728198" y="2916936"/>
            <a:ext cx="1021842" cy="103327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TECH/LEGAL/ENV</a:t>
            </a:r>
            <a:endParaRPr sz="6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Telemedicine; DPCO caps; climate-linked acute demand</a:t>
            </a:r>
            <a:endParaRPr sz="630" b="0" i="0" u="none" strike="noStrike" cap="none">
              <a:solidFill>
                <a:schemeClr val="dk1"/>
              </a:solidFill>
              <a:latin typeface="Calibri"/>
              <a:ea typeface="Calibri"/>
              <a:cs typeface="Calibri"/>
              <a:sym typeface="Calibri"/>
            </a:endParaRPr>
          </a:p>
        </p:txBody>
      </p:sp>
      <p:sp>
        <p:nvSpPr>
          <p:cNvPr id="181" name="Google Shape;181;p4"/>
          <p:cNvSpPr/>
          <p:nvPr/>
        </p:nvSpPr>
        <p:spPr>
          <a:xfrm>
            <a:off x="6812280" y="4187952"/>
            <a:ext cx="2446020" cy="2468880"/>
          </a:xfrm>
          <a:prstGeom prst="rect">
            <a:avLst/>
          </a:prstGeom>
          <a:solidFill>
            <a:srgbClr val="160A6E"/>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4"/>
          <p:cNvSpPr/>
          <p:nvPr/>
        </p:nvSpPr>
        <p:spPr>
          <a:xfrm>
            <a:off x="68854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Political → Model Link</a:t>
            </a:r>
            <a:endParaRPr sz="800" b="0" i="0" u="none" strike="noStrike" cap="none">
              <a:solidFill>
                <a:schemeClr val="dk1"/>
              </a:solidFill>
              <a:latin typeface="Calibri"/>
              <a:ea typeface="Calibri"/>
              <a:cs typeface="Calibri"/>
              <a:sym typeface="Calibri"/>
            </a:endParaRPr>
          </a:p>
        </p:txBody>
      </p:sp>
      <p:sp>
        <p:nvSpPr>
          <p:cNvPr id="183" name="Google Shape;183;p4"/>
          <p:cNvSpPr/>
          <p:nvPr/>
        </p:nvSpPr>
        <p:spPr>
          <a:xfrm>
            <a:off x="69220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4"/>
          <p:cNvSpPr/>
          <p:nvPr/>
        </p:nvSpPr>
        <p:spPr>
          <a:xfrm>
            <a:off x="69585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PLI + Jan Aushadhi</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schemes</a:t>
            </a:r>
            <a:endParaRPr sz="760" b="0" i="0" u="none" strike="noStrike" cap="none">
              <a:solidFill>
                <a:schemeClr val="dk1"/>
              </a:solidFill>
              <a:latin typeface="Calibri"/>
              <a:ea typeface="Calibri"/>
              <a:cs typeface="Calibri"/>
              <a:sym typeface="Calibri"/>
            </a:endParaRPr>
          </a:p>
        </p:txBody>
      </p:sp>
      <p:sp>
        <p:nvSpPr>
          <p:cNvPr id="185" name="Google Shape;185;p4"/>
          <p:cNvSpPr/>
          <p:nvPr/>
        </p:nvSpPr>
        <p:spPr>
          <a:xfrm>
            <a:off x="79621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4"/>
          <p:cNvSpPr/>
          <p:nvPr/>
        </p:nvSpPr>
        <p:spPr>
          <a:xfrm>
            <a:off x="6922008" y="5042916"/>
            <a:ext cx="2226564" cy="466344"/>
          </a:xfrm>
          <a:prstGeom prst="roundRect">
            <a:avLst>
              <a:gd name="adj" fmla="val 9804"/>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4"/>
          <p:cNvSpPr/>
          <p:nvPr/>
        </p:nvSpPr>
        <p:spPr>
          <a:xfrm>
            <a:off x="69585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District affordability</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improves</a:t>
            </a:r>
            <a:endParaRPr sz="760" b="0" i="0" u="none" strike="noStrike" cap="none">
              <a:solidFill>
                <a:schemeClr val="dk1"/>
              </a:solidFill>
              <a:latin typeface="Calibri"/>
              <a:ea typeface="Calibri"/>
              <a:cs typeface="Calibri"/>
              <a:sym typeface="Calibri"/>
            </a:endParaRPr>
          </a:p>
        </p:txBody>
      </p:sp>
      <p:sp>
        <p:nvSpPr>
          <p:cNvPr id="188" name="Google Shape;188;p4"/>
          <p:cNvSpPr/>
          <p:nvPr/>
        </p:nvSpPr>
        <p:spPr>
          <a:xfrm>
            <a:off x="79621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4"/>
          <p:cNvSpPr/>
          <p:nvPr/>
        </p:nvSpPr>
        <p:spPr>
          <a:xfrm>
            <a:off x="69220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4"/>
          <p:cNvSpPr/>
          <p:nvPr/>
        </p:nvSpPr>
        <p:spPr>
          <a:xfrm>
            <a:off x="69585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Feeds Affordability</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pillar (Pillar 5)</a:t>
            </a:r>
            <a:endParaRPr sz="760" b="0" i="0" u="none" strike="noStrike" cap="none">
              <a:solidFill>
                <a:schemeClr val="dk1"/>
              </a:solidFill>
              <a:latin typeface="Calibri"/>
              <a:ea typeface="Calibri"/>
              <a:cs typeface="Calibri"/>
              <a:sym typeface="Calibri"/>
            </a:endParaRPr>
          </a:p>
        </p:txBody>
      </p:sp>
      <p:sp>
        <p:nvSpPr>
          <p:cNvPr id="191" name="Google Shape;191;p4"/>
          <p:cNvSpPr/>
          <p:nvPr/>
        </p:nvSpPr>
        <p:spPr>
          <a:xfrm>
            <a:off x="79621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4"/>
          <p:cNvSpPr/>
          <p:nvPr/>
        </p:nvSpPr>
        <p:spPr>
          <a:xfrm>
            <a:off x="6922008" y="6094476"/>
            <a:ext cx="2226564" cy="466344"/>
          </a:xfrm>
          <a:prstGeom prst="roundRect">
            <a:avLst>
              <a:gd name="adj" fmla="val 9804"/>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4"/>
          <p:cNvSpPr/>
          <p:nvPr/>
        </p:nvSpPr>
        <p:spPr>
          <a:xfrm>
            <a:off x="69585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Raises Chronic MAI</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score</a:t>
            </a:r>
            <a:endParaRPr sz="760" b="0" i="0" u="none" strike="noStrike" cap="none">
              <a:solidFill>
                <a:schemeClr val="dk1"/>
              </a:solidFill>
              <a:latin typeface="Calibri"/>
              <a:ea typeface="Calibri"/>
              <a:cs typeface="Calibri"/>
              <a:sym typeface="Calibri"/>
            </a:endParaRPr>
          </a:p>
        </p:txBody>
      </p:sp>
      <p:sp>
        <p:nvSpPr>
          <p:cNvPr id="194" name="Google Shape;194;p4"/>
          <p:cNvSpPr/>
          <p:nvPr/>
        </p:nvSpPr>
        <p:spPr>
          <a:xfrm>
            <a:off x="9441180" y="4187952"/>
            <a:ext cx="2446020" cy="2468880"/>
          </a:xfrm>
          <a:prstGeom prst="rect">
            <a:avLst/>
          </a:prstGeom>
          <a:solidFill>
            <a:srgbClr val="B4143C"/>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4"/>
          <p:cNvSpPr/>
          <p:nvPr/>
        </p:nvSpPr>
        <p:spPr>
          <a:xfrm>
            <a:off x="95143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Environmental → Model Link</a:t>
            </a:r>
            <a:endParaRPr sz="800" b="0" i="0" u="none" strike="noStrike" cap="none">
              <a:solidFill>
                <a:schemeClr val="dk1"/>
              </a:solidFill>
              <a:latin typeface="Calibri"/>
              <a:ea typeface="Calibri"/>
              <a:cs typeface="Calibri"/>
              <a:sym typeface="Calibri"/>
            </a:endParaRPr>
          </a:p>
        </p:txBody>
      </p:sp>
      <p:sp>
        <p:nvSpPr>
          <p:cNvPr id="196" name="Google Shape;196;p4"/>
          <p:cNvSpPr/>
          <p:nvPr/>
        </p:nvSpPr>
        <p:spPr>
          <a:xfrm>
            <a:off x="95509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4"/>
          <p:cNvSpPr/>
          <p:nvPr/>
        </p:nvSpPr>
        <p:spPr>
          <a:xfrm>
            <a:off x="95874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Climate/monsoon</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volatility</a:t>
            </a:r>
            <a:endParaRPr sz="760" b="0" i="0" u="none" strike="noStrike" cap="none">
              <a:solidFill>
                <a:schemeClr val="dk1"/>
              </a:solidFill>
              <a:latin typeface="Calibri"/>
              <a:ea typeface="Calibri"/>
              <a:cs typeface="Calibri"/>
              <a:sym typeface="Calibri"/>
            </a:endParaRPr>
          </a:p>
        </p:txBody>
      </p:sp>
      <p:sp>
        <p:nvSpPr>
          <p:cNvPr id="198" name="Google Shape;198;p4"/>
          <p:cNvSpPr/>
          <p:nvPr/>
        </p:nvSpPr>
        <p:spPr>
          <a:xfrm>
            <a:off x="105910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4"/>
          <p:cNvSpPr/>
          <p:nvPr/>
        </p:nvSpPr>
        <p:spPr>
          <a:xfrm>
            <a:off x="9550908" y="5042916"/>
            <a:ext cx="2226564" cy="466344"/>
          </a:xfrm>
          <a:prstGeom prst="roundRect">
            <a:avLst>
              <a:gd name="adj" fmla="val 9804"/>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4"/>
          <p:cNvSpPr/>
          <p:nvPr/>
        </p:nvSpPr>
        <p:spPr>
          <a:xfrm>
            <a:off x="95874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Vector-borne disease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seasonality</a:t>
            </a:r>
            <a:endParaRPr sz="760" b="0" i="0" u="none" strike="noStrike" cap="none">
              <a:solidFill>
                <a:schemeClr val="dk1"/>
              </a:solidFill>
              <a:latin typeface="Calibri"/>
              <a:ea typeface="Calibri"/>
              <a:cs typeface="Calibri"/>
              <a:sym typeface="Calibri"/>
            </a:endParaRPr>
          </a:p>
        </p:txBody>
      </p:sp>
      <p:sp>
        <p:nvSpPr>
          <p:cNvPr id="201" name="Google Shape;201;p4"/>
          <p:cNvSpPr/>
          <p:nvPr/>
        </p:nvSpPr>
        <p:spPr>
          <a:xfrm>
            <a:off x="105910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4"/>
          <p:cNvSpPr/>
          <p:nvPr/>
        </p:nvSpPr>
        <p:spPr>
          <a:xfrm>
            <a:off x="95509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4"/>
          <p:cNvSpPr/>
          <p:nvPr/>
        </p:nvSpPr>
        <p:spPr>
          <a:xfrm>
            <a:off x="95874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Feeds Acute MAI</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forward-looking layer</a:t>
            </a:r>
            <a:endParaRPr sz="760" b="0" i="0" u="none" strike="noStrike" cap="none">
              <a:solidFill>
                <a:schemeClr val="dk1"/>
              </a:solidFill>
              <a:latin typeface="Calibri"/>
              <a:ea typeface="Calibri"/>
              <a:cs typeface="Calibri"/>
              <a:sym typeface="Calibri"/>
            </a:endParaRPr>
          </a:p>
        </p:txBody>
      </p:sp>
      <p:sp>
        <p:nvSpPr>
          <p:cNvPr id="204" name="Google Shape;204;p4"/>
          <p:cNvSpPr/>
          <p:nvPr/>
        </p:nvSpPr>
        <p:spPr>
          <a:xfrm>
            <a:off x="105910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4"/>
          <p:cNvSpPr/>
          <p:nvPr/>
        </p:nvSpPr>
        <p:spPr>
          <a:xfrm>
            <a:off x="9550908" y="6094476"/>
            <a:ext cx="2226564" cy="466344"/>
          </a:xfrm>
          <a:prstGeom prst="roundRect">
            <a:avLst>
              <a:gd name="adj" fmla="val 9804"/>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4"/>
          <p:cNvSpPr/>
          <p:nvPr/>
        </p:nvSpPr>
        <p:spPr>
          <a:xfrm>
            <a:off x="95874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Momentum index</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adjustment</a:t>
            </a:r>
            <a:endParaRPr sz="760" b="0" i="0" u="none" strike="noStrike" cap="none">
              <a:solidFill>
                <a:schemeClr val="dk1"/>
              </a:solidFill>
              <a:latin typeface="Calibri"/>
              <a:ea typeface="Calibri"/>
              <a:cs typeface="Calibri"/>
              <a:sym typeface="Calibri"/>
            </a:endParaRPr>
          </a:p>
        </p:txBody>
      </p:sp>
      <p:sp>
        <p:nvSpPr>
          <p:cNvPr id="207" name="Google Shape;207;p4"/>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4"/>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4"/>
          <p:cNvSpPr/>
          <p:nvPr/>
        </p:nvSpPr>
        <p:spPr>
          <a:xfrm>
            <a:off x="4648200" y="6565392"/>
            <a:ext cx="2895600" cy="292608"/>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4"/>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4"/>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4"/>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4"/>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214" name="Google Shape;214;p4"/>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4</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9"/>
        <p:cNvGrpSpPr/>
        <p:nvPr/>
      </p:nvGrpSpPr>
      <p:grpSpPr>
        <a:xfrm>
          <a:off x="0" y="0"/>
          <a:ext cx="0" cy="0"/>
          <a:chOff x="0" y="0"/>
          <a:chExt cx="0" cy="0"/>
        </a:xfrm>
      </p:grpSpPr>
      <p:sp>
        <p:nvSpPr>
          <p:cNvPr id="220" name="Google Shape;220;p5"/>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1" name="Google Shape;221;p5"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222" name="Google Shape;222;p5"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223" name="Google Shape;223;p5"/>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224" name="Google Shape;224;p5"/>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225" name="Google Shape;225;p5"/>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Porter's Five Forces &amp; SWOT Analysis</a:t>
            </a:r>
            <a:endParaRPr sz="2200" b="0" i="0" u="none" strike="noStrike" cap="none">
              <a:solidFill>
                <a:schemeClr val="dk1"/>
              </a:solidFill>
              <a:latin typeface="Calibri"/>
              <a:ea typeface="Calibri"/>
              <a:cs typeface="Calibri"/>
              <a:sym typeface="Calibri"/>
            </a:endParaRPr>
          </a:p>
        </p:txBody>
      </p:sp>
      <p:sp>
        <p:nvSpPr>
          <p:cNvPr id="226" name="Google Shape;226;p5"/>
          <p:cNvSpPr/>
          <p:nvPr/>
        </p:nvSpPr>
        <p:spPr>
          <a:xfrm>
            <a:off x="320045" y="1410567"/>
            <a:ext cx="6309300" cy="5120700"/>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a:p>
        </p:txBody>
      </p:sp>
      <p:sp>
        <p:nvSpPr>
          <p:cNvPr id="227" name="Google Shape;227;p5"/>
          <p:cNvSpPr/>
          <p:nvPr/>
        </p:nvSpPr>
        <p:spPr>
          <a:xfrm>
            <a:off x="457200" y="1645920"/>
            <a:ext cx="5943600" cy="201168"/>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Rivalry, Entrants &amp; Buyer Power</a:t>
            </a:r>
            <a:endParaRPr sz="1150" b="0" i="0" u="none" strike="noStrike" cap="none">
              <a:solidFill>
                <a:schemeClr val="dk1"/>
              </a:solidFill>
              <a:latin typeface="Calibri"/>
              <a:ea typeface="Calibri"/>
              <a:cs typeface="Calibri"/>
              <a:sym typeface="Calibri"/>
            </a:endParaRPr>
          </a:p>
        </p:txBody>
      </p:sp>
      <p:sp>
        <p:nvSpPr>
          <p:cNvPr id="228" name="Google Shape;228;p5"/>
          <p:cNvSpPr/>
          <p:nvPr/>
        </p:nvSpPr>
        <p:spPr>
          <a:xfrm>
            <a:off x="457200" y="1865376"/>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Rivalry is high</a:t>
            </a:r>
            <a:r>
              <a:rPr lang="en-US" sz="920">
                <a:solidFill>
                  <a:srgbClr val="241B3D"/>
                </a:solidFill>
              </a:rPr>
              <a:t>, </a:t>
            </a:r>
            <a:r>
              <a:rPr lang="en-US" sz="920" b="0" i="0" u="none" strike="noStrike" cap="none">
                <a:solidFill>
                  <a:srgbClr val="241B3D"/>
                </a:solidFill>
                <a:latin typeface="Arial"/>
                <a:ea typeface="Arial"/>
                <a:cs typeface="Arial"/>
                <a:sym typeface="Arial"/>
              </a:rPr>
              <a:t>dense generics competition across acute segments makes district-level targeting valuable for finding under-penetrated pockets rather than fighting head-on in saturated metros. New entrant threat is moderate: PLI incentives lower manufacturing barriers, but last-mile distribution and doctor-relationship depth remain a durable moat. Buyer power is rising as PMJAY expansion and price caps increase patient/payer bargaining power.</a:t>
            </a:r>
            <a:endParaRPr sz="920" b="0" i="0" u="none" strike="noStrike" cap="none">
              <a:solidFill>
                <a:schemeClr val="dk1"/>
              </a:solidFill>
              <a:latin typeface="Calibri"/>
              <a:ea typeface="Calibri"/>
              <a:cs typeface="Calibri"/>
              <a:sym typeface="Calibri"/>
            </a:endParaRPr>
          </a:p>
        </p:txBody>
      </p:sp>
      <p:sp>
        <p:nvSpPr>
          <p:cNvPr id="229" name="Google Shape;229;p5"/>
          <p:cNvSpPr/>
          <p:nvPr/>
        </p:nvSpPr>
        <p:spPr>
          <a:xfrm>
            <a:off x="457200" y="2788941"/>
            <a:ext cx="5943600" cy="2013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Supplier Power &amp; Substitutes</a:t>
            </a:r>
            <a:endParaRPr sz="1150" b="0" i="0" u="none" strike="noStrike" cap="none">
              <a:solidFill>
                <a:schemeClr val="dk1"/>
              </a:solidFill>
              <a:latin typeface="Calibri"/>
              <a:ea typeface="Calibri"/>
              <a:cs typeface="Calibri"/>
              <a:sym typeface="Calibri"/>
            </a:endParaRPr>
          </a:p>
        </p:txBody>
      </p:sp>
      <p:sp>
        <p:nvSpPr>
          <p:cNvPr id="230" name="Google Shape;230;p5"/>
          <p:cNvSpPr/>
          <p:nvPr/>
        </p:nvSpPr>
        <p:spPr>
          <a:xfrm>
            <a:off x="457200" y="2894035"/>
            <a:ext cx="5943600" cy="969300"/>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Supplier power is moderate-to-high: ~70% of India's API/KSM imports are sourced from China, a structural cost and supply-continuity risk the PLI scheme only partially offsets. Substitute threat is low-to-moderate — biosimilars and alternate care (AYUSH, telemedicine-led self-management) offer partial substitution, concentrated mainly in chronic segments.</a:t>
            </a:r>
            <a:endParaRPr sz="920" b="0" i="0" u="none" strike="noStrike" cap="none">
              <a:solidFill>
                <a:schemeClr val="dk1"/>
              </a:solidFill>
              <a:latin typeface="Calibri"/>
              <a:ea typeface="Calibri"/>
              <a:cs typeface="Calibri"/>
              <a:sym typeface="Calibri"/>
            </a:endParaRPr>
          </a:p>
        </p:txBody>
      </p:sp>
      <p:sp>
        <p:nvSpPr>
          <p:cNvPr id="231" name="Google Shape;231;p5"/>
          <p:cNvSpPr/>
          <p:nvPr/>
        </p:nvSpPr>
        <p:spPr>
          <a:xfrm>
            <a:off x="457200" y="3790125"/>
            <a:ext cx="5943600" cy="2013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SWOT Summary</a:t>
            </a:r>
            <a:endParaRPr sz="1150" b="0" i="0" u="none" strike="noStrike" cap="none">
              <a:solidFill>
                <a:schemeClr val="dk1"/>
              </a:solidFill>
              <a:latin typeface="Calibri"/>
              <a:ea typeface="Calibri"/>
              <a:cs typeface="Calibri"/>
              <a:sym typeface="Calibri"/>
            </a:endParaRPr>
          </a:p>
        </p:txBody>
      </p:sp>
      <p:sp>
        <p:nvSpPr>
          <p:cNvPr id="232" name="Google Shape;232;p5"/>
          <p:cNvSpPr/>
          <p:nvPr/>
        </p:nvSpPr>
        <p:spPr>
          <a:xfrm>
            <a:off x="433675" y="4073618"/>
            <a:ext cx="5943600" cy="969300"/>
          </a:xfrm>
          <a:prstGeom prst="rect">
            <a:avLst/>
          </a:prstGeom>
          <a:noFill/>
          <a:ln>
            <a:noFill/>
          </a:ln>
        </p:spPr>
        <p:txBody>
          <a:bodyPr spcFirstLastPara="1" wrap="square" lIns="25400" tIns="25400" rIns="25400" bIns="25400" anchor="t" anchorCtr="0">
            <a:noAutofit/>
          </a:bodyPr>
          <a:lstStyle/>
          <a:p>
            <a:pPr marL="177800" marR="0" lvl="0" indent="-177800" algn="l" rtl="0">
              <a:lnSpc>
                <a:spcPct val="115000"/>
              </a:lnSpc>
              <a:spcBef>
                <a:spcPts val="0"/>
              </a:spcBef>
              <a:spcAft>
                <a:spcPts val="0"/>
              </a:spcAft>
              <a:buClr>
                <a:srgbClr val="241B3D"/>
              </a:buClr>
              <a:buSzPts val="880"/>
              <a:buFont typeface="Arial"/>
              <a:buChar char="•"/>
            </a:pPr>
            <a:r>
              <a:rPr lang="en-US" sz="880" b="0" i="0" u="none" strike="noStrike" cap="none">
                <a:solidFill>
                  <a:srgbClr val="241B3D"/>
                </a:solidFill>
                <a:latin typeface="Arial"/>
                <a:ea typeface="Arial"/>
                <a:cs typeface="Arial"/>
                <a:sym typeface="Arial"/>
              </a:rPr>
              <a:t>Strengths: Sun Pharma's largest domestic distribution network in India. </a:t>
            </a:r>
            <a:r>
              <a:rPr lang="en-US" sz="880">
                <a:solidFill>
                  <a:srgbClr val="241B3D"/>
                </a:solidFill>
              </a:rPr>
              <a:t>~70% international revenue scale provides financial resilience. </a:t>
            </a:r>
            <a:endParaRPr sz="880">
              <a:solidFill>
                <a:srgbClr val="241B3D"/>
              </a:solidFill>
            </a:endParaRPr>
          </a:p>
          <a:p>
            <a:pPr marL="177800" marR="0" lvl="0" indent="-177800" algn="l" rtl="0">
              <a:lnSpc>
                <a:spcPct val="115000"/>
              </a:lnSpc>
              <a:spcBef>
                <a:spcPts val="0"/>
              </a:spcBef>
              <a:spcAft>
                <a:spcPts val="0"/>
              </a:spcAft>
              <a:buClr>
                <a:srgbClr val="241B3D"/>
              </a:buClr>
              <a:buSzPts val="880"/>
              <a:buFont typeface="Arial"/>
              <a:buChar char="•"/>
            </a:pPr>
            <a:r>
              <a:rPr lang="en-US" sz="880">
                <a:solidFill>
                  <a:srgbClr val="241B3D"/>
                </a:solidFill>
              </a:rPr>
              <a:t>Weakness’: district-level public data granularity gaps affect ~30% of our variables</a:t>
            </a:r>
            <a:endParaRPr sz="880">
              <a:solidFill>
                <a:srgbClr val="241B3D"/>
              </a:solidFill>
            </a:endParaRPr>
          </a:p>
          <a:p>
            <a:pPr marL="177800" marR="0" lvl="0" indent="-177800" algn="l" rtl="0">
              <a:lnSpc>
                <a:spcPct val="115000"/>
              </a:lnSpc>
              <a:spcBef>
                <a:spcPts val="0"/>
              </a:spcBef>
              <a:spcAft>
                <a:spcPts val="0"/>
              </a:spcAft>
              <a:buClr>
                <a:srgbClr val="241B3D"/>
              </a:buClr>
              <a:buSzPts val="880"/>
              <a:buFont typeface="Arial"/>
              <a:buChar char="•"/>
            </a:pPr>
            <a:r>
              <a:rPr lang="en-US" sz="880" b="0" i="0" u="none" strike="noStrike" cap="none">
                <a:solidFill>
                  <a:srgbClr val="241B3D"/>
                </a:solidFill>
                <a:latin typeface="Arial"/>
                <a:ea typeface="Arial"/>
                <a:cs typeface="Arial"/>
                <a:sym typeface="Arial"/>
              </a:rPr>
              <a:t>Opportunit</a:t>
            </a:r>
            <a:r>
              <a:rPr lang="en-US" sz="880">
                <a:solidFill>
                  <a:srgbClr val="241B3D"/>
                </a:solidFill>
              </a:rPr>
              <a:t>ies</a:t>
            </a:r>
            <a:r>
              <a:rPr lang="en-US" sz="880" b="0" i="0" u="none" strike="noStrike" cap="none">
                <a:solidFill>
                  <a:srgbClr val="241B3D"/>
                </a:solidFill>
                <a:latin typeface="Arial"/>
                <a:ea typeface="Arial"/>
                <a:cs typeface="Arial"/>
                <a:sym typeface="Arial"/>
              </a:rPr>
              <a:t>: India captures only 8% of global API value despite 20% of volume</a:t>
            </a:r>
            <a:r>
              <a:rPr lang="en-US" sz="880">
                <a:solidFill>
                  <a:srgbClr val="241B3D"/>
                </a:solidFill>
              </a:rPr>
              <a:t>,</a:t>
            </a:r>
            <a:r>
              <a:rPr lang="en-US" sz="880" b="0" i="0" u="none" strike="noStrike" cap="none">
                <a:solidFill>
                  <a:srgbClr val="241B3D"/>
                </a:solidFill>
                <a:latin typeface="Arial"/>
                <a:ea typeface="Arial"/>
                <a:cs typeface="Arial"/>
                <a:sym typeface="Arial"/>
              </a:rPr>
              <a:t> room to move up-chain. </a:t>
            </a:r>
            <a:r>
              <a:rPr lang="en-US" sz="880">
                <a:solidFill>
                  <a:srgbClr val="241B3D"/>
                </a:solidFill>
              </a:rPr>
              <a:t>700+ districts include untapped underserved pockets our index surfaces explicitly. </a:t>
            </a:r>
            <a:endParaRPr sz="880">
              <a:solidFill>
                <a:srgbClr val="241B3D"/>
              </a:solidFill>
            </a:endParaRPr>
          </a:p>
          <a:p>
            <a:pPr marL="177800" marR="0" lvl="0" indent="-177800" algn="l" rtl="0">
              <a:lnSpc>
                <a:spcPct val="115000"/>
              </a:lnSpc>
              <a:spcBef>
                <a:spcPts val="0"/>
              </a:spcBef>
              <a:spcAft>
                <a:spcPts val="0"/>
              </a:spcAft>
              <a:buClr>
                <a:srgbClr val="241B3D"/>
              </a:buClr>
              <a:buSzPts val="880"/>
              <a:buFont typeface="Arial"/>
              <a:buChar char="•"/>
            </a:pPr>
            <a:r>
              <a:rPr lang="en-US" sz="880" b="0" i="0" u="none" strike="noStrike" cap="none">
                <a:solidFill>
                  <a:srgbClr val="241B3D"/>
                </a:solidFill>
                <a:latin typeface="Arial"/>
                <a:ea typeface="Arial"/>
                <a:cs typeface="Arial"/>
                <a:sym typeface="Arial"/>
              </a:rPr>
              <a:t>Threats: fast-following competitors can replicate any public-data-driven ranking within a quarter. </a:t>
            </a:r>
            <a:r>
              <a:rPr lang="en-US" sz="880">
                <a:solidFill>
                  <a:srgbClr val="241B3D"/>
                </a:solidFill>
              </a:rPr>
              <a:t>NPPA/DPCO price caps compress margins on essential SKUs</a:t>
            </a:r>
            <a:endParaRPr sz="880" b="0" i="0" u="none" strike="noStrike" cap="none">
              <a:solidFill>
                <a:schemeClr val="dk1"/>
              </a:solidFill>
              <a:latin typeface="Calibri"/>
              <a:ea typeface="Calibri"/>
              <a:cs typeface="Calibri"/>
              <a:sym typeface="Calibri"/>
            </a:endParaRPr>
          </a:p>
        </p:txBody>
      </p:sp>
      <p:sp>
        <p:nvSpPr>
          <p:cNvPr id="233" name="Google Shape;233;p5"/>
          <p:cNvSpPr/>
          <p:nvPr/>
        </p:nvSpPr>
        <p:spPr>
          <a:xfrm>
            <a:off x="457200" y="5321738"/>
            <a:ext cx="5778600" cy="2013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Why This Grounds the Model</a:t>
            </a:r>
            <a:endParaRPr sz="1150" b="0" i="0" u="none" strike="noStrike" cap="none">
              <a:solidFill>
                <a:schemeClr val="dk1"/>
              </a:solidFill>
              <a:latin typeface="Calibri"/>
              <a:ea typeface="Calibri"/>
              <a:cs typeface="Calibri"/>
              <a:sym typeface="Calibri"/>
            </a:endParaRPr>
          </a:p>
        </p:txBody>
      </p:sp>
      <p:sp>
        <p:nvSpPr>
          <p:cNvPr id="234" name="Google Shape;234;p5"/>
          <p:cNvSpPr/>
          <p:nvPr/>
        </p:nvSpPr>
        <p:spPr>
          <a:xfrm>
            <a:off x="457200" y="5503513"/>
            <a:ext cx="5778600" cy="692700"/>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The competitive intensity described here is exactly why our Momentum Index and 'rising star' watchlist matter: in a market where rankings can be replicated quickly, being early to act on forward-looking signals  not just current-state scores  is the actual competitive edge this index provides.</a:t>
            </a:r>
            <a:endParaRPr sz="920" b="0" i="0" u="none" strike="noStrike" cap="none">
              <a:solidFill>
                <a:schemeClr val="dk1"/>
              </a:solidFill>
              <a:latin typeface="Calibri"/>
              <a:ea typeface="Calibri"/>
              <a:cs typeface="Calibri"/>
              <a:sym typeface="Calibri"/>
            </a:endParaRPr>
          </a:p>
        </p:txBody>
      </p:sp>
      <p:sp>
        <p:nvSpPr>
          <p:cNvPr id="235" name="Google Shape;235;p5"/>
          <p:cNvSpPr/>
          <p:nvPr/>
        </p:nvSpPr>
        <p:spPr>
          <a:xfrm>
            <a:off x="68122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5"/>
          <p:cNvSpPr/>
          <p:nvPr/>
        </p:nvSpPr>
        <p:spPr>
          <a:xfrm>
            <a:off x="68854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Porter's Five Forces (Intensity 1-5)</a:t>
            </a:r>
            <a:endParaRPr sz="800" b="0" i="0" u="none" strike="noStrike" cap="none">
              <a:solidFill>
                <a:schemeClr val="dk1"/>
              </a:solidFill>
              <a:latin typeface="Calibri"/>
              <a:ea typeface="Calibri"/>
              <a:cs typeface="Calibri"/>
              <a:sym typeface="Calibri"/>
            </a:endParaRPr>
          </a:p>
        </p:txBody>
      </p:sp>
      <p:pic>
        <p:nvPicPr>
          <p:cNvPr id="237" name="Google Shape;237;p5" descr="charts/10_porter_radar.png"/>
          <p:cNvPicPr preferRelativeResize="0"/>
          <p:nvPr/>
        </p:nvPicPr>
        <p:blipFill rotWithShape="1">
          <a:blip r:embed="rId5">
            <a:alphaModFix/>
          </a:blip>
          <a:srcRect/>
          <a:stretch/>
        </p:blipFill>
        <p:spPr>
          <a:xfrm>
            <a:off x="6903720" y="1755648"/>
            <a:ext cx="2263140" cy="1810512"/>
          </a:xfrm>
          <a:prstGeom prst="rect">
            <a:avLst/>
          </a:prstGeom>
          <a:noFill/>
          <a:ln>
            <a:noFill/>
          </a:ln>
        </p:spPr>
      </p:pic>
      <p:sp>
        <p:nvSpPr>
          <p:cNvPr id="238" name="Google Shape;238;p5"/>
          <p:cNvSpPr/>
          <p:nvPr/>
        </p:nvSpPr>
        <p:spPr>
          <a:xfrm>
            <a:off x="68854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Radar chart: subjective 1-5 intensity rating per force, based on the qualitative analysis at left. Rivalry (4.5) and Supplier Power (4.0) are the two most intense forces facing Sun Pharma in this market.</a:t>
            </a:r>
            <a:endParaRPr sz="630" b="0" i="0" u="none" strike="noStrike" cap="none">
              <a:solidFill>
                <a:schemeClr val="dk1"/>
              </a:solidFill>
              <a:latin typeface="Calibri"/>
              <a:ea typeface="Calibri"/>
              <a:cs typeface="Calibri"/>
              <a:sym typeface="Calibri"/>
            </a:endParaRPr>
          </a:p>
        </p:txBody>
      </p:sp>
      <p:sp>
        <p:nvSpPr>
          <p:cNvPr id="239" name="Google Shape;239;p5"/>
          <p:cNvSpPr/>
          <p:nvPr/>
        </p:nvSpPr>
        <p:spPr>
          <a:xfrm>
            <a:off x="94411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5"/>
          <p:cNvSpPr/>
          <p:nvPr/>
        </p:nvSpPr>
        <p:spPr>
          <a:xfrm>
            <a:off x="95143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SWOT Summary</a:t>
            </a:r>
            <a:endParaRPr sz="800" b="0" i="0" u="none" strike="noStrike" cap="none">
              <a:solidFill>
                <a:schemeClr val="dk1"/>
              </a:solidFill>
              <a:latin typeface="Calibri"/>
              <a:ea typeface="Calibri"/>
              <a:cs typeface="Calibri"/>
              <a:sym typeface="Calibri"/>
            </a:endParaRPr>
          </a:p>
        </p:txBody>
      </p:sp>
      <p:sp>
        <p:nvSpPr>
          <p:cNvPr id="241" name="Google Shape;241;p5"/>
          <p:cNvSpPr/>
          <p:nvPr/>
        </p:nvSpPr>
        <p:spPr>
          <a:xfrm>
            <a:off x="9532620" y="1792224"/>
            <a:ext cx="1113282" cy="1069848"/>
          </a:xfrm>
          <a:prstGeom prst="rect">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5"/>
          <p:cNvSpPr/>
          <p:nvPr/>
        </p:nvSpPr>
        <p:spPr>
          <a:xfrm>
            <a:off x="9578340" y="1810512"/>
            <a:ext cx="1021842" cy="103327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STRENGTHS</a:t>
            </a:r>
            <a:endParaRPr sz="6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Distribution scale; ~70% intl. revenue</a:t>
            </a:r>
            <a:endParaRPr sz="630" b="0" i="0" u="none" strike="noStrike" cap="none">
              <a:solidFill>
                <a:schemeClr val="dk1"/>
              </a:solidFill>
              <a:latin typeface="Calibri"/>
              <a:ea typeface="Calibri"/>
              <a:cs typeface="Calibri"/>
              <a:sym typeface="Calibri"/>
            </a:endParaRPr>
          </a:p>
        </p:txBody>
      </p:sp>
      <p:sp>
        <p:nvSpPr>
          <p:cNvPr id="243" name="Google Shape;243;p5"/>
          <p:cNvSpPr/>
          <p:nvPr/>
        </p:nvSpPr>
        <p:spPr>
          <a:xfrm>
            <a:off x="10682478" y="1792224"/>
            <a:ext cx="1113282" cy="1069848"/>
          </a:xfrm>
          <a:prstGeom prst="rect">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5"/>
          <p:cNvSpPr/>
          <p:nvPr/>
        </p:nvSpPr>
        <p:spPr>
          <a:xfrm>
            <a:off x="10728198" y="1810512"/>
            <a:ext cx="1021842" cy="103327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WEAKNESSES</a:t>
            </a:r>
            <a:endParaRPr sz="6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~30% variables have data gaps</a:t>
            </a:r>
            <a:endParaRPr sz="630" b="0" i="0" u="none" strike="noStrike" cap="none">
              <a:solidFill>
                <a:schemeClr val="dk1"/>
              </a:solidFill>
              <a:latin typeface="Calibri"/>
              <a:ea typeface="Calibri"/>
              <a:cs typeface="Calibri"/>
              <a:sym typeface="Calibri"/>
            </a:endParaRPr>
          </a:p>
        </p:txBody>
      </p:sp>
      <p:sp>
        <p:nvSpPr>
          <p:cNvPr id="245" name="Google Shape;245;p5"/>
          <p:cNvSpPr/>
          <p:nvPr/>
        </p:nvSpPr>
        <p:spPr>
          <a:xfrm>
            <a:off x="9532620" y="2898648"/>
            <a:ext cx="1113282" cy="1069848"/>
          </a:xfrm>
          <a:prstGeom prst="rect">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5"/>
          <p:cNvSpPr/>
          <p:nvPr/>
        </p:nvSpPr>
        <p:spPr>
          <a:xfrm>
            <a:off x="9578340" y="2916936"/>
            <a:ext cx="1021842" cy="103327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OPPORTUNITIES</a:t>
            </a:r>
            <a:endParaRPr sz="6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20% API volume, only 8% value captured</a:t>
            </a:r>
            <a:endParaRPr sz="630" b="0" i="0" u="none" strike="noStrike" cap="none">
              <a:solidFill>
                <a:schemeClr val="dk1"/>
              </a:solidFill>
              <a:latin typeface="Calibri"/>
              <a:ea typeface="Calibri"/>
              <a:cs typeface="Calibri"/>
              <a:sym typeface="Calibri"/>
            </a:endParaRPr>
          </a:p>
        </p:txBody>
      </p:sp>
      <p:sp>
        <p:nvSpPr>
          <p:cNvPr id="247" name="Google Shape;247;p5"/>
          <p:cNvSpPr/>
          <p:nvPr/>
        </p:nvSpPr>
        <p:spPr>
          <a:xfrm>
            <a:off x="10682478" y="2898648"/>
            <a:ext cx="1113282" cy="1069848"/>
          </a:xfrm>
          <a:prstGeom prst="rect">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5"/>
          <p:cNvSpPr/>
          <p:nvPr/>
        </p:nvSpPr>
        <p:spPr>
          <a:xfrm>
            <a:off x="10728198" y="2916936"/>
            <a:ext cx="1021842" cy="103327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THREATS</a:t>
            </a:r>
            <a:endParaRPr sz="6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Price caps; fast-following competitors</a:t>
            </a:r>
            <a:endParaRPr sz="630" b="0" i="0" u="none" strike="noStrike" cap="none">
              <a:solidFill>
                <a:schemeClr val="dk1"/>
              </a:solidFill>
              <a:latin typeface="Calibri"/>
              <a:ea typeface="Calibri"/>
              <a:cs typeface="Calibri"/>
              <a:sym typeface="Calibri"/>
            </a:endParaRPr>
          </a:p>
        </p:txBody>
      </p:sp>
      <p:sp>
        <p:nvSpPr>
          <p:cNvPr id="249" name="Google Shape;249;p5"/>
          <p:cNvSpPr/>
          <p:nvPr/>
        </p:nvSpPr>
        <p:spPr>
          <a:xfrm>
            <a:off x="6812280" y="4187952"/>
            <a:ext cx="2446020" cy="2468880"/>
          </a:xfrm>
          <a:prstGeom prst="rect">
            <a:avLst/>
          </a:prstGeom>
          <a:solidFill>
            <a:srgbClr val="5F32F2"/>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5"/>
          <p:cNvSpPr/>
          <p:nvPr/>
        </p:nvSpPr>
        <p:spPr>
          <a:xfrm>
            <a:off x="68854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Competitive Response Window</a:t>
            </a:r>
            <a:endParaRPr sz="800" b="0" i="0" u="none" strike="noStrike" cap="none">
              <a:solidFill>
                <a:schemeClr val="dk1"/>
              </a:solidFill>
              <a:latin typeface="Calibri"/>
              <a:ea typeface="Calibri"/>
              <a:cs typeface="Calibri"/>
              <a:sym typeface="Calibri"/>
            </a:endParaRPr>
          </a:p>
        </p:txBody>
      </p:sp>
      <p:sp>
        <p:nvSpPr>
          <p:cNvPr id="251" name="Google Shape;251;p5"/>
          <p:cNvSpPr/>
          <p:nvPr/>
        </p:nvSpPr>
        <p:spPr>
          <a:xfrm>
            <a:off x="69220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5"/>
          <p:cNvSpPr/>
          <p:nvPr/>
        </p:nvSpPr>
        <p:spPr>
          <a:xfrm>
            <a:off x="69585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MAI ranking</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published internally</a:t>
            </a:r>
            <a:endParaRPr sz="760" b="0" i="0" u="none" strike="noStrike" cap="none">
              <a:solidFill>
                <a:schemeClr val="dk1"/>
              </a:solidFill>
              <a:latin typeface="Calibri"/>
              <a:ea typeface="Calibri"/>
              <a:cs typeface="Calibri"/>
              <a:sym typeface="Calibri"/>
            </a:endParaRPr>
          </a:p>
        </p:txBody>
      </p:sp>
      <p:sp>
        <p:nvSpPr>
          <p:cNvPr id="253" name="Google Shape;253;p5"/>
          <p:cNvSpPr/>
          <p:nvPr/>
        </p:nvSpPr>
        <p:spPr>
          <a:xfrm>
            <a:off x="79621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5"/>
          <p:cNvSpPr/>
          <p:nvPr/>
        </p:nvSpPr>
        <p:spPr>
          <a:xfrm>
            <a:off x="6922008" y="5042916"/>
            <a:ext cx="2226564" cy="466344"/>
          </a:xfrm>
          <a:prstGeom prst="roundRect">
            <a:avLst>
              <a:gd name="adj" fmla="val 9804"/>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5"/>
          <p:cNvSpPr/>
          <p:nvPr/>
        </p:nvSpPr>
        <p:spPr>
          <a:xfrm>
            <a:off x="69585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Rising-star districts</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identified early</a:t>
            </a:r>
            <a:endParaRPr sz="760" b="0" i="0" u="none" strike="noStrike" cap="none">
              <a:solidFill>
                <a:schemeClr val="dk1"/>
              </a:solidFill>
              <a:latin typeface="Calibri"/>
              <a:ea typeface="Calibri"/>
              <a:cs typeface="Calibri"/>
              <a:sym typeface="Calibri"/>
            </a:endParaRPr>
          </a:p>
        </p:txBody>
      </p:sp>
      <p:sp>
        <p:nvSpPr>
          <p:cNvPr id="256" name="Google Shape;256;p5"/>
          <p:cNvSpPr/>
          <p:nvPr/>
        </p:nvSpPr>
        <p:spPr>
          <a:xfrm>
            <a:off x="79621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5"/>
          <p:cNvSpPr/>
          <p:nvPr/>
        </p:nvSpPr>
        <p:spPr>
          <a:xfrm>
            <a:off x="69220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5"/>
          <p:cNvSpPr/>
          <p:nvPr/>
        </p:nvSpPr>
        <p:spPr>
          <a:xfrm>
            <a:off x="69585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First-mover</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sales-force deployment</a:t>
            </a:r>
            <a:endParaRPr sz="760" b="0" i="0" u="none" strike="noStrike" cap="none">
              <a:solidFill>
                <a:schemeClr val="dk1"/>
              </a:solidFill>
              <a:latin typeface="Calibri"/>
              <a:ea typeface="Calibri"/>
              <a:cs typeface="Calibri"/>
              <a:sym typeface="Calibri"/>
            </a:endParaRPr>
          </a:p>
        </p:txBody>
      </p:sp>
      <p:sp>
        <p:nvSpPr>
          <p:cNvPr id="259" name="Google Shape;259;p5"/>
          <p:cNvSpPr/>
          <p:nvPr/>
        </p:nvSpPr>
        <p:spPr>
          <a:xfrm>
            <a:off x="79621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5"/>
          <p:cNvSpPr/>
          <p:nvPr/>
        </p:nvSpPr>
        <p:spPr>
          <a:xfrm>
            <a:off x="6922008" y="6094476"/>
            <a:ext cx="2226564" cy="466344"/>
          </a:xfrm>
          <a:prstGeom prst="roundRect">
            <a:avLst>
              <a:gd name="adj" fmla="val 9804"/>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5"/>
          <p:cNvSpPr/>
          <p:nvPr/>
        </p:nvSpPr>
        <p:spPr>
          <a:xfrm>
            <a:off x="69585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Competitor</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reaction lag exploited</a:t>
            </a:r>
            <a:endParaRPr sz="760" b="0" i="0" u="none" strike="noStrike" cap="none">
              <a:solidFill>
                <a:schemeClr val="dk1"/>
              </a:solidFill>
              <a:latin typeface="Calibri"/>
              <a:ea typeface="Calibri"/>
              <a:cs typeface="Calibri"/>
              <a:sym typeface="Calibri"/>
            </a:endParaRPr>
          </a:p>
        </p:txBody>
      </p:sp>
      <p:sp>
        <p:nvSpPr>
          <p:cNvPr id="262" name="Google Shape;262;p5"/>
          <p:cNvSpPr/>
          <p:nvPr/>
        </p:nvSpPr>
        <p:spPr>
          <a:xfrm>
            <a:off x="9441180" y="4187952"/>
            <a:ext cx="2446020" cy="2468880"/>
          </a:xfrm>
          <a:prstGeom prst="rect">
            <a:avLst/>
          </a:prstGeom>
          <a:solidFill>
            <a:srgbClr val="B4143C"/>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5"/>
          <p:cNvSpPr/>
          <p:nvPr/>
        </p:nvSpPr>
        <p:spPr>
          <a:xfrm>
            <a:off x="95143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Supply Chain Risk Path</a:t>
            </a:r>
            <a:endParaRPr sz="800" b="0" i="0" u="none" strike="noStrike" cap="none">
              <a:solidFill>
                <a:schemeClr val="dk1"/>
              </a:solidFill>
              <a:latin typeface="Calibri"/>
              <a:ea typeface="Calibri"/>
              <a:cs typeface="Calibri"/>
              <a:sym typeface="Calibri"/>
            </a:endParaRPr>
          </a:p>
        </p:txBody>
      </p:sp>
      <p:sp>
        <p:nvSpPr>
          <p:cNvPr id="264" name="Google Shape;264;p5"/>
          <p:cNvSpPr/>
          <p:nvPr/>
        </p:nvSpPr>
        <p:spPr>
          <a:xfrm>
            <a:off x="95509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5"/>
          <p:cNvSpPr/>
          <p:nvPr/>
        </p:nvSpPr>
        <p:spPr>
          <a:xfrm>
            <a:off x="95874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~70% API/KSM</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imports from China</a:t>
            </a:r>
            <a:endParaRPr sz="760" b="0" i="0" u="none" strike="noStrike" cap="none">
              <a:solidFill>
                <a:schemeClr val="dk1"/>
              </a:solidFill>
              <a:latin typeface="Calibri"/>
              <a:ea typeface="Calibri"/>
              <a:cs typeface="Calibri"/>
              <a:sym typeface="Calibri"/>
            </a:endParaRPr>
          </a:p>
        </p:txBody>
      </p:sp>
      <p:sp>
        <p:nvSpPr>
          <p:cNvPr id="266" name="Google Shape;266;p5"/>
          <p:cNvSpPr/>
          <p:nvPr/>
        </p:nvSpPr>
        <p:spPr>
          <a:xfrm>
            <a:off x="105910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5"/>
          <p:cNvSpPr/>
          <p:nvPr/>
        </p:nvSpPr>
        <p:spPr>
          <a:xfrm>
            <a:off x="9550908" y="504291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5"/>
          <p:cNvSpPr/>
          <p:nvPr/>
        </p:nvSpPr>
        <p:spPr>
          <a:xfrm>
            <a:off x="95874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Cost &amp; continuity</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risk exposure</a:t>
            </a:r>
            <a:endParaRPr sz="760" b="0" i="0" u="none" strike="noStrike" cap="none">
              <a:solidFill>
                <a:schemeClr val="dk1"/>
              </a:solidFill>
              <a:latin typeface="Calibri"/>
              <a:ea typeface="Calibri"/>
              <a:cs typeface="Calibri"/>
              <a:sym typeface="Calibri"/>
            </a:endParaRPr>
          </a:p>
        </p:txBody>
      </p:sp>
      <p:sp>
        <p:nvSpPr>
          <p:cNvPr id="269" name="Google Shape;269;p5"/>
          <p:cNvSpPr/>
          <p:nvPr/>
        </p:nvSpPr>
        <p:spPr>
          <a:xfrm>
            <a:off x="105910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5"/>
          <p:cNvSpPr/>
          <p:nvPr/>
        </p:nvSpPr>
        <p:spPr>
          <a:xfrm>
            <a:off x="95509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5"/>
          <p:cNvSpPr/>
          <p:nvPr/>
        </p:nvSpPr>
        <p:spPr>
          <a:xfrm>
            <a:off x="95874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PLI scheme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partial mitigation</a:t>
            </a:r>
            <a:endParaRPr sz="760" b="0" i="0" u="none" strike="noStrike" cap="none">
              <a:solidFill>
                <a:schemeClr val="dk1"/>
              </a:solidFill>
              <a:latin typeface="Calibri"/>
              <a:ea typeface="Calibri"/>
              <a:cs typeface="Calibri"/>
              <a:sym typeface="Calibri"/>
            </a:endParaRPr>
          </a:p>
        </p:txBody>
      </p:sp>
      <p:sp>
        <p:nvSpPr>
          <p:cNvPr id="272" name="Google Shape;272;p5"/>
          <p:cNvSpPr/>
          <p:nvPr/>
        </p:nvSpPr>
        <p:spPr>
          <a:xfrm>
            <a:off x="105910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5"/>
          <p:cNvSpPr/>
          <p:nvPr/>
        </p:nvSpPr>
        <p:spPr>
          <a:xfrm>
            <a:off x="9550908" y="609447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5"/>
          <p:cNvSpPr/>
          <p:nvPr/>
        </p:nvSpPr>
        <p:spPr>
          <a:xfrm>
            <a:off x="95874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Margin protection</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strategy needed</a:t>
            </a:r>
            <a:endParaRPr sz="760" b="0" i="0" u="none" strike="noStrike" cap="none">
              <a:solidFill>
                <a:schemeClr val="dk1"/>
              </a:solidFill>
              <a:latin typeface="Calibri"/>
              <a:ea typeface="Calibri"/>
              <a:cs typeface="Calibri"/>
              <a:sym typeface="Calibri"/>
            </a:endParaRPr>
          </a:p>
        </p:txBody>
      </p:sp>
      <p:sp>
        <p:nvSpPr>
          <p:cNvPr id="275" name="Google Shape;275;p5"/>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5"/>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5"/>
          <p:cNvSpPr/>
          <p:nvPr/>
        </p:nvSpPr>
        <p:spPr>
          <a:xfrm>
            <a:off x="4648200" y="6565392"/>
            <a:ext cx="2895600" cy="292608"/>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5"/>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5"/>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5"/>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5"/>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282" name="Google Shape;282;p5"/>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5</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7"/>
        <p:cNvGrpSpPr/>
        <p:nvPr/>
      </p:nvGrpSpPr>
      <p:grpSpPr>
        <a:xfrm>
          <a:off x="0" y="0"/>
          <a:ext cx="0" cy="0"/>
          <a:chOff x="0" y="0"/>
          <a:chExt cx="0" cy="0"/>
        </a:xfrm>
      </p:grpSpPr>
      <p:sp>
        <p:nvSpPr>
          <p:cNvPr id="288" name="Google Shape;288;p6"/>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89" name="Google Shape;289;p6"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290" name="Google Shape;290;p6"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291" name="Google Shape;291;p6"/>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292" name="Google Shape;292;p6"/>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293" name="Google Shape;293;p6"/>
          <p:cNvSpPr/>
          <p:nvPr/>
        </p:nvSpPr>
        <p:spPr>
          <a:xfrm>
            <a:off x="320040" y="1097280"/>
            <a:ext cx="11521500" cy="3840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Strategic Triangle — The 3C Model</a:t>
            </a:r>
            <a:endParaRPr sz="2200" b="0" i="0" u="none" strike="noStrike" cap="none">
              <a:solidFill>
                <a:schemeClr val="dk1"/>
              </a:solidFill>
              <a:latin typeface="Calibri"/>
              <a:ea typeface="Calibri"/>
              <a:cs typeface="Calibri"/>
              <a:sym typeface="Calibri"/>
            </a:endParaRPr>
          </a:p>
        </p:txBody>
      </p:sp>
      <p:sp>
        <p:nvSpPr>
          <p:cNvPr id="294" name="Google Shape;294;p6"/>
          <p:cNvSpPr/>
          <p:nvPr/>
        </p:nvSpPr>
        <p:spPr>
          <a:xfrm>
            <a:off x="274320" y="1536192"/>
            <a:ext cx="6309300" cy="5120700"/>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6"/>
          <p:cNvSpPr/>
          <p:nvPr/>
        </p:nvSpPr>
        <p:spPr>
          <a:xfrm>
            <a:off x="457200" y="1645920"/>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Company</a:t>
            </a:r>
            <a:endParaRPr sz="1150" b="0" i="0" u="none" strike="noStrike" cap="none">
              <a:solidFill>
                <a:schemeClr val="dk1"/>
              </a:solidFill>
              <a:latin typeface="Calibri"/>
              <a:ea typeface="Calibri"/>
              <a:cs typeface="Calibri"/>
              <a:sym typeface="Calibri"/>
            </a:endParaRPr>
          </a:p>
        </p:txBody>
      </p:sp>
      <p:sp>
        <p:nvSpPr>
          <p:cNvPr id="296" name="Google Shape;296;p6"/>
          <p:cNvSpPr/>
          <p:nvPr/>
        </p:nvSpPr>
        <p:spPr>
          <a:xfrm>
            <a:off x="457200" y="1865376"/>
            <a:ext cx="5943600" cy="969264"/>
          </a:xfrm>
          <a:prstGeom prst="rect">
            <a:avLst/>
          </a:prstGeom>
          <a:noFill/>
          <a:ln>
            <a:noFill/>
          </a:ln>
        </p:spPr>
        <p:txBody>
          <a:bodyPr spcFirstLastPara="1" wrap="square" lIns="25400" tIns="25400" rIns="25400" bIns="25400" anchor="t" anchorCtr="0">
            <a:noAutofit/>
          </a:bodyPr>
          <a:lstStyle/>
          <a:p>
            <a:pPr marL="177800" marR="0" lvl="0" indent="-179070" algn="l" rtl="0">
              <a:lnSpc>
                <a:spcPct val="120000"/>
              </a:lnSpc>
              <a:spcBef>
                <a:spcPts val="0"/>
              </a:spcBef>
              <a:spcAft>
                <a:spcPts val="0"/>
              </a:spcAft>
              <a:buClr>
                <a:srgbClr val="241B3D"/>
              </a:buClr>
              <a:buSzPts val="900"/>
              <a:buFont typeface="Arial"/>
              <a:buChar char="•"/>
            </a:pPr>
            <a:r>
              <a:rPr lang="en-US" sz="900" b="0" i="0" u="none" strike="noStrike" cap="none">
                <a:solidFill>
                  <a:srgbClr val="241B3D"/>
                </a:solidFill>
                <a:latin typeface="Arial"/>
                <a:ea typeface="Arial"/>
                <a:cs typeface="Arial"/>
                <a:sym typeface="Arial"/>
              </a:rPr>
              <a:t>India's largest pharma player by revenue, ~$7B FY25 turnover</a:t>
            </a:r>
            <a:endParaRPr sz="900" b="0" i="0" u="none" strike="noStrike" cap="none">
              <a:solidFill>
                <a:schemeClr val="dk1"/>
              </a:solidFill>
              <a:latin typeface="Calibri"/>
              <a:ea typeface="Calibri"/>
              <a:cs typeface="Calibri"/>
              <a:sym typeface="Calibri"/>
            </a:endParaRPr>
          </a:p>
          <a:p>
            <a:pPr marL="177800" marR="0" lvl="0" indent="-179070" algn="l" rtl="0">
              <a:lnSpc>
                <a:spcPct val="120000"/>
              </a:lnSpc>
              <a:spcBef>
                <a:spcPts val="500"/>
              </a:spcBef>
              <a:spcAft>
                <a:spcPts val="0"/>
              </a:spcAft>
              <a:buClr>
                <a:srgbClr val="241B3D"/>
              </a:buClr>
              <a:buSzPts val="900"/>
              <a:buFont typeface="Arial"/>
              <a:buChar char="•"/>
            </a:pPr>
            <a:r>
              <a:rPr lang="en-US" sz="900" b="0" i="0" u="none" strike="noStrike" cap="none">
                <a:solidFill>
                  <a:srgbClr val="241B3D"/>
                </a:solidFill>
                <a:latin typeface="Arial"/>
                <a:ea typeface="Arial"/>
                <a:cs typeface="Arial"/>
                <a:sym typeface="Arial"/>
              </a:rPr>
              <a:t>~70% revenue from international operations; 43 India manufacturing sites</a:t>
            </a:r>
            <a:endParaRPr sz="900" b="0" i="0" u="none" strike="noStrike" cap="none">
              <a:solidFill>
                <a:schemeClr val="dk1"/>
              </a:solidFill>
              <a:latin typeface="Calibri"/>
              <a:ea typeface="Calibri"/>
              <a:cs typeface="Calibri"/>
              <a:sym typeface="Calibri"/>
            </a:endParaRPr>
          </a:p>
          <a:p>
            <a:pPr marL="177800" marR="0" lvl="0" indent="-179070" algn="l" rtl="0">
              <a:lnSpc>
                <a:spcPct val="120000"/>
              </a:lnSpc>
              <a:spcBef>
                <a:spcPts val="500"/>
              </a:spcBef>
              <a:spcAft>
                <a:spcPts val="0"/>
              </a:spcAft>
              <a:buClr>
                <a:srgbClr val="241B3D"/>
              </a:buClr>
              <a:buSzPts val="900"/>
              <a:buFont typeface="Arial"/>
              <a:buChar char="•"/>
            </a:pPr>
            <a:r>
              <a:rPr lang="en-US" sz="900" b="0" i="0" u="none" strike="noStrike" cap="none">
                <a:solidFill>
                  <a:srgbClr val="241B3D"/>
                </a:solidFill>
                <a:latin typeface="Arial"/>
                <a:ea typeface="Arial"/>
                <a:cs typeface="Arial"/>
                <a:sym typeface="Arial"/>
              </a:rPr>
              <a:t>Chronic-heavy India portfolio: Neuro-Psychiatry (16%), Gastroenterology (12%), Anti-Infectives (11%)</a:t>
            </a:r>
            <a:endParaRPr sz="900" b="0" i="0" u="none" strike="noStrike" cap="none">
              <a:solidFill>
                <a:schemeClr val="dk1"/>
              </a:solidFill>
              <a:latin typeface="Calibri"/>
              <a:ea typeface="Calibri"/>
              <a:cs typeface="Calibri"/>
              <a:sym typeface="Calibri"/>
            </a:endParaRPr>
          </a:p>
          <a:p>
            <a:pPr marL="177800" marR="0" lvl="0" indent="-179070" algn="l" rtl="0">
              <a:lnSpc>
                <a:spcPct val="120000"/>
              </a:lnSpc>
              <a:spcBef>
                <a:spcPts val="500"/>
              </a:spcBef>
              <a:spcAft>
                <a:spcPts val="0"/>
              </a:spcAft>
              <a:buClr>
                <a:srgbClr val="241B3D"/>
              </a:buClr>
              <a:buSzPts val="900"/>
              <a:buFont typeface="Arial"/>
              <a:buChar char="•"/>
            </a:pPr>
            <a:r>
              <a:rPr lang="en-US" sz="900" b="0" i="0" u="none" strike="noStrike" cap="none">
                <a:solidFill>
                  <a:srgbClr val="241B3D"/>
                </a:solidFill>
                <a:latin typeface="Arial"/>
                <a:ea typeface="Arial"/>
                <a:cs typeface="Arial"/>
                <a:sym typeface="Arial"/>
              </a:rPr>
              <a:t>This MAI model directs where Sun Pharma's capital and sales-force effort actually land</a:t>
            </a:r>
            <a:endParaRPr sz="900" b="0" i="0" u="none" strike="noStrike" cap="none">
              <a:solidFill>
                <a:schemeClr val="dk1"/>
              </a:solidFill>
              <a:latin typeface="Calibri"/>
              <a:ea typeface="Calibri"/>
              <a:cs typeface="Calibri"/>
              <a:sym typeface="Calibri"/>
            </a:endParaRPr>
          </a:p>
        </p:txBody>
      </p:sp>
      <p:sp>
        <p:nvSpPr>
          <p:cNvPr id="297" name="Google Shape;297;p6"/>
          <p:cNvSpPr/>
          <p:nvPr/>
        </p:nvSpPr>
        <p:spPr>
          <a:xfrm>
            <a:off x="457200" y="2871216"/>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Customer</a:t>
            </a:r>
            <a:endParaRPr sz="1150" b="0" i="0" u="none" strike="noStrike" cap="none">
              <a:solidFill>
                <a:schemeClr val="dk1"/>
              </a:solidFill>
              <a:latin typeface="Calibri"/>
              <a:ea typeface="Calibri"/>
              <a:cs typeface="Calibri"/>
              <a:sym typeface="Calibri"/>
            </a:endParaRPr>
          </a:p>
        </p:txBody>
      </p:sp>
      <p:sp>
        <p:nvSpPr>
          <p:cNvPr id="298" name="Google Shape;298;p6"/>
          <p:cNvSpPr/>
          <p:nvPr/>
        </p:nvSpPr>
        <p:spPr>
          <a:xfrm>
            <a:off x="457200" y="3090672"/>
            <a:ext cx="5943600" cy="969264"/>
          </a:xfrm>
          <a:prstGeom prst="rect">
            <a:avLst/>
          </a:prstGeom>
          <a:noFill/>
          <a:ln>
            <a:noFill/>
          </a:ln>
        </p:spPr>
        <p:txBody>
          <a:bodyPr spcFirstLastPara="1" wrap="square" lIns="25400" tIns="25400" rIns="25400" bIns="25400" anchor="t" anchorCtr="0">
            <a:noAutofit/>
          </a:bodyPr>
          <a:lstStyle/>
          <a:p>
            <a:pPr marL="177800" marR="0" lvl="0" indent="-177800" algn="l" rtl="0">
              <a:lnSpc>
                <a:spcPct val="120000"/>
              </a:lnSpc>
              <a:spcBef>
                <a:spcPts val="0"/>
              </a:spcBef>
              <a:spcAft>
                <a:spcPts val="0"/>
              </a:spcAft>
              <a:buClr>
                <a:srgbClr val="241B3D"/>
              </a:buClr>
              <a:buSzPts val="880"/>
              <a:buFont typeface="Arial"/>
              <a:buChar char="•"/>
            </a:pPr>
            <a:r>
              <a:rPr lang="en-US" sz="880" b="0" i="0" u="none" strike="noStrike" cap="none">
                <a:solidFill>
                  <a:srgbClr val="241B3D"/>
                </a:solidFill>
                <a:latin typeface="Arial"/>
                <a:ea typeface="Arial"/>
                <a:cs typeface="Arial"/>
                <a:sym typeface="Arial"/>
              </a:rPr>
              <a:t>Patients: 101M diabetics anchor Chronic MAI's demand-side sizing</a:t>
            </a:r>
            <a:endParaRPr sz="880" b="0" i="0" u="none" strike="noStrike" cap="none">
              <a:solidFill>
                <a:schemeClr val="dk1"/>
              </a:solidFill>
              <a:latin typeface="Calibri"/>
              <a:ea typeface="Calibri"/>
              <a:cs typeface="Calibri"/>
              <a:sym typeface="Calibri"/>
            </a:endParaRPr>
          </a:p>
          <a:p>
            <a:pPr marL="177800" marR="0" lvl="0" indent="-177800" algn="l" rtl="0">
              <a:lnSpc>
                <a:spcPct val="120000"/>
              </a:lnSpc>
              <a:spcBef>
                <a:spcPts val="500"/>
              </a:spcBef>
              <a:spcAft>
                <a:spcPts val="0"/>
              </a:spcAft>
              <a:buClr>
                <a:srgbClr val="241B3D"/>
              </a:buClr>
              <a:buSzPts val="880"/>
              <a:buFont typeface="Arial"/>
              <a:buChar char="•"/>
            </a:pPr>
            <a:r>
              <a:rPr lang="en-US" sz="880" b="0" i="0" u="none" strike="noStrike" cap="none">
                <a:solidFill>
                  <a:srgbClr val="241B3D"/>
                </a:solidFill>
                <a:latin typeface="Arial"/>
                <a:ea typeface="Arial"/>
                <a:cs typeface="Arial"/>
                <a:sym typeface="Arial"/>
              </a:rPr>
              <a:t>Patients: disease burden and patient pool define overall demand sizing (Pillars 2-3)</a:t>
            </a:r>
            <a:endParaRPr sz="880" b="0" i="0" u="none" strike="noStrike" cap="none">
              <a:solidFill>
                <a:schemeClr val="dk1"/>
              </a:solidFill>
              <a:latin typeface="Calibri"/>
              <a:ea typeface="Calibri"/>
              <a:cs typeface="Calibri"/>
              <a:sym typeface="Calibri"/>
            </a:endParaRPr>
          </a:p>
          <a:p>
            <a:pPr marL="177800" marR="0" lvl="0" indent="-177800" algn="l" rtl="0">
              <a:lnSpc>
                <a:spcPct val="120000"/>
              </a:lnSpc>
              <a:spcBef>
                <a:spcPts val="500"/>
              </a:spcBef>
              <a:spcAft>
                <a:spcPts val="0"/>
              </a:spcAft>
              <a:buClr>
                <a:srgbClr val="241B3D"/>
              </a:buClr>
              <a:buSzPts val="880"/>
              <a:buFont typeface="Arial"/>
              <a:buChar char="•"/>
            </a:pPr>
            <a:r>
              <a:rPr lang="en-US" sz="880" b="0" i="0" u="none" strike="noStrike" cap="none">
                <a:solidFill>
                  <a:srgbClr val="241B3D"/>
                </a:solidFill>
                <a:latin typeface="Arial"/>
                <a:ea typeface="Arial"/>
                <a:cs typeface="Arial"/>
                <a:sym typeface="Arial"/>
              </a:rPr>
              <a:t>Doctors: act as prescription gatekeepers, driving Provider Access pillar weighting</a:t>
            </a:r>
            <a:endParaRPr sz="880" b="0" i="0" u="none" strike="noStrike" cap="none">
              <a:solidFill>
                <a:schemeClr val="dk1"/>
              </a:solidFill>
              <a:latin typeface="Calibri"/>
              <a:ea typeface="Calibri"/>
              <a:cs typeface="Calibri"/>
              <a:sym typeface="Calibri"/>
            </a:endParaRPr>
          </a:p>
          <a:p>
            <a:pPr marL="177800" marR="0" lvl="0" indent="-177800" algn="l" rtl="0">
              <a:lnSpc>
                <a:spcPct val="120000"/>
              </a:lnSpc>
              <a:spcBef>
                <a:spcPts val="500"/>
              </a:spcBef>
              <a:spcAft>
                <a:spcPts val="0"/>
              </a:spcAft>
              <a:buClr>
                <a:srgbClr val="241B3D"/>
              </a:buClr>
              <a:buSzPts val="880"/>
              <a:buFont typeface="Arial"/>
              <a:buChar char="•"/>
            </a:pPr>
            <a:r>
              <a:rPr lang="en-US" sz="880" b="0" i="0" u="none" strike="noStrike" cap="none">
                <a:solidFill>
                  <a:srgbClr val="241B3D"/>
                </a:solidFill>
                <a:latin typeface="Arial"/>
                <a:ea typeface="Arial"/>
                <a:cs typeface="Arial"/>
                <a:sym typeface="Arial"/>
              </a:rPr>
              <a:t>Payers: 42+ crore PMJAY-enrolled patients form the core affordability pool (Pillar 5)</a:t>
            </a:r>
            <a:endParaRPr sz="880" b="0" i="0" u="none" strike="noStrike" cap="none">
              <a:solidFill>
                <a:schemeClr val="dk1"/>
              </a:solidFill>
              <a:latin typeface="Calibri"/>
              <a:ea typeface="Calibri"/>
              <a:cs typeface="Calibri"/>
              <a:sym typeface="Calibri"/>
            </a:endParaRPr>
          </a:p>
        </p:txBody>
      </p:sp>
      <p:sp>
        <p:nvSpPr>
          <p:cNvPr id="299" name="Google Shape;299;p6"/>
          <p:cNvSpPr/>
          <p:nvPr/>
        </p:nvSpPr>
        <p:spPr>
          <a:xfrm>
            <a:off x="457200" y="4096512"/>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Competitor</a:t>
            </a:r>
            <a:endParaRPr sz="1150" b="0" i="0" u="none" strike="noStrike" cap="none">
              <a:solidFill>
                <a:schemeClr val="dk1"/>
              </a:solidFill>
              <a:latin typeface="Calibri"/>
              <a:ea typeface="Calibri"/>
              <a:cs typeface="Calibri"/>
              <a:sym typeface="Calibri"/>
            </a:endParaRPr>
          </a:p>
        </p:txBody>
      </p:sp>
      <p:sp>
        <p:nvSpPr>
          <p:cNvPr id="300" name="Google Shape;300;p6"/>
          <p:cNvSpPr/>
          <p:nvPr/>
        </p:nvSpPr>
        <p:spPr>
          <a:xfrm>
            <a:off x="457200" y="4315968"/>
            <a:ext cx="5943600" cy="969264"/>
          </a:xfrm>
          <a:prstGeom prst="rect">
            <a:avLst/>
          </a:prstGeom>
          <a:noFill/>
          <a:ln>
            <a:noFill/>
          </a:ln>
        </p:spPr>
        <p:txBody>
          <a:bodyPr spcFirstLastPara="1" wrap="square" lIns="25400" tIns="25400" rIns="25400" bIns="25400" anchor="t" anchorCtr="0">
            <a:noAutofit/>
          </a:bodyPr>
          <a:lstStyle/>
          <a:p>
            <a:pPr marL="177800" marR="0" lvl="0" indent="-177800" algn="l" rtl="0">
              <a:lnSpc>
                <a:spcPct val="120000"/>
              </a:lnSpc>
              <a:spcBef>
                <a:spcPts val="0"/>
              </a:spcBef>
              <a:spcAft>
                <a:spcPts val="0"/>
              </a:spcAft>
              <a:buClr>
                <a:srgbClr val="241B3D"/>
              </a:buClr>
              <a:buSzPts val="880"/>
              <a:buFont typeface="Arial"/>
              <a:buChar char="•"/>
            </a:pPr>
            <a:r>
              <a:rPr lang="en-US" sz="880" b="0" i="0" u="none" strike="noStrike" cap="none">
                <a:solidFill>
                  <a:srgbClr val="241B3D"/>
                </a:solidFill>
                <a:latin typeface="Arial"/>
                <a:ea typeface="Arial"/>
                <a:cs typeface="Arial"/>
                <a:sym typeface="Arial"/>
              </a:rPr>
              <a:t>District MAI rankings flag under-covered pockets before rivals notice the same public-data opportunity</a:t>
            </a:r>
            <a:endParaRPr sz="880" b="0" i="0" u="none" strike="noStrike" cap="none">
              <a:solidFill>
                <a:schemeClr val="dk1"/>
              </a:solidFill>
              <a:latin typeface="Calibri"/>
              <a:ea typeface="Calibri"/>
              <a:cs typeface="Calibri"/>
              <a:sym typeface="Calibri"/>
            </a:endParaRPr>
          </a:p>
          <a:p>
            <a:pPr marL="177800" marR="0" lvl="0" indent="-177800" algn="l" rtl="0">
              <a:lnSpc>
                <a:spcPct val="120000"/>
              </a:lnSpc>
              <a:spcBef>
                <a:spcPts val="500"/>
              </a:spcBef>
              <a:spcAft>
                <a:spcPts val="0"/>
              </a:spcAft>
              <a:buClr>
                <a:srgbClr val="241B3D"/>
              </a:buClr>
              <a:buSzPts val="880"/>
              <a:buFont typeface="Arial"/>
              <a:buChar char="•"/>
            </a:pPr>
            <a:r>
              <a:rPr lang="en-US" sz="880" b="0" i="0" u="none" strike="noStrike" cap="none">
                <a:solidFill>
                  <a:srgbClr val="241B3D"/>
                </a:solidFill>
                <a:latin typeface="Arial"/>
                <a:ea typeface="Arial"/>
                <a:cs typeface="Arial"/>
                <a:sym typeface="Arial"/>
              </a:rPr>
              <a:t>'Rising star' momentum districts represent a genuine first-mover window</a:t>
            </a:r>
            <a:endParaRPr sz="880" b="0" i="0" u="none" strike="noStrike" cap="none">
              <a:solidFill>
                <a:schemeClr val="dk1"/>
              </a:solidFill>
              <a:latin typeface="Calibri"/>
              <a:ea typeface="Calibri"/>
              <a:cs typeface="Calibri"/>
              <a:sym typeface="Calibri"/>
            </a:endParaRPr>
          </a:p>
          <a:p>
            <a:pPr marL="177800" marR="0" lvl="0" indent="-177800" algn="l" rtl="0">
              <a:lnSpc>
                <a:spcPct val="120000"/>
              </a:lnSpc>
              <a:spcBef>
                <a:spcPts val="500"/>
              </a:spcBef>
              <a:spcAft>
                <a:spcPts val="0"/>
              </a:spcAft>
              <a:buClr>
                <a:srgbClr val="241B3D"/>
              </a:buClr>
              <a:buSzPts val="880"/>
              <a:buFont typeface="Arial"/>
              <a:buChar char="•"/>
            </a:pPr>
            <a:r>
              <a:rPr lang="en-US" sz="880" b="0" i="0" u="none" strike="noStrike" cap="none">
                <a:solidFill>
                  <a:srgbClr val="241B3D"/>
                </a:solidFill>
                <a:latin typeface="Arial"/>
                <a:ea typeface="Arial"/>
                <a:cs typeface="Arial"/>
                <a:sym typeface="Arial"/>
              </a:rPr>
              <a:t>Whoever deploys sales-force first captures prescriber loyalty</a:t>
            </a:r>
            <a:endParaRPr sz="880" b="0" i="0" u="none" strike="noStrike" cap="none">
              <a:solidFill>
                <a:schemeClr val="dk1"/>
              </a:solidFill>
              <a:latin typeface="Calibri"/>
              <a:ea typeface="Calibri"/>
              <a:cs typeface="Calibri"/>
              <a:sym typeface="Calibri"/>
            </a:endParaRPr>
          </a:p>
          <a:p>
            <a:pPr marL="177800" marR="0" lvl="0" indent="-177800" algn="l" rtl="0">
              <a:lnSpc>
                <a:spcPct val="120000"/>
              </a:lnSpc>
              <a:spcBef>
                <a:spcPts val="500"/>
              </a:spcBef>
              <a:spcAft>
                <a:spcPts val="0"/>
              </a:spcAft>
              <a:buClr>
                <a:srgbClr val="241B3D"/>
              </a:buClr>
              <a:buSzPts val="880"/>
              <a:buFont typeface="Arial"/>
              <a:buChar char="•"/>
            </a:pPr>
            <a:r>
              <a:rPr lang="en-US" sz="880" b="0" i="0" u="none" strike="noStrike" cap="none">
                <a:solidFill>
                  <a:srgbClr val="241B3D"/>
                </a:solidFill>
                <a:latin typeface="Arial"/>
                <a:ea typeface="Arial"/>
                <a:cs typeface="Arial"/>
                <a:sym typeface="Arial"/>
              </a:rPr>
              <a:t>Competitor response lag</a:t>
            </a:r>
            <a:r>
              <a:rPr lang="en-US" sz="880">
                <a:solidFill>
                  <a:srgbClr val="241B3D"/>
                </a:solidFill>
              </a:rPr>
              <a:t>,</a:t>
            </a:r>
            <a:r>
              <a:rPr lang="en-US" sz="880" b="0" i="0" u="none" strike="noStrike" cap="none">
                <a:solidFill>
                  <a:srgbClr val="241B3D"/>
                </a:solidFill>
                <a:latin typeface="Arial"/>
                <a:ea typeface="Arial"/>
                <a:cs typeface="Arial"/>
                <a:sym typeface="Arial"/>
              </a:rPr>
              <a:t> not secrecy</a:t>
            </a:r>
            <a:r>
              <a:rPr lang="en-US" sz="880">
                <a:solidFill>
                  <a:srgbClr val="241B3D"/>
                </a:solidFill>
              </a:rPr>
              <a:t>;</a:t>
            </a:r>
            <a:r>
              <a:rPr lang="en-US" sz="880" b="0" i="0" u="none" strike="noStrike" cap="none">
                <a:solidFill>
                  <a:srgbClr val="241B3D"/>
                </a:solidFill>
                <a:latin typeface="Arial"/>
                <a:ea typeface="Arial"/>
                <a:cs typeface="Arial"/>
                <a:sym typeface="Arial"/>
              </a:rPr>
              <a:t> is the model's real edge</a:t>
            </a:r>
            <a:endParaRPr sz="880" b="0" i="0" u="none" strike="noStrike" cap="none">
              <a:solidFill>
                <a:schemeClr val="dk1"/>
              </a:solidFill>
              <a:latin typeface="Calibri"/>
              <a:ea typeface="Calibri"/>
              <a:cs typeface="Calibri"/>
              <a:sym typeface="Calibri"/>
            </a:endParaRPr>
          </a:p>
        </p:txBody>
      </p:sp>
      <p:sp>
        <p:nvSpPr>
          <p:cNvPr id="301" name="Google Shape;301;p6"/>
          <p:cNvSpPr/>
          <p:nvPr/>
        </p:nvSpPr>
        <p:spPr>
          <a:xfrm>
            <a:off x="457200" y="5321808"/>
            <a:ext cx="5943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Why the Triangle Matters</a:t>
            </a:r>
            <a:endParaRPr sz="1150" b="0" i="0" u="none" strike="noStrike" cap="none">
              <a:solidFill>
                <a:schemeClr val="dk1"/>
              </a:solidFill>
              <a:latin typeface="Calibri"/>
              <a:ea typeface="Calibri"/>
              <a:cs typeface="Calibri"/>
              <a:sym typeface="Calibri"/>
            </a:endParaRPr>
          </a:p>
        </p:txBody>
      </p:sp>
      <p:sp>
        <p:nvSpPr>
          <p:cNvPr id="302" name="Google Shape;302;p6"/>
          <p:cNvSpPr/>
          <p:nvPr/>
        </p:nvSpPr>
        <p:spPr>
          <a:xfrm>
            <a:off x="457200" y="5431826"/>
            <a:ext cx="5943600" cy="740100"/>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PESTLE sizes the macro opportunity, Porter's and SWOT expose the competitive field, and the 3C lens ties both back to who this model actually serves directly justifying every pillar and variable choice in our quantitative framework.</a:t>
            </a:r>
            <a:endParaRPr sz="920" b="0" i="0" u="none" strike="noStrike" cap="none">
              <a:solidFill>
                <a:schemeClr val="dk1"/>
              </a:solidFill>
              <a:latin typeface="Calibri"/>
              <a:ea typeface="Calibri"/>
              <a:cs typeface="Calibri"/>
              <a:sym typeface="Calibri"/>
            </a:endParaRPr>
          </a:p>
        </p:txBody>
      </p:sp>
      <p:sp>
        <p:nvSpPr>
          <p:cNvPr id="303" name="Google Shape;303;p6"/>
          <p:cNvSpPr/>
          <p:nvPr/>
        </p:nvSpPr>
        <p:spPr>
          <a:xfrm>
            <a:off x="6812280" y="1536192"/>
            <a:ext cx="2446020" cy="2468880"/>
          </a:xfrm>
          <a:prstGeom prst="rect">
            <a:avLst/>
          </a:prstGeom>
          <a:solidFill>
            <a:srgbClr val="160A6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6"/>
          <p:cNvSpPr/>
          <p:nvPr/>
        </p:nvSpPr>
        <p:spPr>
          <a:xfrm>
            <a:off x="68854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Sun Pharma Revenue Split</a:t>
            </a:r>
            <a:endParaRPr sz="800" b="0" i="0" u="none" strike="noStrike" cap="none">
              <a:solidFill>
                <a:schemeClr val="dk1"/>
              </a:solidFill>
              <a:latin typeface="Calibri"/>
              <a:ea typeface="Calibri"/>
              <a:cs typeface="Calibri"/>
              <a:sym typeface="Calibri"/>
            </a:endParaRPr>
          </a:p>
        </p:txBody>
      </p:sp>
      <p:pic>
        <p:nvPicPr>
          <p:cNvPr id="305" name="Google Shape;305;p6" descr="charts/11_revenue_donut.png"/>
          <p:cNvPicPr preferRelativeResize="0"/>
          <p:nvPr/>
        </p:nvPicPr>
        <p:blipFill rotWithShape="1">
          <a:blip r:embed="rId5">
            <a:alphaModFix/>
          </a:blip>
          <a:srcRect/>
          <a:stretch/>
        </p:blipFill>
        <p:spPr>
          <a:xfrm>
            <a:off x="6903720" y="1755648"/>
            <a:ext cx="2263140" cy="1810512"/>
          </a:xfrm>
          <a:prstGeom prst="rect">
            <a:avLst/>
          </a:prstGeom>
          <a:noFill/>
          <a:ln>
            <a:noFill/>
          </a:ln>
        </p:spPr>
      </p:pic>
      <p:sp>
        <p:nvSpPr>
          <p:cNvPr id="306" name="Google Shape;306;p6"/>
          <p:cNvSpPr/>
          <p:nvPr/>
        </p:nvSpPr>
        <p:spPr>
          <a:xfrm>
            <a:off x="68854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Donut chart: Sun Pharma's FY25 revenue split by geography — 70% international, 30% India — sourced from the company's FY25 annual report, contextualizing the scale of its India operations relative to its total business.</a:t>
            </a:r>
            <a:endParaRPr sz="630" b="0" i="0" u="none" strike="noStrike" cap="none">
              <a:solidFill>
                <a:schemeClr val="dk1"/>
              </a:solidFill>
              <a:latin typeface="Calibri"/>
              <a:ea typeface="Calibri"/>
              <a:cs typeface="Calibri"/>
              <a:sym typeface="Calibri"/>
            </a:endParaRPr>
          </a:p>
        </p:txBody>
      </p:sp>
      <p:sp>
        <p:nvSpPr>
          <p:cNvPr id="307" name="Google Shape;307;p6"/>
          <p:cNvSpPr/>
          <p:nvPr/>
        </p:nvSpPr>
        <p:spPr>
          <a:xfrm>
            <a:off x="94411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6"/>
          <p:cNvSpPr/>
          <p:nvPr/>
        </p:nvSpPr>
        <p:spPr>
          <a:xfrm>
            <a:off x="95143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The 3C Triangle</a:t>
            </a:r>
            <a:endParaRPr sz="800" b="0" i="0" u="none" strike="noStrike" cap="none">
              <a:solidFill>
                <a:schemeClr val="dk1"/>
              </a:solidFill>
              <a:latin typeface="Calibri"/>
              <a:ea typeface="Calibri"/>
              <a:cs typeface="Calibri"/>
              <a:sym typeface="Calibri"/>
            </a:endParaRPr>
          </a:p>
        </p:txBody>
      </p:sp>
      <p:sp>
        <p:nvSpPr>
          <p:cNvPr id="309" name="Google Shape;309;p6"/>
          <p:cNvSpPr/>
          <p:nvPr/>
        </p:nvSpPr>
        <p:spPr>
          <a:xfrm>
            <a:off x="9532620" y="1792224"/>
            <a:ext cx="1113282" cy="1069848"/>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6"/>
          <p:cNvSpPr/>
          <p:nvPr/>
        </p:nvSpPr>
        <p:spPr>
          <a:xfrm>
            <a:off x="9578340" y="1810512"/>
            <a:ext cx="1021842" cy="103327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COMPANY</a:t>
            </a:r>
            <a:endParaRPr sz="6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Sun Pharma — chronic-heavy portfolio, $7B turnover</a:t>
            </a:r>
            <a:endParaRPr sz="630" b="0" i="0" u="none" strike="noStrike" cap="none">
              <a:solidFill>
                <a:schemeClr val="dk1"/>
              </a:solidFill>
              <a:latin typeface="Calibri"/>
              <a:ea typeface="Calibri"/>
              <a:cs typeface="Calibri"/>
              <a:sym typeface="Calibri"/>
            </a:endParaRPr>
          </a:p>
        </p:txBody>
      </p:sp>
      <p:sp>
        <p:nvSpPr>
          <p:cNvPr id="311" name="Google Shape;311;p6"/>
          <p:cNvSpPr/>
          <p:nvPr/>
        </p:nvSpPr>
        <p:spPr>
          <a:xfrm>
            <a:off x="10682478" y="1792224"/>
            <a:ext cx="1113282" cy="1069848"/>
          </a:xfrm>
          <a:prstGeom prst="rect">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6"/>
          <p:cNvSpPr/>
          <p:nvPr/>
        </p:nvSpPr>
        <p:spPr>
          <a:xfrm>
            <a:off x="10728198" y="1810512"/>
            <a:ext cx="1021842" cy="103327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CUSTOMER</a:t>
            </a:r>
            <a:endParaRPr sz="6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Patients, doctors, payers — 42+ Cr PMJAY base</a:t>
            </a:r>
            <a:endParaRPr sz="630" b="0" i="0" u="none" strike="noStrike" cap="none">
              <a:solidFill>
                <a:schemeClr val="dk1"/>
              </a:solidFill>
              <a:latin typeface="Calibri"/>
              <a:ea typeface="Calibri"/>
              <a:cs typeface="Calibri"/>
              <a:sym typeface="Calibri"/>
            </a:endParaRPr>
          </a:p>
        </p:txBody>
      </p:sp>
      <p:sp>
        <p:nvSpPr>
          <p:cNvPr id="313" name="Google Shape;313;p6"/>
          <p:cNvSpPr/>
          <p:nvPr/>
        </p:nvSpPr>
        <p:spPr>
          <a:xfrm>
            <a:off x="9532620" y="2898648"/>
            <a:ext cx="1113282" cy="1069848"/>
          </a:xfrm>
          <a:prstGeom prst="rect">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6"/>
          <p:cNvSpPr/>
          <p:nvPr/>
        </p:nvSpPr>
        <p:spPr>
          <a:xfrm>
            <a:off x="9578340" y="2916936"/>
            <a:ext cx="1021842" cy="103327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COMPETITOR</a:t>
            </a:r>
            <a:endParaRPr sz="6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Domestic majors &amp; MNCs — first-mover window</a:t>
            </a:r>
            <a:endParaRPr sz="630" b="0" i="0" u="none" strike="noStrike" cap="none">
              <a:solidFill>
                <a:schemeClr val="dk1"/>
              </a:solidFill>
              <a:latin typeface="Calibri"/>
              <a:ea typeface="Calibri"/>
              <a:cs typeface="Calibri"/>
              <a:sym typeface="Calibri"/>
            </a:endParaRPr>
          </a:p>
        </p:txBody>
      </p:sp>
      <p:sp>
        <p:nvSpPr>
          <p:cNvPr id="315" name="Google Shape;315;p6"/>
          <p:cNvSpPr/>
          <p:nvPr/>
        </p:nvSpPr>
        <p:spPr>
          <a:xfrm>
            <a:off x="10682478" y="2898648"/>
            <a:ext cx="1113282" cy="1069848"/>
          </a:xfrm>
          <a:prstGeom prst="rect">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6"/>
          <p:cNvSpPr/>
          <p:nvPr/>
        </p:nvSpPr>
        <p:spPr>
          <a:xfrm>
            <a:off x="10728198" y="2916936"/>
            <a:ext cx="1021842" cy="103327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SYNTHESIS</a:t>
            </a:r>
            <a:endParaRPr sz="6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Every pillar traces to one of these three</a:t>
            </a:r>
            <a:endParaRPr sz="630" b="0" i="0" u="none" strike="noStrike" cap="none">
              <a:solidFill>
                <a:schemeClr val="dk1"/>
              </a:solidFill>
              <a:latin typeface="Calibri"/>
              <a:ea typeface="Calibri"/>
              <a:cs typeface="Calibri"/>
              <a:sym typeface="Calibri"/>
            </a:endParaRPr>
          </a:p>
        </p:txBody>
      </p:sp>
      <p:sp>
        <p:nvSpPr>
          <p:cNvPr id="317" name="Google Shape;317;p6"/>
          <p:cNvSpPr/>
          <p:nvPr/>
        </p:nvSpPr>
        <p:spPr>
          <a:xfrm>
            <a:off x="6812280" y="4187952"/>
            <a:ext cx="2446020" cy="2468880"/>
          </a:xfrm>
          <a:prstGeom prst="rect">
            <a:avLst/>
          </a:prstGeom>
          <a:solidFill>
            <a:srgbClr val="160A6E"/>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6"/>
          <p:cNvSpPr/>
          <p:nvPr/>
        </p:nvSpPr>
        <p:spPr>
          <a:xfrm>
            <a:off x="68854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Company → Model Link</a:t>
            </a:r>
            <a:endParaRPr sz="800" b="0" i="0" u="none" strike="noStrike" cap="none">
              <a:solidFill>
                <a:schemeClr val="dk1"/>
              </a:solidFill>
              <a:latin typeface="Calibri"/>
              <a:ea typeface="Calibri"/>
              <a:cs typeface="Calibri"/>
              <a:sym typeface="Calibri"/>
            </a:endParaRPr>
          </a:p>
        </p:txBody>
      </p:sp>
      <p:sp>
        <p:nvSpPr>
          <p:cNvPr id="319" name="Google Shape;319;p6"/>
          <p:cNvSpPr/>
          <p:nvPr/>
        </p:nvSpPr>
        <p:spPr>
          <a:xfrm>
            <a:off x="69220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6"/>
          <p:cNvSpPr/>
          <p:nvPr/>
        </p:nvSpPr>
        <p:spPr>
          <a:xfrm>
            <a:off x="69585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Chronic-heavy</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India portfolio</a:t>
            </a:r>
            <a:endParaRPr sz="760" b="0" i="0" u="none" strike="noStrike" cap="none">
              <a:solidFill>
                <a:schemeClr val="dk1"/>
              </a:solidFill>
              <a:latin typeface="Calibri"/>
              <a:ea typeface="Calibri"/>
              <a:cs typeface="Calibri"/>
              <a:sym typeface="Calibri"/>
            </a:endParaRPr>
          </a:p>
        </p:txBody>
      </p:sp>
      <p:sp>
        <p:nvSpPr>
          <p:cNvPr id="321" name="Google Shape;321;p6"/>
          <p:cNvSpPr/>
          <p:nvPr/>
        </p:nvSpPr>
        <p:spPr>
          <a:xfrm>
            <a:off x="79621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6"/>
          <p:cNvSpPr/>
          <p:nvPr/>
        </p:nvSpPr>
        <p:spPr>
          <a:xfrm>
            <a:off x="6922008" y="5042916"/>
            <a:ext cx="2226564" cy="466344"/>
          </a:xfrm>
          <a:prstGeom prst="roundRect">
            <a:avLst>
              <a:gd name="adj" fmla="val 9804"/>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6"/>
          <p:cNvSpPr/>
          <p:nvPr/>
        </p:nvSpPr>
        <p:spPr>
          <a:xfrm>
            <a:off x="69585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Upweight Chronic</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pillar in scoring</a:t>
            </a:r>
            <a:endParaRPr sz="760" b="0" i="0" u="none" strike="noStrike" cap="none">
              <a:solidFill>
                <a:schemeClr val="dk1"/>
              </a:solidFill>
              <a:latin typeface="Calibri"/>
              <a:ea typeface="Calibri"/>
              <a:cs typeface="Calibri"/>
              <a:sym typeface="Calibri"/>
            </a:endParaRPr>
          </a:p>
        </p:txBody>
      </p:sp>
      <p:sp>
        <p:nvSpPr>
          <p:cNvPr id="324" name="Google Shape;324;p6"/>
          <p:cNvSpPr/>
          <p:nvPr/>
        </p:nvSpPr>
        <p:spPr>
          <a:xfrm>
            <a:off x="79621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6"/>
          <p:cNvSpPr/>
          <p:nvPr/>
        </p:nvSpPr>
        <p:spPr>
          <a:xfrm>
            <a:off x="69220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6"/>
          <p:cNvSpPr/>
          <p:nvPr/>
        </p:nvSpPr>
        <p:spPr>
          <a:xfrm>
            <a:off x="69585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Prioritize districts</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by chronic burden</a:t>
            </a:r>
            <a:endParaRPr sz="760" b="0" i="0" u="none" strike="noStrike" cap="none">
              <a:solidFill>
                <a:schemeClr val="dk1"/>
              </a:solidFill>
              <a:latin typeface="Calibri"/>
              <a:ea typeface="Calibri"/>
              <a:cs typeface="Calibri"/>
              <a:sym typeface="Calibri"/>
            </a:endParaRPr>
          </a:p>
        </p:txBody>
      </p:sp>
      <p:sp>
        <p:nvSpPr>
          <p:cNvPr id="327" name="Google Shape;327;p6"/>
          <p:cNvSpPr/>
          <p:nvPr/>
        </p:nvSpPr>
        <p:spPr>
          <a:xfrm>
            <a:off x="79621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6"/>
          <p:cNvSpPr/>
          <p:nvPr/>
        </p:nvSpPr>
        <p:spPr>
          <a:xfrm>
            <a:off x="6922008" y="6094476"/>
            <a:ext cx="2226564" cy="466344"/>
          </a:xfrm>
          <a:prstGeom prst="roundRect">
            <a:avLst>
              <a:gd name="adj" fmla="val 9804"/>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6"/>
          <p:cNvSpPr/>
          <p:nvPr/>
        </p:nvSpPr>
        <p:spPr>
          <a:xfrm>
            <a:off x="69585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Capital allocation</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decision</a:t>
            </a:r>
            <a:endParaRPr sz="760" b="0" i="0" u="none" strike="noStrike" cap="none">
              <a:solidFill>
                <a:schemeClr val="dk1"/>
              </a:solidFill>
              <a:latin typeface="Calibri"/>
              <a:ea typeface="Calibri"/>
              <a:cs typeface="Calibri"/>
              <a:sym typeface="Calibri"/>
            </a:endParaRPr>
          </a:p>
        </p:txBody>
      </p:sp>
      <p:sp>
        <p:nvSpPr>
          <p:cNvPr id="330" name="Google Shape;330;p6"/>
          <p:cNvSpPr/>
          <p:nvPr/>
        </p:nvSpPr>
        <p:spPr>
          <a:xfrm>
            <a:off x="9441180" y="4187952"/>
            <a:ext cx="2446020" cy="2468880"/>
          </a:xfrm>
          <a:prstGeom prst="rect">
            <a:avLst/>
          </a:prstGeom>
          <a:solidFill>
            <a:srgbClr val="38521F"/>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6"/>
          <p:cNvSpPr/>
          <p:nvPr/>
        </p:nvSpPr>
        <p:spPr>
          <a:xfrm>
            <a:off x="95143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Customer → Model Link</a:t>
            </a:r>
            <a:endParaRPr sz="800" b="0" i="0" u="none" strike="noStrike" cap="none">
              <a:solidFill>
                <a:schemeClr val="dk1"/>
              </a:solidFill>
              <a:latin typeface="Calibri"/>
              <a:ea typeface="Calibri"/>
              <a:cs typeface="Calibri"/>
              <a:sym typeface="Calibri"/>
            </a:endParaRPr>
          </a:p>
        </p:txBody>
      </p:sp>
      <p:sp>
        <p:nvSpPr>
          <p:cNvPr id="332" name="Google Shape;332;p6"/>
          <p:cNvSpPr/>
          <p:nvPr/>
        </p:nvSpPr>
        <p:spPr>
          <a:xfrm>
            <a:off x="95509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6"/>
          <p:cNvSpPr/>
          <p:nvPr/>
        </p:nvSpPr>
        <p:spPr>
          <a:xfrm>
            <a:off x="95874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Patients: disease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burden data</a:t>
            </a:r>
            <a:endParaRPr sz="760" b="0" i="0" u="none" strike="noStrike" cap="none">
              <a:solidFill>
                <a:schemeClr val="dk1"/>
              </a:solidFill>
              <a:latin typeface="Calibri"/>
              <a:ea typeface="Calibri"/>
              <a:cs typeface="Calibri"/>
              <a:sym typeface="Calibri"/>
            </a:endParaRPr>
          </a:p>
        </p:txBody>
      </p:sp>
      <p:sp>
        <p:nvSpPr>
          <p:cNvPr id="334" name="Google Shape;334;p6"/>
          <p:cNvSpPr/>
          <p:nvPr/>
        </p:nvSpPr>
        <p:spPr>
          <a:xfrm>
            <a:off x="105910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6"/>
          <p:cNvSpPr/>
          <p:nvPr/>
        </p:nvSpPr>
        <p:spPr>
          <a:xfrm>
            <a:off x="9550908" y="504291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6"/>
          <p:cNvSpPr/>
          <p:nvPr/>
        </p:nvSpPr>
        <p:spPr>
          <a:xfrm>
            <a:off x="95874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Doctors: access/</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density data</a:t>
            </a:r>
            <a:endParaRPr sz="760" b="0" i="0" u="none" strike="noStrike" cap="none">
              <a:solidFill>
                <a:schemeClr val="dk1"/>
              </a:solidFill>
              <a:latin typeface="Calibri"/>
              <a:ea typeface="Calibri"/>
              <a:cs typeface="Calibri"/>
              <a:sym typeface="Calibri"/>
            </a:endParaRPr>
          </a:p>
        </p:txBody>
      </p:sp>
      <p:sp>
        <p:nvSpPr>
          <p:cNvPr id="337" name="Google Shape;337;p6"/>
          <p:cNvSpPr/>
          <p:nvPr/>
        </p:nvSpPr>
        <p:spPr>
          <a:xfrm>
            <a:off x="105910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6"/>
          <p:cNvSpPr/>
          <p:nvPr/>
        </p:nvSpPr>
        <p:spPr>
          <a:xfrm>
            <a:off x="95509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6"/>
          <p:cNvSpPr/>
          <p:nvPr/>
        </p:nvSpPr>
        <p:spPr>
          <a:xfrm>
            <a:off x="95874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Payers: insurance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coverage data</a:t>
            </a:r>
            <a:endParaRPr sz="760" b="0" i="0" u="none" strike="noStrike" cap="none">
              <a:solidFill>
                <a:schemeClr val="dk1"/>
              </a:solidFill>
              <a:latin typeface="Calibri"/>
              <a:ea typeface="Calibri"/>
              <a:cs typeface="Calibri"/>
              <a:sym typeface="Calibri"/>
            </a:endParaRPr>
          </a:p>
        </p:txBody>
      </p:sp>
      <p:sp>
        <p:nvSpPr>
          <p:cNvPr id="340" name="Google Shape;340;p6"/>
          <p:cNvSpPr/>
          <p:nvPr/>
        </p:nvSpPr>
        <p:spPr>
          <a:xfrm>
            <a:off x="105910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6"/>
          <p:cNvSpPr/>
          <p:nvPr/>
        </p:nvSpPr>
        <p:spPr>
          <a:xfrm>
            <a:off x="9550908" y="609447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6"/>
          <p:cNvSpPr/>
          <p:nvPr/>
        </p:nvSpPr>
        <p:spPr>
          <a:xfrm>
            <a:off x="95874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Demand-side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index sizing</a:t>
            </a:r>
            <a:endParaRPr sz="760" b="0" i="0" u="none" strike="noStrike" cap="none">
              <a:solidFill>
                <a:schemeClr val="dk1"/>
              </a:solidFill>
              <a:latin typeface="Calibri"/>
              <a:ea typeface="Calibri"/>
              <a:cs typeface="Calibri"/>
              <a:sym typeface="Calibri"/>
            </a:endParaRPr>
          </a:p>
        </p:txBody>
      </p:sp>
      <p:sp>
        <p:nvSpPr>
          <p:cNvPr id="343" name="Google Shape;343;p6"/>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6"/>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6"/>
          <p:cNvSpPr/>
          <p:nvPr/>
        </p:nvSpPr>
        <p:spPr>
          <a:xfrm>
            <a:off x="4648200" y="6565392"/>
            <a:ext cx="2895600" cy="292608"/>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6"/>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6"/>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6"/>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6"/>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350" name="Google Shape;350;p6"/>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6</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5"/>
        <p:cNvGrpSpPr/>
        <p:nvPr/>
      </p:nvGrpSpPr>
      <p:grpSpPr>
        <a:xfrm>
          <a:off x="0" y="0"/>
          <a:ext cx="0" cy="0"/>
          <a:chOff x="0" y="0"/>
          <a:chExt cx="0" cy="0"/>
        </a:xfrm>
      </p:grpSpPr>
      <p:sp>
        <p:nvSpPr>
          <p:cNvPr id="356" name="Google Shape;356;p7"/>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7" name="Google Shape;357;p7"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358" name="Google Shape;358;p7"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359" name="Google Shape;359;p7"/>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360" name="Google Shape;360;p7"/>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361" name="Google Shape;361;p7"/>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Data Sourcing &amp; Cleaning Methodology</a:t>
            </a:r>
            <a:endParaRPr sz="2200" b="0" i="0" u="none" strike="noStrike" cap="none">
              <a:solidFill>
                <a:schemeClr val="dk1"/>
              </a:solidFill>
              <a:latin typeface="Calibri"/>
              <a:ea typeface="Calibri"/>
              <a:cs typeface="Calibri"/>
              <a:sym typeface="Calibri"/>
            </a:endParaRPr>
          </a:p>
        </p:txBody>
      </p:sp>
      <p:sp>
        <p:nvSpPr>
          <p:cNvPr id="362" name="Google Shape;362;p7"/>
          <p:cNvSpPr/>
          <p:nvPr/>
        </p:nvSpPr>
        <p:spPr>
          <a:xfrm>
            <a:off x="274320" y="1536192"/>
            <a:ext cx="6309360" cy="5120640"/>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lnSpc>
                <a:spcPct val="115000"/>
              </a:lnSpc>
              <a:spcBef>
                <a:spcPts val="0"/>
              </a:spcBef>
              <a:spcAft>
                <a:spcPts val="0"/>
              </a:spcAft>
              <a:buNone/>
            </a:pPr>
            <a:endParaRPr/>
          </a:p>
        </p:txBody>
      </p:sp>
      <p:sp>
        <p:nvSpPr>
          <p:cNvPr id="363" name="Google Shape;363;p7"/>
          <p:cNvSpPr/>
          <p:nvPr/>
        </p:nvSpPr>
        <p:spPr>
          <a:xfrm>
            <a:off x="457200" y="1645920"/>
            <a:ext cx="5943600" cy="201168"/>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Sources Used</a:t>
            </a:r>
            <a:endParaRPr sz="1150" b="0" i="0" u="none" strike="noStrike" cap="none">
              <a:solidFill>
                <a:schemeClr val="dk1"/>
              </a:solidFill>
              <a:latin typeface="Calibri"/>
              <a:ea typeface="Calibri"/>
              <a:cs typeface="Calibri"/>
              <a:sym typeface="Calibri"/>
            </a:endParaRPr>
          </a:p>
        </p:txBody>
      </p:sp>
      <p:sp>
        <p:nvSpPr>
          <p:cNvPr id="364" name="Google Shape;364;p7"/>
          <p:cNvSpPr/>
          <p:nvPr/>
        </p:nvSpPr>
        <p:spPr>
          <a:xfrm>
            <a:off x="457200" y="1746488"/>
            <a:ext cx="5943600" cy="969300"/>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The core district panel combines NFHS-4/NFHS-5 district factsheets (chronic risk factors, acute disease, infrastructure, insurance), a hospital directory (provider access proxy), state-level GDP time series (1960-61 to 2023-24, momentum), HMIS childhood-disease indicators, and Census 2011 population — all real, publicly-sourced, government or survey data, not synthetic placeholders.</a:t>
            </a:r>
            <a:endParaRPr sz="920" b="0" i="0" u="none" strike="noStrike" cap="none">
              <a:solidFill>
                <a:schemeClr val="dk1"/>
              </a:solidFill>
              <a:latin typeface="Calibri"/>
              <a:ea typeface="Calibri"/>
              <a:cs typeface="Calibri"/>
              <a:sym typeface="Calibri"/>
            </a:endParaRPr>
          </a:p>
        </p:txBody>
      </p:sp>
      <p:sp>
        <p:nvSpPr>
          <p:cNvPr id="365" name="Google Shape;365;p7"/>
          <p:cNvSpPr/>
          <p:nvPr/>
        </p:nvSpPr>
        <p:spPr>
          <a:xfrm>
            <a:off x="457200" y="2793429"/>
            <a:ext cx="5943600" cy="2013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The District Name-Matching Problem</a:t>
            </a:r>
            <a:endParaRPr sz="1150" b="0" i="0" u="none" strike="noStrike" cap="none">
              <a:solidFill>
                <a:schemeClr val="dk1"/>
              </a:solidFill>
              <a:latin typeface="Calibri"/>
              <a:ea typeface="Calibri"/>
              <a:cs typeface="Calibri"/>
              <a:sym typeface="Calibri"/>
            </a:endParaRPr>
          </a:p>
        </p:txBody>
      </p:sp>
      <p:sp>
        <p:nvSpPr>
          <p:cNvPr id="366" name="Google Shape;366;p7"/>
          <p:cNvSpPr/>
          <p:nvPr/>
        </p:nvSpPr>
        <p:spPr>
          <a:xfrm>
            <a:off x="457200" y="2994688"/>
            <a:ext cx="5943600" cy="877800"/>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Indian district names are spelled inconsistently across sources (Bengaluru vs Bangalore, Prayagraj vs Allahabad) and district boundaries have changed repeatedly since 2011 (Telangana's 2016 split alone created 22 new districts). We built a state-gated fuzzy-matching crosswalk, manually verified every match below 90% confidence, and corrected four confirmed algorithm misses before proceeding.</a:t>
            </a:r>
            <a:endParaRPr sz="920" b="0" i="0" u="none" strike="noStrike" cap="none">
              <a:solidFill>
                <a:schemeClr val="dk1"/>
              </a:solidFill>
              <a:latin typeface="Calibri"/>
              <a:ea typeface="Calibri"/>
              <a:cs typeface="Calibri"/>
              <a:sym typeface="Calibri"/>
            </a:endParaRPr>
          </a:p>
        </p:txBody>
      </p:sp>
      <p:sp>
        <p:nvSpPr>
          <p:cNvPr id="367" name="Google Shape;367;p7"/>
          <p:cNvSpPr/>
          <p:nvPr/>
        </p:nvSpPr>
        <p:spPr>
          <a:xfrm>
            <a:off x="457200" y="3922787"/>
            <a:ext cx="5943600" cy="2013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Handling Post-2011 District Splits</a:t>
            </a:r>
            <a:endParaRPr sz="1150" b="0" i="0" u="none" strike="noStrike" cap="none">
              <a:solidFill>
                <a:schemeClr val="dk1"/>
              </a:solidFill>
              <a:latin typeface="Calibri"/>
              <a:ea typeface="Calibri"/>
              <a:cs typeface="Calibri"/>
              <a:sym typeface="Calibri"/>
            </a:endParaRPr>
          </a:p>
        </p:txBody>
      </p:sp>
      <p:sp>
        <p:nvSpPr>
          <p:cNvPr id="368" name="Google Shape;368;p7"/>
          <p:cNvSpPr/>
          <p:nvPr/>
        </p:nvSpPr>
        <p:spPr>
          <a:xfrm>
            <a:off x="457200" y="4151381"/>
            <a:ext cx="5943600" cy="969300"/>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For newer districts absent from our 2011-vintage sources, we apportioned parent-district values using hospital-count weighting, with an equal-split fallback where hospital data was unreliable or missing. We caught and fixed two real apportionment bugs: Tripura districts receiving zero population from a NaN-as-zero error, and Palghar receiving an implausible 0.14% population share from an urban-rural hospital-density mismatch with its parent Thane.</a:t>
            </a:r>
            <a:endParaRPr sz="920" b="0" i="0" u="none" strike="noStrike" cap="none">
              <a:solidFill>
                <a:schemeClr val="dk1"/>
              </a:solidFill>
              <a:latin typeface="Calibri"/>
              <a:ea typeface="Calibri"/>
              <a:cs typeface="Calibri"/>
              <a:sym typeface="Calibri"/>
            </a:endParaRPr>
          </a:p>
        </p:txBody>
      </p:sp>
      <p:sp>
        <p:nvSpPr>
          <p:cNvPr id="369" name="Google Shape;369;p7"/>
          <p:cNvSpPr/>
          <p:nvPr/>
        </p:nvSpPr>
        <p:spPr>
          <a:xfrm>
            <a:off x="457200" y="5157233"/>
            <a:ext cx="5943600" cy="2013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Ground-Truth Validation</a:t>
            </a:r>
            <a:endParaRPr sz="1150" b="0" i="0" u="none" strike="noStrike" cap="none">
              <a:solidFill>
                <a:schemeClr val="dk1"/>
              </a:solidFill>
              <a:latin typeface="Calibri"/>
              <a:ea typeface="Calibri"/>
              <a:cs typeface="Calibri"/>
              <a:sym typeface="Calibri"/>
            </a:endParaRPr>
          </a:p>
        </p:txBody>
      </p:sp>
      <p:sp>
        <p:nvSpPr>
          <p:cNvPr id="370" name="Google Shape;370;p7"/>
          <p:cNvSpPr/>
          <p:nvPr/>
        </p:nvSpPr>
        <p:spPr>
          <a:xfrm>
            <a:off x="457200" y="5321826"/>
            <a:ext cx="5943600" cy="777300"/>
          </a:xfrm>
          <a:prstGeom prst="rect">
            <a:avLst/>
          </a:prstGeom>
          <a:noFill/>
          <a:ln>
            <a:noFill/>
          </a:ln>
        </p:spPr>
        <p:txBody>
          <a:bodyPr spcFirstLastPara="1" wrap="square" lIns="0" tIns="0" rIns="0" bIns="0" anchor="ctr" anchorCtr="0">
            <a:noAutofit/>
          </a:bodyPr>
          <a:lstStyle/>
          <a:p>
            <a:pPr marL="0" marR="0" lvl="0" indent="0" algn="just" rtl="0">
              <a:lnSpc>
                <a:spcPct val="115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Every apportionment fix was checked against India's actual 2011 Census population total (1,210,854,977)</a:t>
            </a:r>
            <a:r>
              <a:rPr lang="en-US" sz="920">
                <a:solidFill>
                  <a:srgbClr val="241B3D"/>
                </a:solidFill>
              </a:rPr>
              <a:t>; </a:t>
            </a:r>
            <a:r>
              <a:rPr lang="en-US" sz="920" b="0" i="0" u="none" strike="noStrike" cap="none">
                <a:solidFill>
                  <a:srgbClr val="241B3D"/>
                </a:solidFill>
                <a:latin typeface="Arial"/>
                <a:ea typeface="Arial"/>
                <a:cs typeface="Arial"/>
                <a:sym typeface="Arial"/>
              </a:rPr>
              <a:t>our corrected total lands at 1,209,515,632, just -0.11% off, with the entire residual gap explained by Ladakh's genuine post-2019 data absence. This is real, checkable validation, not an assumed-correct pipeline.</a:t>
            </a:r>
            <a:endParaRPr sz="920" b="0" i="0" u="none" strike="noStrike" cap="none">
              <a:solidFill>
                <a:schemeClr val="dk1"/>
              </a:solidFill>
              <a:latin typeface="Calibri"/>
              <a:ea typeface="Calibri"/>
              <a:cs typeface="Calibri"/>
              <a:sym typeface="Calibri"/>
            </a:endParaRPr>
          </a:p>
        </p:txBody>
      </p:sp>
      <p:sp>
        <p:nvSpPr>
          <p:cNvPr id="371" name="Google Shape;371;p7"/>
          <p:cNvSpPr/>
          <p:nvPr/>
        </p:nvSpPr>
        <p:spPr>
          <a:xfrm>
            <a:off x="68122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7"/>
          <p:cNvSpPr/>
          <p:nvPr/>
        </p:nvSpPr>
        <p:spPr>
          <a:xfrm>
            <a:off x="68854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Hospital Crosswalk Match Rate</a:t>
            </a:r>
            <a:endParaRPr sz="800" b="0" i="0" u="none" strike="noStrike" cap="none">
              <a:solidFill>
                <a:schemeClr val="dk1"/>
              </a:solidFill>
              <a:latin typeface="Calibri"/>
              <a:ea typeface="Calibri"/>
              <a:cs typeface="Calibri"/>
              <a:sym typeface="Calibri"/>
            </a:endParaRPr>
          </a:p>
        </p:txBody>
      </p:sp>
      <p:pic>
        <p:nvPicPr>
          <p:cNvPr id="373" name="Google Shape;373;p7" descr="charts/13_crosswalk_match.png"/>
          <p:cNvPicPr preferRelativeResize="0"/>
          <p:nvPr/>
        </p:nvPicPr>
        <p:blipFill rotWithShape="1">
          <a:blip r:embed="rId5">
            <a:alphaModFix/>
          </a:blip>
          <a:srcRect/>
          <a:stretch/>
        </p:blipFill>
        <p:spPr>
          <a:xfrm>
            <a:off x="6903720" y="1755648"/>
            <a:ext cx="2263140" cy="1810512"/>
          </a:xfrm>
          <a:prstGeom prst="rect">
            <a:avLst/>
          </a:prstGeom>
          <a:noFill/>
          <a:ln>
            <a:noFill/>
          </a:ln>
        </p:spPr>
      </p:pic>
      <p:sp>
        <p:nvSpPr>
          <p:cNvPr id="374" name="Google Shape;374;p7"/>
          <p:cNvSpPr/>
          <p:nvPr/>
        </p:nvSpPr>
        <p:spPr>
          <a:xfrm>
            <a:off x="68854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Donut chart: 648 of 706 districts (91.8%) matched directly to a hospital-directory entry; the remaining 58 (8.2%) are mean-imputed for Access-pillar variables — a disclosed, bounded data-quality limitation.</a:t>
            </a:r>
            <a:endParaRPr sz="630" b="0" i="0" u="none" strike="noStrike" cap="none">
              <a:solidFill>
                <a:schemeClr val="dk1"/>
              </a:solidFill>
              <a:latin typeface="Calibri"/>
              <a:ea typeface="Calibri"/>
              <a:cs typeface="Calibri"/>
              <a:sym typeface="Calibri"/>
            </a:endParaRPr>
          </a:p>
        </p:txBody>
      </p:sp>
      <p:sp>
        <p:nvSpPr>
          <p:cNvPr id="375" name="Google Shape;375;p7"/>
          <p:cNvSpPr/>
          <p:nvPr/>
        </p:nvSpPr>
        <p:spPr>
          <a:xfrm>
            <a:off x="94411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7"/>
          <p:cNvSpPr/>
          <p:nvPr/>
        </p:nvSpPr>
        <p:spPr>
          <a:xfrm>
            <a:off x="95143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District Tier Distribution</a:t>
            </a:r>
            <a:endParaRPr sz="800" b="0" i="0" u="none" strike="noStrike" cap="none">
              <a:solidFill>
                <a:schemeClr val="dk1"/>
              </a:solidFill>
              <a:latin typeface="Calibri"/>
              <a:ea typeface="Calibri"/>
              <a:cs typeface="Calibri"/>
              <a:sym typeface="Calibri"/>
            </a:endParaRPr>
          </a:p>
        </p:txBody>
      </p:sp>
      <p:pic>
        <p:nvPicPr>
          <p:cNvPr id="377" name="Google Shape;377;p7" descr="charts/15_tier_distribution.png"/>
          <p:cNvPicPr preferRelativeResize="0"/>
          <p:nvPr/>
        </p:nvPicPr>
        <p:blipFill rotWithShape="1">
          <a:blip r:embed="rId6">
            <a:alphaModFix/>
          </a:blip>
          <a:srcRect/>
          <a:stretch/>
        </p:blipFill>
        <p:spPr>
          <a:xfrm>
            <a:off x="9532620" y="1755648"/>
            <a:ext cx="2263140" cy="1810512"/>
          </a:xfrm>
          <a:prstGeom prst="rect">
            <a:avLst/>
          </a:prstGeom>
          <a:noFill/>
          <a:ln>
            <a:noFill/>
          </a:ln>
        </p:spPr>
      </p:pic>
      <p:sp>
        <p:nvSpPr>
          <p:cNvPr id="378" name="Google Shape;378;p7"/>
          <p:cNvSpPr/>
          <p:nvPr/>
        </p:nvSpPr>
        <p:spPr>
          <a:xfrm>
            <a:off x="95143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Bar chart: number of districts in each Overall MAI quartile tier (177/176/176/177) — confirms tiers are evenly balanced by construction, not skewed toward any one band.</a:t>
            </a:r>
            <a:endParaRPr sz="630" b="0" i="0" u="none" strike="noStrike" cap="none">
              <a:solidFill>
                <a:schemeClr val="dk1"/>
              </a:solidFill>
              <a:latin typeface="Calibri"/>
              <a:ea typeface="Calibri"/>
              <a:cs typeface="Calibri"/>
              <a:sym typeface="Calibri"/>
            </a:endParaRPr>
          </a:p>
        </p:txBody>
      </p:sp>
      <p:sp>
        <p:nvSpPr>
          <p:cNvPr id="379" name="Google Shape;379;p7"/>
          <p:cNvSpPr/>
          <p:nvPr/>
        </p:nvSpPr>
        <p:spPr>
          <a:xfrm>
            <a:off x="6812280" y="4187952"/>
            <a:ext cx="2446020" cy="2468880"/>
          </a:xfrm>
          <a:prstGeom prst="rect">
            <a:avLst/>
          </a:prstGeom>
          <a:solidFill>
            <a:srgbClr val="5F32F2"/>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7"/>
          <p:cNvSpPr/>
          <p:nvPr/>
        </p:nvSpPr>
        <p:spPr>
          <a:xfrm>
            <a:off x="68854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Data Cleaning Pipeline</a:t>
            </a:r>
            <a:endParaRPr sz="800" b="0" i="0" u="none" strike="noStrike" cap="none">
              <a:solidFill>
                <a:schemeClr val="dk1"/>
              </a:solidFill>
              <a:latin typeface="Calibri"/>
              <a:ea typeface="Calibri"/>
              <a:cs typeface="Calibri"/>
              <a:sym typeface="Calibri"/>
            </a:endParaRPr>
          </a:p>
        </p:txBody>
      </p:sp>
      <p:sp>
        <p:nvSpPr>
          <p:cNvPr id="381" name="Google Shape;381;p7"/>
          <p:cNvSpPr/>
          <p:nvPr/>
        </p:nvSpPr>
        <p:spPr>
          <a:xfrm>
            <a:off x="69220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7"/>
          <p:cNvSpPr/>
          <p:nvPr/>
        </p:nvSpPr>
        <p:spPr>
          <a:xfrm>
            <a:off x="69585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Raw multi-source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files ingested</a:t>
            </a:r>
            <a:endParaRPr sz="760" b="0" i="0" u="none" strike="noStrike" cap="none">
              <a:solidFill>
                <a:schemeClr val="dk1"/>
              </a:solidFill>
              <a:latin typeface="Calibri"/>
              <a:ea typeface="Calibri"/>
              <a:cs typeface="Calibri"/>
              <a:sym typeface="Calibri"/>
            </a:endParaRPr>
          </a:p>
        </p:txBody>
      </p:sp>
      <p:sp>
        <p:nvSpPr>
          <p:cNvPr id="383" name="Google Shape;383;p7"/>
          <p:cNvSpPr/>
          <p:nvPr/>
        </p:nvSpPr>
        <p:spPr>
          <a:xfrm>
            <a:off x="79621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7"/>
          <p:cNvSpPr/>
          <p:nvPr/>
        </p:nvSpPr>
        <p:spPr>
          <a:xfrm>
            <a:off x="6922008" y="504291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7"/>
          <p:cNvSpPr/>
          <p:nvPr/>
        </p:nvSpPr>
        <p:spPr>
          <a:xfrm>
            <a:off x="69585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State-gated fuzzy</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name crosswalk</a:t>
            </a:r>
            <a:endParaRPr sz="760" b="0" i="0" u="none" strike="noStrike" cap="none">
              <a:solidFill>
                <a:schemeClr val="dk1"/>
              </a:solidFill>
              <a:latin typeface="Calibri"/>
              <a:ea typeface="Calibri"/>
              <a:cs typeface="Calibri"/>
              <a:sym typeface="Calibri"/>
            </a:endParaRPr>
          </a:p>
        </p:txBody>
      </p:sp>
      <p:sp>
        <p:nvSpPr>
          <p:cNvPr id="386" name="Google Shape;386;p7"/>
          <p:cNvSpPr/>
          <p:nvPr/>
        </p:nvSpPr>
        <p:spPr>
          <a:xfrm>
            <a:off x="79621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7"/>
          <p:cNvSpPr/>
          <p:nvPr/>
        </p:nvSpPr>
        <p:spPr>
          <a:xfrm>
            <a:off x="69220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7"/>
          <p:cNvSpPr/>
          <p:nvPr/>
        </p:nvSpPr>
        <p:spPr>
          <a:xfrm>
            <a:off x="69585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De-duplication &amp;</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spelling fixes</a:t>
            </a:r>
            <a:endParaRPr sz="760" b="0" i="0" u="none" strike="noStrike" cap="none">
              <a:solidFill>
                <a:schemeClr val="dk1"/>
              </a:solidFill>
              <a:latin typeface="Calibri"/>
              <a:ea typeface="Calibri"/>
              <a:cs typeface="Calibri"/>
              <a:sym typeface="Calibri"/>
            </a:endParaRPr>
          </a:p>
        </p:txBody>
      </p:sp>
      <p:sp>
        <p:nvSpPr>
          <p:cNvPr id="389" name="Google Shape;389;p7"/>
          <p:cNvSpPr/>
          <p:nvPr/>
        </p:nvSpPr>
        <p:spPr>
          <a:xfrm>
            <a:off x="79621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7"/>
          <p:cNvSpPr/>
          <p:nvPr/>
        </p:nvSpPr>
        <p:spPr>
          <a:xfrm>
            <a:off x="6922008" y="609447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7"/>
          <p:cNvSpPr/>
          <p:nvPr/>
        </p:nvSpPr>
        <p:spPr>
          <a:xfrm>
            <a:off x="69585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Master district</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panel (706 rows)</a:t>
            </a:r>
            <a:endParaRPr sz="760" b="0" i="0" u="none" strike="noStrike" cap="none">
              <a:solidFill>
                <a:schemeClr val="dk1"/>
              </a:solidFill>
              <a:latin typeface="Calibri"/>
              <a:ea typeface="Calibri"/>
              <a:cs typeface="Calibri"/>
              <a:sym typeface="Calibri"/>
            </a:endParaRPr>
          </a:p>
        </p:txBody>
      </p:sp>
      <p:sp>
        <p:nvSpPr>
          <p:cNvPr id="392" name="Google Shape;392;p7"/>
          <p:cNvSpPr/>
          <p:nvPr/>
        </p:nvSpPr>
        <p:spPr>
          <a:xfrm>
            <a:off x="9441180" y="4187952"/>
            <a:ext cx="2446020" cy="2468880"/>
          </a:xfrm>
          <a:prstGeom prst="rect">
            <a:avLst/>
          </a:prstGeom>
          <a:solidFill>
            <a:srgbClr val="38521F"/>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7"/>
          <p:cNvSpPr/>
          <p:nvPr/>
        </p:nvSpPr>
        <p:spPr>
          <a:xfrm>
            <a:off x="95143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Population Apportionment Fix</a:t>
            </a:r>
            <a:endParaRPr sz="800" b="0" i="0" u="none" strike="noStrike" cap="none">
              <a:solidFill>
                <a:schemeClr val="dk1"/>
              </a:solidFill>
              <a:latin typeface="Calibri"/>
              <a:ea typeface="Calibri"/>
              <a:cs typeface="Calibri"/>
              <a:sym typeface="Calibri"/>
            </a:endParaRPr>
          </a:p>
        </p:txBody>
      </p:sp>
      <p:sp>
        <p:nvSpPr>
          <p:cNvPr id="394" name="Google Shape;394;p7"/>
          <p:cNvSpPr/>
          <p:nvPr/>
        </p:nvSpPr>
        <p:spPr>
          <a:xfrm>
            <a:off x="95509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7"/>
          <p:cNvSpPr/>
          <p:nvPr/>
        </p:nvSpPr>
        <p:spPr>
          <a:xfrm>
            <a:off x="95874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Parent district</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identified</a:t>
            </a:r>
            <a:endParaRPr sz="760" b="0" i="0" u="none" strike="noStrike" cap="none">
              <a:solidFill>
                <a:schemeClr val="dk1"/>
              </a:solidFill>
              <a:latin typeface="Calibri"/>
              <a:ea typeface="Calibri"/>
              <a:cs typeface="Calibri"/>
              <a:sym typeface="Calibri"/>
            </a:endParaRPr>
          </a:p>
        </p:txBody>
      </p:sp>
      <p:sp>
        <p:nvSpPr>
          <p:cNvPr id="396" name="Google Shape;396;p7"/>
          <p:cNvSpPr/>
          <p:nvPr/>
        </p:nvSpPr>
        <p:spPr>
          <a:xfrm>
            <a:off x="105910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7"/>
          <p:cNvSpPr/>
          <p:nvPr/>
        </p:nvSpPr>
        <p:spPr>
          <a:xfrm>
            <a:off x="9550908" y="5042916"/>
            <a:ext cx="2226564" cy="466344"/>
          </a:xfrm>
          <a:prstGeom prst="roundRect">
            <a:avLst>
              <a:gd name="adj" fmla="val 9804"/>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7"/>
          <p:cNvSpPr/>
          <p:nvPr/>
        </p:nvSpPr>
        <p:spPr>
          <a:xfrm>
            <a:off x="95874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Hospital-weighted</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split attempted</a:t>
            </a:r>
            <a:endParaRPr sz="760" b="0" i="0" u="none" strike="noStrike" cap="none">
              <a:solidFill>
                <a:schemeClr val="dk1"/>
              </a:solidFill>
              <a:latin typeface="Calibri"/>
              <a:ea typeface="Calibri"/>
              <a:cs typeface="Calibri"/>
              <a:sym typeface="Calibri"/>
            </a:endParaRPr>
          </a:p>
        </p:txBody>
      </p:sp>
      <p:sp>
        <p:nvSpPr>
          <p:cNvPr id="399" name="Google Shape;399;p7"/>
          <p:cNvSpPr/>
          <p:nvPr/>
        </p:nvSpPr>
        <p:spPr>
          <a:xfrm>
            <a:off x="105910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7"/>
          <p:cNvSpPr/>
          <p:nvPr/>
        </p:nvSpPr>
        <p:spPr>
          <a:xfrm>
            <a:off x="95509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7"/>
          <p:cNvSpPr/>
          <p:nvPr/>
        </p:nvSpPr>
        <p:spPr>
          <a:xfrm>
            <a:off x="95874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Implausible-ratio</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fallback to equal-split</a:t>
            </a:r>
            <a:endParaRPr sz="760" b="0" i="0" u="none" strike="noStrike" cap="none">
              <a:solidFill>
                <a:schemeClr val="dk1"/>
              </a:solidFill>
              <a:latin typeface="Calibri"/>
              <a:ea typeface="Calibri"/>
              <a:cs typeface="Calibri"/>
              <a:sym typeface="Calibri"/>
            </a:endParaRPr>
          </a:p>
        </p:txBody>
      </p:sp>
      <p:sp>
        <p:nvSpPr>
          <p:cNvPr id="402" name="Google Shape;402;p7"/>
          <p:cNvSpPr/>
          <p:nvPr/>
        </p:nvSpPr>
        <p:spPr>
          <a:xfrm>
            <a:off x="105910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7"/>
          <p:cNvSpPr/>
          <p:nvPr/>
        </p:nvSpPr>
        <p:spPr>
          <a:xfrm>
            <a:off x="9550908" y="6094476"/>
            <a:ext cx="2226564" cy="466344"/>
          </a:xfrm>
          <a:prstGeom prst="roundRect">
            <a:avLst>
              <a:gd name="adj" fmla="val 9804"/>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7"/>
          <p:cNvSpPr/>
          <p:nvPr/>
        </p:nvSpPr>
        <p:spPr>
          <a:xfrm>
            <a:off x="95874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Validated vs.</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Census total (−0.11%)</a:t>
            </a:r>
            <a:endParaRPr sz="760" b="0" i="0" u="none" strike="noStrike" cap="none">
              <a:solidFill>
                <a:schemeClr val="dk1"/>
              </a:solidFill>
              <a:latin typeface="Calibri"/>
              <a:ea typeface="Calibri"/>
              <a:cs typeface="Calibri"/>
              <a:sym typeface="Calibri"/>
            </a:endParaRPr>
          </a:p>
        </p:txBody>
      </p:sp>
      <p:sp>
        <p:nvSpPr>
          <p:cNvPr id="405" name="Google Shape;405;p7"/>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7"/>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7"/>
          <p:cNvSpPr/>
          <p:nvPr/>
        </p:nvSpPr>
        <p:spPr>
          <a:xfrm>
            <a:off x="4648200" y="6565392"/>
            <a:ext cx="2895600" cy="292608"/>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7"/>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7"/>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7"/>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7"/>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412" name="Google Shape;412;p7"/>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7</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7"/>
        <p:cNvGrpSpPr/>
        <p:nvPr/>
      </p:nvGrpSpPr>
      <p:grpSpPr>
        <a:xfrm>
          <a:off x="0" y="0"/>
          <a:ext cx="0" cy="0"/>
          <a:chOff x="0" y="0"/>
          <a:chExt cx="0" cy="0"/>
        </a:xfrm>
      </p:grpSpPr>
      <p:sp>
        <p:nvSpPr>
          <p:cNvPr id="418" name="Google Shape;418;p8"/>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19" name="Google Shape;419;p8"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420" name="Google Shape;420;p8"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421" name="Google Shape;421;p8"/>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422" name="Google Shape;422;p8"/>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423" name="Google Shape;423;p8"/>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a:solidFill>
                  <a:srgbClr val="160A6E"/>
                </a:solidFill>
              </a:rPr>
              <a:t>The </a:t>
            </a:r>
            <a:r>
              <a:rPr lang="en-US" sz="2200" b="1" i="0" u="none" strike="noStrike" cap="none">
                <a:solidFill>
                  <a:srgbClr val="160A6E"/>
                </a:solidFill>
                <a:latin typeface="Arial"/>
                <a:ea typeface="Arial"/>
                <a:cs typeface="Arial"/>
                <a:sym typeface="Arial"/>
              </a:rPr>
              <a:t>Statistical Toolkit </a:t>
            </a:r>
            <a:r>
              <a:rPr lang="en-US" sz="2200" b="1">
                <a:solidFill>
                  <a:srgbClr val="160A6E"/>
                </a:solidFill>
              </a:rPr>
              <a:t>Used </a:t>
            </a:r>
            <a:endParaRPr sz="2200" b="0" i="0" u="none" strike="noStrike" cap="none">
              <a:solidFill>
                <a:schemeClr val="dk1"/>
              </a:solidFill>
              <a:latin typeface="Calibri"/>
              <a:ea typeface="Calibri"/>
              <a:cs typeface="Calibri"/>
              <a:sym typeface="Calibri"/>
            </a:endParaRPr>
          </a:p>
        </p:txBody>
      </p:sp>
      <p:sp>
        <p:nvSpPr>
          <p:cNvPr id="424" name="Google Shape;424;p8"/>
          <p:cNvSpPr/>
          <p:nvPr/>
        </p:nvSpPr>
        <p:spPr>
          <a:xfrm>
            <a:off x="274320" y="1536192"/>
            <a:ext cx="6309360" cy="5120640"/>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8"/>
          <p:cNvSpPr/>
          <p:nvPr/>
        </p:nvSpPr>
        <p:spPr>
          <a:xfrm>
            <a:off x="457200" y="1645920"/>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The Core Technique: Entropy Weight Method</a:t>
            </a:r>
            <a:endParaRPr sz="1150" b="0" i="0" u="none" strike="noStrike" cap="none">
              <a:solidFill>
                <a:schemeClr val="dk1"/>
              </a:solidFill>
              <a:latin typeface="Calibri"/>
              <a:ea typeface="Calibri"/>
              <a:cs typeface="Calibri"/>
              <a:sym typeface="Calibri"/>
            </a:endParaRPr>
          </a:p>
        </p:txBody>
      </p:sp>
      <p:sp>
        <p:nvSpPr>
          <p:cNvPr id="426" name="Google Shape;426;p8"/>
          <p:cNvSpPr/>
          <p:nvPr/>
        </p:nvSpPr>
        <p:spPr>
          <a:xfrm>
            <a:off x="457200" y="1865376"/>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Our core statistical technique is the Entropy Weight Method (EWM), rooted in Shannon's foundational information theory </a:t>
            </a:r>
            <a:r>
              <a:rPr lang="en-US" sz="920" b="0" i="0" u="sng" strike="noStrike" cap="none">
                <a:solidFill>
                  <a:schemeClr val="hlink"/>
                </a:solidFill>
                <a:latin typeface="Arial"/>
                <a:ea typeface="Arial"/>
                <a:cs typeface="Arial"/>
                <a:sym typeface="Arial"/>
                <a:hlinkClick r:id="rId5"/>
              </a:rPr>
              <a:t>(Shannon, C.E., 'A Mathematical Theory of Communication,' Bell System Technical Journal, 27(3), 1948</a:t>
            </a:r>
            <a:r>
              <a:rPr lang="en-US" sz="920" b="0" i="0" u="none" strike="noStrike" cap="none">
                <a:solidFill>
                  <a:srgbClr val="241B3D"/>
                </a:solidFill>
                <a:latin typeface="Arial"/>
                <a:ea typeface="Arial"/>
                <a:cs typeface="Arial"/>
                <a:sym typeface="Arial"/>
              </a:rPr>
              <a:t>) and used for composite indicator construction in indices like the HDI and NITI Aayog's State Health Index. For each of 36 normalized variables, we compute Shannon entropy across 706 districts — higher discriminating power earns higher weight, automatically.</a:t>
            </a:r>
            <a:endParaRPr sz="920" b="0" i="0" u="none" strike="noStrike" cap="none">
              <a:solidFill>
                <a:schemeClr val="dk1"/>
              </a:solidFill>
              <a:latin typeface="Calibri"/>
              <a:ea typeface="Calibri"/>
              <a:cs typeface="Calibri"/>
              <a:sym typeface="Calibri"/>
            </a:endParaRPr>
          </a:p>
        </p:txBody>
      </p:sp>
      <p:sp>
        <p:nvSpPr>
          <p:cNvPr id="427" name="Google Shape;427;p8"/>
          <p:cNvSpPr/>
          <p:nvPr/>
        </p:nvSpPr>
        <p:spPr>
          <a:xfrm>
            <a:off x="457200" y="2871216"/>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Cross-Validated, Not Assumed Correct</a:t>
            </a:r>
            <a:endParaRPr sz="1150" b="0" i="0" u="none" strike="noStrike" cap="none">
              <a:solidFill>
                <a:schemeClr val="dk1"/>
              </a:solidFill>
              <a:latin typeface="Calibri"/>
              <a:ea typeface="Calibri"/>
              <a:cs typeface="Calibri"/>
              <a:sym typeface="Calibri"/>
            </a:endParaRPr>
          </a:p>
        </p:txBody>
      </p:sp>
      <p:sp>
        <p:nvSpPr>
          <p:cNvPr id="428" name="Google Shape;428;p8"/>
          <p:cNvSpPr/>
          <p:nvPr/>
        </p:nvSpPr>
        <p:spPr>
          <a:xfrm>
            <a:off x="397125" y="2916935"/>
            <a:ext cx="5943600" cy="969300"/>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We computed Overall MAI two independent ways</a:t>
            </a:r>
            <a:r>
              <a:rPr lang="en-US" sz="920">
                <a:solidFill>
                  <a:srgbClr val="241B3D"/>
                </a:solidFill>
              </a:rPr>
              <a:t>. E</a:t>
            </a:r>
            <a:r>
              <a:rPr lang="en-US" sz="920" b="0" i="0" u="none" strike="noStrike" cap="none">
                <a:solidFill>
                  <a:srgbClr val="241B3D"/>
                </a:solidFill>
                <a:latin typeface="Arial"/>
                <a:ea typeface="Arial"/>
                <a:cs typeface="Arial"/>
                <a:sym typeface="Arial"/>
              </a:rPr>
              <a:t>ntropy-weighted and judgment-weighted — finding Spearman ρ = 0.794 agreement. An equal-weight baseline diverges meaningfully (ρ = 0.713), confirming entropy weighting does real analytical work (OECD/JRC Handbook on Constructing Composite Indicators, 2008).</a:t>
            </a:r>
            <a:endParaRPr sz="920" b="0" i="0" u="none" strike="noStrike" cap="none">
              <a:solidFill>
                <a:schemeClr val="dk1"/>
              </a:solidFill>
              <a:latin typeface="Calibri"/>
              <a:ea typeface="Calibri"/>
              <a:cs typeface="Calibri"/>
              <a:sym typeface="Calibri"/>
            </a:endParaRPr>
          </a:p>
        </p:txBody>
      </p:sp>
      <p:sp>
        <p:nvSpPr>
          <p:cNvPr id="429" name="Google Shape;429;p8"/>
          <p:cNvSpPr/>
          <p:nvPr/>
        </p:nvSpPr>
        <p:spPr>
          <a:xfrm>
            <a:off x="457200" y="3790187"/>
            <a:ext cx="5943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Why K-Means </a:t>
            </a:r>
            <a:endParaRPr sz="1150" b="0" i="0" u="none" strike="noStrike" cap="none">
              <a:solidFill>
                <a:schemeClr val="dk1"/>
              </a:solidFill>
              <a:latin typeface="Calibri"/>
              <a:ea typeface="Calibri"/>
              <a:cs typeface="Calibri"/>
              <a:sym typeface="Calibri"/>
            </a:endParaRPr>
          </a:p>
        </p:txBody>
      </p:sp>
      <p:sp>
        <p:nvSpPr>
          <p:cNvPr id="430" name="Google Shape;430;p8"/>
          <p:cNvSpPr/>
          <p:nvPr/>
        </p:nvSpPr>
        <p:spPr>
          <a:xfrm>
            <a:off x="457200" y="4047436"/>
            <a:ext cx="5943600" cy="1237800"/>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K-Means was chosen over alternatives (hierarchical clustering, Gaussian Mixture Models, DBSCAN) because our goal was a small, fixed number of interpretable, business-actionable segments (4 archetypes) rather than a full dendrogram or density-based grouping</a:t>
            </a:r>
            <a:r>
              <a:rPr lang="en-US" sz="920">
                <a:solidFill>
                  <a:srgbClr val="241B3D"/>
                </a:solidFill>
              </a:rPr>
              <a:t>. </a:t>
            </a:r>
            <a:r>
              <a:rPr lang="en-US" sz="920" b="0" i="0" u="none" strike="noStrike" cap="none">
                <a:solidFill>
                  <a:srgbClr val="241B3D"/>
                </a:solidFill>
                <a:latin typeface="Arial"/>
                <a:ea typeface="Arial"/>
                <a:cs typeface="Arial"/>
                <a:sym typeface="Arial"/>
              </a:rPr>
              <a:t> K-Means is the standard choice when the target segment count is known in advance and speed/interpretability matter more than capturing arbitrarily-shaped clusters. We validated this choice: an unweighted K-Means run misclassified Ahmedabad and Mumbai into the lowest-value cluster due to an extreme hospital-count outlier; we caught this via face-validity checking and rebuilt clustering using the same index-consistent weights as the scoring formula itself</a:t>
            </a:r>
            <a:r>
              <a:rPr lang="en-US" sz="920">
                <a:solidFill>
                  <a:srgbClr val="241B3D"/>
                </a:solidFill>
              </a:rPr>
              <a:t>. A</a:t>
            </a:r>
            <a:r>
              <a:rPr lang="en-US" sz="920" b="0" i="0" u="none" strike="noStrike" cap="none">
                <a:solidFill>
                  <a:srgbClr val="241B3D"/>
                </a:solidFill>
                <a:latin typeface="Arial"/>
                <a:ea typeface="Arial"/>
                <a:cs typeface="Arial"/>
                <a:sym typeface="Arial"/>
              </a:rPr>
              <a:t> disclosed methodological fix, not a default left unquestioned.</a:t>
            </a:r>
            <a:endParaRPr sz="920" b="0" i="0" u="none" strike="noStrike" cap="none">
              <a:solidFill>
                <a:schemeClr val="dk1"/>
              </a:solidFill>
              <a:latin typeface="Calibri"/>
              <a:ea typeface="Calibri"/>
              <a:cs typeface="Calibri"/>
              <a:sym typeface="Calibri"/>
            </a:endParaRPr>
          </a:p>
        </p:txBody>
      </p:sp>
      <p:sp>
        <p:nvSpPr>
          <p:cNvPr id="431" name="Google Shape;431;p8"/>
          <p:cNvSpPr/>
          <p:nvPr/>
        </p:nvSpPr>
        <p:spPr>
          <a:xfrm>
            <a:off x="457200" y="5321808"/>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Complementary Methods Beyond Clustering</a:t>
            </a:r>
            <a:endParaRPr sz="1150" b="0" i="0" u="none" strike="noStrike" cap="none">
              <a:solidFill>
                <a:schemeClr val="dk1"/>
              </a:solidFill>
              <a:latin typeface="Calibri"/>
              <a:ea typeface="Calibri"/>
              <a:cs typeface="Calibri"/>
              <a:sym typeface="Calibri"/>
            </a:endParaRPr>
          </a:p>
        </p:txBody>
      </p:sp>
      <p:sp>
        <p:nvSpPr>
          <p:cNvPr id="432" name="Google Shape;432;p8"/>
          <p:cNvSpPr/>
          <p:nvPr/>
        </p:nvSpPr>
        <p:spPr>
          <a:xfrm>
            <a:off x="397125" y="5440677"/>
            <a:ext cx="5943600" cy="969300"/>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CAGR-based trend analysis on real 8-point GDP time series for Momentum; significance-tested correlation analysis (p&lt;0.001) for hypothesis validation; log-transformation for skewed variables like population; and systematic sensitivity/perturbation testing (ρ≥0.999) for robustness</a:t>
            </a:r>
            <a:r>
              <a:rPr lang="en-US" sz="920">
                <a:solidFill>
                  <a:srgbClr val="241B3D"/>
                </a:solidFill>
              </a:rPr>
              <a:t>. C</a:t>
            </a:r>
            <a:r>
              <a:rPr lang="en-US" sz="920" b="0" i="0" u="none" strike="noStrike" cap="none">
                <a:solidFill>
                  <a:srgbClr val="241B3D"/>
                </a:solidFill>
                <a:latin typeface="Arial"/>
                <a:ea typeface="Arial"/>
                <a:cs typeface="Arial"/>
                <a:sym typeface="Arial"/>
              </a:rPr>
              <a:t>lustering is the segmentation layer on top of this larger toolkit, not the model itself.</a:t>
            </a:r>
            <a:endParaRPr sz="920" b="0" i="0" u="none" strike="noStrike" cap="none">
              <a:solidFill>
                <a:schemeClr val="dk1"/>
              </a:solidFill>
              <a:latin typeface="Calibri"/>
              <a:ea typeface="Calibri"/>
              <a:cs typeface="Calibri"/>
              <a:sym typeface="Calibri"/>
            </a:endParaRPr>
          </a:p>
        </p:txBody>
      </p:sp>
      <p:sp>
        <p:nvSpPr>
          <p:cNvPr id="433" name="Google Shape;433;p8"/>
          <p:cNvSpPr/>
          <p:nvPr/>
        </p:nvSpPr>
        <p:spPr>
          <a:xfrm>
            <a:off x="68122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8"/>
          <p:cNvSpPr/>
          <p:nvPr/>
        </p:nvSpPr>
        <p:spPr>
          <a:xfrm>
            <a:off x="68854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Entropy vs. Judgment Rank (ρ=0.794)</a:t>
            </a:r>
            <a:endParaRPr sz="800" b="0" i="0" u="none" strike="noStrike" cap="none">
              <a:solidFill>
                <a:schemeClr val="dk1"/>
              </a:solidFill>
              <a:latin typeface="Calibri"/>
              <a:ea typeface="Calibri"/>
              <a:cs typeface="Calibri"/>
              <a:sym typeface="Calibri"/>
            </a:endParaRPr>
          </a:p>
        </p:txBody>
      </p:sp>
      <p:pic>
        <p:nvPicPr>
          <p:cNvPr id="435" name="Google Shape;435;p8" descr="charts/07_entropy_vs_judgment.png"/>
          <p:cNvPicPr preferRelativeResize="0"/>
          <p:nvPr/>
        </p:nvPicPr>
        <p:blipFill rotWithShape="1">
          <a:blip r:embed="rId6">
            <a:alphaModFix/>
          </a:blip>
          <a:srcRect/>
          <a:stretch/>
        </p:blipFill>
        <p:spPr>
          <a:xfrm>
            <a:off x="6903720" y="1755648"/>
            <a:ext cx="2263140" cy="1810512"/>
          </a:xfrm>
          <a:prstGeom prst="rect">
            <a:avLst/>
          </a:prstGeom>
          <a:noFill/>
          <a:ln>
            <a:noFill/>
          </a:ln>
        </p:spPr>
      </p:pic>
      <p:sp>
        <p:nvSpPr>
          <p:cNvPr id="436" name="Google Shape;436;p8"/>
          <p:cNvSpPr/>
          <p:nvPr/>
        </p:nvSpPr>
        <p:spPr>
          <a:xfrm>
            <a:off x="68854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Scatter plot: each dot is one district, x-axis = rank under entropy weighting, y-axis = rank under judgment weighting. Tight clustering along the diagonal confirms strong agreement between the two independent weighting methods.</a:t>
            </a:r>
            <a:endParaRPr sz="630" b="0" i="0" u="none" strike="noStrike" cap="none">
              <a:solidFill>
                <a:schemeClr val="dk1"/>
              </a:solidFill>
              <a:latin typeface="Calibri"/>
              <a:ea typeface="Calibri"/>
              <a:cs typeface="Calibri"/>
              <a:sym typeface="Calibri"/>
            </a:endParaRPr>
          </a:p>
        </p:txBody>
      </p:sp>
      <p:sp>
        <p:nvSpPr>
          <p:cNvPr id="437" name="Google Shape;437;p8"/>
          <p:cNvSpPr/>
          <p:nvPr/>
        </p:nvSpPr>
        <p:spPr>
          <a:xfrm>
            <a:off x="94411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8"/>
          <p:cNvSpPr/>
          <p:nvPr/>
        </p:nvSpPr>
        <p:spPr>
          <a:xfrm>
            <a:off x="95143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Entropy Weight by Pillar</a:t>
            </a:r>
            <a:endParaRPr sz="800" b="0" i="0" u="none" strike="noStrike" cap="none">
              <a:solidFill>
                <a:schemeClr val="dk1"/>
              </a:solidFill>
              <a:latin typeface="Calibri"/>
              <a:ea typeface="Calibri"/>
              <a:cs typeface="Calibri"/>
              <a:sym typeface="Calibri"/>
            </a:endParaRPr>
          </a:p>
        </p:txBody>
      </p:sp>
      <p:pic>
        <p:nvPicPr>
          <p:cNvPr id="439" name="Google Shape;439;p8" descr="charts/09_pillar_weights.png"/>
          <p:cNvPicPr preferRelativeResize="0"/>
          <p:nvPr/>
        </p:nvPicPr>
        <p:blipFill rotWithShape="1">
          <a:blip r:embed="rId7">
            <a:alphaModFix/>
          </a:blip>
          <a:srcRect/>
          <a:stretch/>
        </p:blipFill>
        <p:spPr>
          <a:xfrm>
            <a:off x="9532620" y="1755648"/>
            <a:ext cx="2263140" cy="1810512"/>
          </a:xfrm>
          <a:prstGeom prst="rect">
            <a:avLst/>
          </a:prstGeom>
          <a:noFill/>
          <a:ln>
            <a:noFill/>
          </a:ln>
        </p:spPr>
      </p:pic>
      <p:sp>
        <p:nvSpPr>
          <p:cNvPr id="440" name="Google Shape;440;p8"/>
          <p:cNvSpPr/>
          <p:nvPr/>
        </p:nvSpPr>
        <p:spPr>
          <a:xfrm>
            <a:off x="95143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Bar chart: % of total index weight per pillar, derived from Shannon entropy across all 706 districts — shown here again to make the weighting transparent alongside the clustering discussion.</a:t>
            </a:r>
            <a:endParaRPr sz="630" b="0" i="0" u="none" strike="noStrike" cap="none">
              <a:solidFill>
                <a:schemeClr val="dk1"/>
              </a:solidFill>
              <a:latin typeface="Calibri"/>
              <a:ea typeface="Calibri"/>
              <a:cs typeface="Calibri"/>
              <a:sym typeface="Calibri"/>
            </a:endParaRPr>
          </a:p>
        </p:txBody>
      </p:sp>
      <p:sp>
        <p:nvSpPr>
          <p:cNvPr id="441" name="Google Shape;441;p8"/>
          <p:cNvSpPr/>
          <p:nvPr/>
        </p:nvSpPr>
        <p:spPr>
          <a:xfrm>
            <a:off x="6812280" y="4187952"/>
            <a:ext cx="2446020" cy="2468880"/>
          </a:xfrm>
          <a:prstGeom prst="rect">
            <a:avLst/>
          </a:prstGeom>
          <a:solidFill>
            <a:srgbClr val="160A6E"/>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8"/>
          <p:cNvSpPr/>
          <p:nvPr/>
        </p:nvSpPr>
        <p:spPr>
          <a:xfrm>
            <a:off x="68854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Entropy Weighting Formula</a:t>
            </a:r>
            <a:endParaRPr sz="800" b="0" i="0" u="none" strike="noStrike" cap="none">
              <a:solidFill>
                <a:schemeClr val="dk1"/>
              </a:solidFill>
              <a:latin typeface="Calibri"/>
              <a:ea typeface="Calibri"/>
              <a:cs typeface="Calibri"/>
              <a:sym typeface="Calibri"/>
            </a:endParaRPr>
          </a:p>
        </p:txBody>
      </p:sp>
      <p:sp>
        <p:nvSpPr>
          <p:cNvPr id="443" name="Google Shape;443;p8"/>
          <p:cNvSpPr/>
          <p:nvPr/>
        </p:nvSpPr>
        <p:spPr>
          <a:xfrm>
            <a:off x="69220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8"/>
          <p:cNvSpPr/>
          <p:nvPr/>
        </p:nvSpPr>
        <p:spPr>
          <a:xfrm>
            <a:off x="69585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Min-max normalize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to [0,1]</a:t>
            </a:r>
            <a:endParaRPr sz="760" b="0" i="0" u="none" strike="noStrike" cap="none">
              <a:solidFill>
                <a:schemeClr val="dk1"/>
              </a:solidFill>
              <a:latin typeface="Calibri"/>
              <a:ea typeface="Calibri"/>
              <a:cs typeface="Calibri"/>
              <a:sym typeface="Calibri"/>
            </a:endParaRPr>
          </a:p>
        </p:txBody>
      </p:sp>
      <p:sp>
        <p:nvSpPr>
          <p:cNvPr id="445" name="Google Shape;445;p8"/>
          <p:cNvSpPr/>
          <p:nvPr/>
        </p:nvSpPr>
        <p:spPr>
          <a:xfrm>
            <a:off x="79621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8"/>
          <p:cNvSpPr/>
          <p:nvPr/>
        </p:nvSpPr>
        <p:spPr>
          <a:xfrm>
            <a:off x="6922008" y="5042916"/>
            <a:ext cx="2226564" cy="466344"/>
          </a:xfrm>
          <a:prstGeom prst="roundRect">
            <a:avLst>
              <a:gd name="adj" fmla="val 9804"/>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8"/>
          <p:cNvSpPr/>
          <p:nvPr/>
        </p:nvSpPr>
        <p:spPr>
          <a:xfrm>
            <a:off x="69585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Compute proportional</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share p_ij</a:t>
            </a:r>
            <a:endParaRPr sz="760" b="0" i="0" u="none" strike="noStrike" cap="none">
              <a:solidFill>
                <a:schemeClr val="dk1"/>
              </a:solidFill>
              <a:latin typeface="Calibri"/>
              <a:ea typeface="Calibri"/>
              <a:cs typeface="Calibri"/>
              <a:sym typeface="Calibri"/>
            </a:endParaRPr>
          </a:p>
        </p:txBody>
      </p:sp>
      <p:sp>
        <p:nvSpPr>
          <p:cNvPr id="448" name="Google Shape;448;p8"/>
          <p:cNvSpPr/>
          <p:nvPr/>
        </p:nvSpPr>
        <p:spPr>
          <a:xfrm>
            <a:off x="79621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8"/>
          <p:cNvSpPr/>
          <p:nvPr/>
        </p:nvSpPr>
        <p:spPr>
          <a:xfrm>
            <a:off x="69220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8"/>
          <p:cNvSpPr/>
          <p:nvPr/>
        </p:nvSpPr>
        <p:spPr>
          <a:xfrm>
            <a:off x="69585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Shannon entropy</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e_j = -kΣ(p·ln p)</a:t>
            </a:r>
            <a:endParaRPr sz="760" b="0" i="0" u="none" strike="noStrike" cap="none">
              <a:solidFill>
                <a:schemeClr val="dk1"/>
              </a:solidFill>
              <a:latin typeface="Calibri"/>
              <a:ea typeface="Calibri"/>
              <a:cs typeface="Calibri"/>
              <a:sym typeface="Calibri"/>
            </a:endParaRPr>
          </a:p>
        </p:txBody>
      </p:sp>
      <p:sp>
        <p:nvSpPr>
          <p:cNvPr id="451" name="Google Shape;451;p8"/>
          <p:cNvSpPr/>
          <p:nvPr/>
        </p:nvSpPr>
        <p:spPr>
          <a:xfrm>
            <a:off x="79621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8"/>
          <p:cNvSpPr/>
          <p:nvPr/>
        </p:nvSpPr>
        <p:spPr>
          <a:xfrm>
            <a:off x="6922008" y="6094476"/>
            <a:ext cx="2226564" cy="466344"/>
          </a:xfrm>
          <a:prstGeom prst="roundRect">
            <a:avLst>
              <a:gd name="adj" fmla="val 9804"/>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8"/>
          <p:cNvSpPr/>
          <p:nvPr/>
        </p:nvSpPr>
        <p:spPr>
          <a:xfrm>
            <a:off x="69585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Weight w_j =</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(1-e_j)/Σ(1-e_j)</a:t>
            </a:r>
            <a:endParaRPr sz="760" b="0" i="0" u="none" strike="noStrike" cap="none">
              <a:solidFill>
                <a:schemeClr val="dk1"/>
              </a:solidFill>
              <a:latin typeface="Calibri"/>
              <a:ea typeface="Calibri"/>
              <a:cs typeface="Calibri"/>
              <a:sym typeface="Calibri"/>
            </a:endParaRPr>
          </a:p>
        </p:txBody>
      </p:sp>
      <p:sp>
        <p:nvSpPr>
          <p:cNvPr id="454" name="Google Shape;454;p8"/>
          <p:cNvSpPr/>
          <p:nvPr/>
        </p:nvSpPr>
        <p:spPr>
          <a:xfrm>
            <a:off x="9441180" y="4187952"/>
            <a:ext cx="2446020" cy="2468880"/>
          </a:xfrm>
          <a:prstGeom prst="rect">
            <a:avLst/>
          </a:prstGeom>
          <a:solidFill>
            <a:srgbClr val="38521F"/>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8"/>
          <p:cNvSpPr/>
          <p:nvPr/>
        </p:nvSpPr>
        <p:spPr>
          <a:xfrm>
            <a:off x="95143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Why K-Means, Validated</a:t>
            </a:r>
            <a:endParaRPr sz="800" b="0" i="0" u="none" strike="noStrike" cap="none">
              <a:solidFill>
                <a:schemeClr val="dk1"/>
              </a:solidFill>
              <a:latin typeface="Calibri"/>
              <a:ea typeface="Calibri"/>
              <a:cs typeface="Calibri"/>
              <a:sym typeface="Calibri"/>
            </a:endParaRPr>
          </a:p>
        </p:txBody>
      </p:sp>
      <p:sp>
        <p:nvSpPr>
          <p:cNvPr id="456" name="Google Shape;456;p8"/>
          <p:cNvSpPr/>
          <p:nvPr/>
        </p:nvSpPr>
        <p:spPr>
          <a:xfrm>
            <a:off x="95509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8"/>
          <p:cNvSpPr/>
          <p:nvPr/>
        </p:nvSpPr>
        <p:spPr>
          <a:xfrm>
            <a:off x="95874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Need fixed, small</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 of segments (4)</a:t>
            </a:r>
            <a:endParaRPr sz="760" b="0" i="0" u="none" strike="noStrike" cap="none">
              <a:solidFill>
                <a:schemeClr val="dk1"/>
              </a:solidFill>
              <a:latin typeface="Calibri"/>
              <a:ea typeface="Calibri"/>
              <a:cs typeface="Calibri"/>
              <a:sym typeface="Calibri"/>
            </a:endParaRPr>
          </a:p>
        </p:txBody>
      </p:sp>
      <p:sp>
        <p:nvSpPr>
          <p:cNvPr id="458" name="Google Shape;458;p8"/>
          <p:cNvSpPr/>
          <p:nvPr/>
        </p:nvSpPr>
        <p:spPr>
          <a:xfrm>
            <a:off x="105910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8"/>
          <p:cNvSpPr/>
          <p:nvPr/>
        </p:nvSpPr>
        <p:spPr>
          <a:xfrm>
            <a:off x="9550908" y="5042916"/>
            <a:ext cx="2226564" cy="466344"/>
          </a:xfrm>
          <a:prstGeom prst="roundRect">
            <a:avLst>
              <a:gd name="adj" fmla="val 9804"/>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8"/>
          <p:cNvSpPr/>
          <p:nvPr/>
        </p:nvSpPr>
        <p:spPr>
          <a:xfrm>
            <a:off x="95874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K-Means chosen over</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hierarchical/GMM/DBSCAN</a:t>
            </a:r>
            <a:endParaRPr sz="760" b="0" i="0" u="none" strike="noStrike" cap="none">
              <a:solidFill>
                <a:schemeClr val="dk1"/>
              </a:solidFill>
              <a:latin typeface="Calibri"/>
              <a:ea typeface="Calibri"/>
              <a:cs typeface="Calibri"/>
              <a:sym typeface="Calibri"/>
            </a:endParaRPr>
          </a:p>
        </p:txBody>
      </p:sp>
      <p:sp>
        <p:nvSpPr>
          <p:cNvPr id="461" name="Google Shape;461;p8"/>
          <p:cNvSpPr/>
          <p:nvPr/>
        </p:nvSpPr>
        <p:spPr>
          <a:xfrm>
            <a:off x="105910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8"/>
          <p:cNvSpPr/>
          <p:nvPr/>
        </p:nvSpPr>
        <p:spPr>
          <a:xfrm>
            <a:off x="95509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8"/>
          <p:cNvSpPr/>
          <p:nvPr/>
        </p:nvSpPr>
        <p:spPr>
          <a:xfrm>
            <a:off x="95874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Unweighted version</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misclassified metros</a:t>
            </a:r>
            <a:endParaRPr sz="760" b="0" i="0" u="none" strike="noStrike" cap="none">
              <a:solidFill>
                <a:schemeClr val="dk1"/>
              </a:solidFill>
              <a:latin typeface="Calibri"/>
              <a:ea typeface="Calibri"/>
              <a:cs typeface="Calibri"/>
              <a:sym typeface="Calibri"/>
            </a:endParaRPr>
          </a:p>
        </p:txBody>
      </p:sp>
      <p:sp>
        <p:nvSpPr>
          <p:cNvPr id="464" name="Google Shape;464;p8"/>
          <p:cNvSpPr/>
          <p:nvPr/>
        </p:nvSpPr>
        <p:spPr>
          <a:xfrm>
            <a:off x="105910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8"/>
          <p:cNvSpPr/>
          <p:nvPr/>
        </p:nvSpPr>
        <p:spPr>
          <a:xfrm>
            <a:off x="9550908" y="6094476"/>
            <a:ext cx="2226564" cy="466344"/>
          </a:xfrm>
          <a:prstGeom prst="roundRect">
            <a:avLst>
              <a:gd name="adj" fmla="val 9804"/>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8"/>
          <p:cNvSpPr/>
          <p:nvPr/>
        </p:nvSpPr>
        <p:spPr>
          <a:xfrm>
            <a:off x="95874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Rebuilt with index-</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consistent weights</a:t>
            </a:r>
            <a:endParaRPr sz="760" b="0" i="0" u="none" strike="noStrike" cap="none">
              <a:solidFill>
                <a:schemeClr val="dk1"/>
              </a:solidFill>
              <a:latin typeface="Calibri"/>
              <a:ea typeface="Calibri"/>
              <a:cs typeface="Calibri"/>
              <a:sym typeface="Calibri"/>
            </a:endParaRPr>
          </a:p>
        </p:txBody>
      </p:sp>
      <p:sp>
        <p:nvSpPr>
          <p:cNvPr id="467" name="Google Shape;467;p8"/>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8"/>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8"/>
          <p:cNvSpPr/>
          <p:nvPr/>
        </p:nvSpPr>
        <p:spPr>
          <a:xfrm>
            <a:off x="4648200" y="6565392"/>
            <a:ext cx="2895600" cy="292608"/>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8"/>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8"/>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8"/>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8"/>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474" name="Google Shape;474;p8"/>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8</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79"/>
        <p:cNvGrpSpPr/>
        <p:nvPr/>
      </p:nvGrpSpPr>
      <p:grpSpPr>
        <a:xfrm>
          <a:off x="0" y="0"/>
          <a:ext cx="0" cy="0"/>
          <a:chOff x="0" y="0"/>
          <a:chExt cx="0" cy="0"/>
        </a:xfrm>
      </p:grpSpPr>
      <p:sp>
        <p:nvSpPr>
          <p:cNvPr id="480" name="Google Shape;480;p9"/>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81" name="Google Shape;481;p9"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482" name="Google Shape;482;p9"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483" name="Google Shape;483;p9"/>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484" name="Google Shape;484;p9"/>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485" name="Google Shape;485;p9"/>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EDA I </a:t>
            </a:r>
            <a:r>
              <a:rPr lang="en-US" sz="2200" b="1">
                <a:solidFill>
                  <a:srgbClr val="160A6E"/>
                </a:solidFill>
              </a:rPr>
              <a:t>: </a:t>
            </a:r>
            <a:r>
              <a:rPr lang="en-US" sz="2200" b="1" i="0" u="none" strike="noStrike" cap="none">
                <a:solidFill>
                  <a:srgbClr val="160A6E"/>
                </a:solidFill>
                <a:latin typeface="Arial"/>
                <a:ea typeface="Arial"/>
                <a:cs typeface="Arial"/>
                <a:sym typeface="Arial"/>
              </a:rPr>
              <a:t> Data Sources &amp; Summary Statistics</a:t>
            </a:r>
            <a:endParaRPr sz="2200" b="0" i="0" u="none" strike="noStrike" cap="none">
              <a:solidFill>
                <a:schemeClr val="dk1"/>
              </a:solidFill>
              <a:latin typeface="Calibri"/>
              <a:ea typeface="Calibri"/>
              <a:cs typeface="Calibri"/>
              <a:sym typeface="Calibri"/>
            </a:endParaRPr>
          </a:p>
        </p:txBody>
      </p:sp>
      <p:sp>
        <p:nvSpPr>
          <p:cNvPr id="486" name="Google Shape;486;p9"/>
          <p:cNvSpPr/>
          <p:nvPr/>
        </p:nvSpPr>
        <p:spPr>
          <a:xfrm>
            <a:off x="320040" y="1481328"/>
            <a:ext cx="115214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280"/>
              </a:buClr>
              <a:buSzPts val="1050"/>
              <a:buFont typeface="Arial"/>
              <a:buNone/>
            </a:pPr>
            <a:r>
              <a:rPr lang="en-US" sz="1050" b="0" i="1" u="none" strike="noStrike" cap="none">
                <a:solidFill>
                  <a:srgbClr val="6B6280"/>
                </a:solidFill>
                <a:latin typeface="Arial"/>
                <a:ea typeface="Arial"/>
                <a:cs typeface="Arial"/>
                <a:sym typeface="Arial"/>
              </a:rPr>
              <a:t>Before any modeling: what each dataset actually is, where it comes from, and what it contains.</a:t>
            </a:r>
            <a:endParaRPr sz="1050" b="0" i="0" u="none" strike="noStrike" cap="none">
              <a:solidFill>
                <a:schemeClr val="dk1"/>
              </a:solidFill>
              <a:latin typeface="Calibri"/>
              <a:ea typeface="Calibri"/>
              <a:cs typeface="Calibri"/>
              <a:sym typeface="Calibri"/>
            </a:endParaRPr>
          </a:p>
        </p:txBody>
      </p:sp>
      <p:sp>
        <p:nvSpPr>
          <p:cNvPr id="487" name="Google Shape;487;p9"/>
          <p:cNvSpPr/>
          <p:nvPr/>
        </p:nvSpPr>
        <p:spPr>
          <a:xfrm>
            <a:off x="274325" y="1773925"/>
            <a:ext cx="6282000" cy="4882800"/>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9"/>
          <p:cNvSpPr/>
          <p:nvPr/>
        </p:nvSpPr>
        <p:spPr>
          <a:xfrm>
            <a:off x="457200" y="1883664"/>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NFHS-4 &amp; NFHS-5 (National Family Health Survey)</a:t>
            </a:r>
            <a:endParaRPr sz="1150" b="0" i="0" u="none" strike="noStrike" cap="none">
              <a:solidFill>
                <a:schemeClr val="dk1"/>
              </a:solidFill>
              <a:latin typeface="Calibri"/>
              <a:ea typeface="Calibri"/>
              <a:cs typeface="Calibri"/>
              <a:sym typeface="Calibri"/>
            </a:endParaRPr>
          </a:p>
        </p:txBody>
      </p:sp>
      <p:sp>
        <p:nvSpPr>
          <p:cNvPr id="489" name="Google Shape;489;p9"/>
          <p:cNvSpPr/>
          <p:nvPr/>
        </p:nvSpPr>
        <p:spPr>
          <a:xfrm>
            <a:off x="457200" y="2103120"/>
            <a:ext cx="5943600" cy="909828"/>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Description: India's largest household health survey, conducted by MoHFW via IIPS Mumbai; round 4 (2015-16) and round 5 (2019-21) both surveyed at district level. Source: rchiips.org/nfhs (district factsheets). Columns used: 105 raw indicators per district covering blood pressure, blood sugar, cancer screening, tobacco/alcohol use, diarrhoea/ARI prevalence, sanitation, electricity, insurance coverage, and literacy — 32 of these were selected for final modeling.</a:t>
            </a:r>
            <a:endParaRPr sz="920" b="0" i="0" u="none" strike="noStrike" cap="none">
              <a:solidFill>
                <a:schemeClr val="dk1"/>
              </a:solidFill>
              <a:latin typeface="Calibri"/>
              <a:ea typeface="Calibri"/>
              <a:cs typeface="Calibri"/>
              <a:sym typeface="Calibri"/>
            </a:endParaRPr>
          </a:p>
        </p:txBody>
      </p:sp>
      <p:sp>
        <p:nvSpPr>
          <p:cNvPr id="490" name="Google Shape;490;p9"/>
          <p:cNvSpPr/>
          <p:nvPr/>
        </p:nvSpPr>
        <p:spPr>
          <a:xfrm>
            <a:off x="457200" y="3049524"/>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Hospital Directory &amp; State GDP Time Series</a:t>
            </a:r>
            <a:endParaRPr sz="1150" b="0" i="0" u="none" strike="noStrike" cap="none">
              <a:solidFill>
                <a:schemeClr val="dk1"/>
              </a:solidFill>
              <a:latin typeface="Calibri"/>
              <a:ea typeface="Calibri"/>
              <a:cs typeface="Calibri"/>
              <a:sym typeface="Calibri"/>
            </a:endParaRPr>
          </a:p>
        </p:txBody>
      </p:sp>
      <p:sp>
        <p:nvSpPr>
          <p:cNvPr id="491" name="Google Shape;491;p9"/>
          <p:cNvSpPr/>
          <p:nvPr/>
        </p:nvSpPr>
        <p:spPr>
          <a:xfrm>
            <a:off x="457200" y="3268980"/>
            <a:ext cx="5943600" cy="909828"/>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Hospital Directory: a facility-level listing (name, address, district, category) used as our Provider Access proxy — 30,000+ rows, aggregated to a district-level hospital count. State GDP: an 8-point time series (1960-61 to 2023-24) of state-wise GDP share, sourced from national accounts data, used to compute a real CAGR growth rate feeding our Momentum pillar.</a:t>
            </a:r>
            <a:endParaRPr sz="920" b="0" i="0" u="none" strike="noStrike" cap="none">
              <a:solidFill>
                <a:schemeClr val="dk1"/>
              </a:solidFill>
              <a:latin typeface="Calibri"/>
              <a:ea typeface="Calibri"/>
              <a:cs typeface="Calibri"/>
              <a:sym typeface="Calibri"/>
            </a:endParaRPr>
          </a:p>
        </p:txBody>
      </p:sp>
      <p:sp>
        <p:nvSpPr>
          <p:cNvPr id="492" name="Google Shape;492;p9"/>
          <p:cNvSpPr/>
          <p:nvPr/>
        </p:nvSpPr>
        <p:spPr>
          <a:xfrm>
            <a:off x="457200" y="4215384"/>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HMIS &amp; Census 2011 Population</a:t>
            </a:r>
            <a:endParaRPr sz="1150" b="0" i="0" u="none" strike="noStrike" cap="none">
              <a:solidFill>
                <a:schemeClr val="dk1"/>
              </a:solidFill>
              <a:latin typeface="Calibri"/>
              <a:ea typeface="Calibri"/>
              <a:cs typeface="Calibri"/>
              <a:sym typeface="Calibri"/>
            </a:endParaRPr>
          </a:p>
        </p:txBody>
      </p:sp>
      <p:sp>
        <p:nvSpPr>
          <p:cNvPr id="493" name="Google Shape;493;p9"/>
          <p:cNvSpPr/>
          <p:nvPr/>
        </p:nvSpPr>
        <p:spPr>
          <a:xfrm>
            <a:off x="457200" y="4434840"/>
            <a:ext cx="5943600" cy="909828"/>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HMIS (Health Management Information System): monthly facility-reported service-delivery data from MoHFW, used here for childhood disease-indicator counts. Census 2011: India's decennial population census, providing our only genuine ground-truth population figure, used both as a scoring input and as the external validation benchmark for our apportionment fixes (total population check, -0.11% off actual).</a:t>
            </a:r>
            <a:endParaRPr sz="920" b="0" i="0" u="none" strike="noStrike" cap="none">
              <a:solidFill>
                <a:schemeClr val="dk1"/>
              </a:solidFill>
              <a:latin typeface="Calibri"/>
              <a:ea typeface="Calibri"/>
              <a:cs typeface="Calibri"/>
              <a:sym typeface="Calibri"/>
            </a:endParaRPr>
          </a:p>
        </p:txBody>
      </p:sp>
      <p:sp>
        <p:nvSpPr>
          <p:cNvPr id="494" name="Google Shape;494;p9"/>
          <p:cNvSpPr/>
          <p:nvPr/>
        </p:nvSpPr>
        <p:spPr>
          <a:xfrm>
            <a:off x="457200" y="5381244"/>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Summary Statistics — What the Numbers Show</a:t>
            </a:r>
            <a:endParaRPr sz="1150" b="0" i="0" u="none" strike="noStrike" cap="none">
              <a:solidFill>
                <a:schemeClr val="dk1"/>
              </a:solidFill>
              <a:latin typeface="Calibri"/>
              <a:ea typeface="Calibri"/>
              <a:cs typeface="Calibri"/>
              <a:sym typeface="Calibri"/>
            </a:endParaRPr>
          </a:p>
        </p:txBody>
      </p:sp>
      <p:sp>
        <p:nvSpPr>
          <p:cNvPr id="495" name="Google Shape;495;p9"/>
          <p:cNvSpPr/>
          <p:nvPr/>
        </p:nvSpPr>
        <p:spPr>
          <a:xfrm>
            <a:off x="457200" y="5600700"/>
            <a:ext cx="5943600" cy="909828"/>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Across all 706 districts: mean Overall MAI is approximately 0.21 with a standard deviation of ~0.06, indicating most districts cluster in a moderate band with a real, meaningful spread between the lowest and highest scorers (see table). Population per district ranges from a few thousand (Dibang Valley) to over 9 million (Bangalore), a genuinely wide range that is exactly why the population-correction step (see Results slides) mattered so much for a fair comparison.</a:t>
            </a:r>
            <a:endParaRPr sz="920" b="0" i="0" u="none" strike="noStrike" cap="none">
              <a:solidFill>
                <a:schemeClr val="dk1"/>
              </a:solidFill>
              <a:latin typeface="Calibri"/>
              <a:ea typeface="Calibri"/>
              <a:cs typeface="Calibri"/>
              <a:sym typeface="Calibri"/>
            </a:endParaRPr>
          </a:p>
        </p:txBody>
      </p:sp>
      <p:sp>
        <p:nvSpPr>
          <p:cNvPr id="496" name="Google Shape;496;p9"/>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9"/>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9"/>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500" name="Google Shape;500;p9"/>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9</a:t>
            </a:r>
            <a:endParaRPr sz="600" b="0" i="0" u="none" strike="noStrike" cap="none">
              <a:solidFill>
                <a:schemeClr val="dk1"/>
              </a:solidFill>
              <a:latin typeface="Calibri"/>
              <a:ea typeface="Calibri"/>
              <a:cs typeface="Calibri"/>
              <a:sym typeface="Calibri"/>
            </a:endParaRPr>
          </a:p>
        </p:txBody>
      </p:sp>
      <p:pic>
        <p:nvPicPr>
          <p:cNvPr id="501" name="Google Shape;501;p9" title="ChatGPT Image Jul 21, 2026, 08_09_15 PM.png"/>
          <p:cNvPicPr preferRelativeResize="0"/>
          <p:nvPr/>
        </p:nvPicPr>
        <p:blipFill>
          <a:blip r:embed="rId5">
            <a:alphaModFix/>
          </a:blip>
          <a:stretch>
            <a:fillRect/>
          </a:stretch>
        </p:blipFill>
        <p:spPr>
          <a:xfrm>
            <a:off x="6647775" y="1645900"/>
            <a:ext cx="5610839" cy="501092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06"/>
        <p:cNvGrpSpPr/>
        <p:nvPr/>
      </p:nvGrpSpPr>
      <p:grpSpPr>
        <a:xfrm>
          <a:off x="0" y="0"/>
          <a:ext cx="0" cy="0"/>
          <a:chOff x="0" y="0"/>
          <a:chExt cx="0" cy="0"/>
        </a:xfrm>
      </p:grpSpPr>
      <p:sp>
        <p:nvSpPr>
          <p:cNvPr id="507" name="Google Shape;507;p10"/>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8" name="Google Shape;508;p10"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509" name="Google Shape;509;p10"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510" name="Google Shape;510;p10"/>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511" name="Google Shape;511;p10"/>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512" name="Google Shape;512;p10"/>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EDA II </a:t>
            </a:r>
            <a:r>
              <a:rPr lang="en-US" sz="2200" b="1">
                <a:solidFill>
                  <a:srgbClr val="160A6E"/>
                </a:solidFill>
              </a:rPr>
              <a:t>: </a:t>
            </a:r>
            <a:r>
              <a:rPr lang="en-US" sz="2200" b="1" i="0" u="none" strike="noStrike" cap="none">
                <a:solidFill>
                  <a:srgbClr val="160A6E"/>
                </a:solidFill>
                <a:latin typeface="Arial"/>
                <a:ea typeface="Arial"/>
                <a:cs typeface="Arial"/>
                <a:sym typeface="Arial"/>
              </a:rPr>
              <a:t> Correlation Matrix Deep-Dive &amp; Predictor Interactions</a:t>
            </a:r>
            <a:endParaRPr sz="2200" b="0" i="0" u="none" strike="noStrike" cap="none">
              <a:solidFill>
                <a:schemeClr val="dk1"/>
              </a:solidFill>
              <a:latin typeface="Calibri"/>
              <a:ea typeface="Calibri"/>
              <a:cs typeface="Calibri"/>
              <a:sym typeface="Calibri"/>
            </a:endParaRPr>
          </a:p>
        </p:txBody>
      </p:sp>
      <p:sp>
        <p:nvSpPr>
          <p:cNvPr id="513" name="Google Shape;513;p10"/>
          <p:cNvSpPr/>
          <p:nvPr/>
        </p:nvSpPr>
        <p:spPr>
          <a:xfrm>
            <a:off x="320040" y="1481328"/>
            <a:ext cx="115214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280"/>
              </a:buClr>
              <a:buSzPts val="1050"/>
              <a:buFont typeface="Arial"/>
              <a:buNone/>
            </a:pPr>
            <a:r>
              <a:rPr lang="en-US" sz="1050" b="0" i="1" u="none" strike="noStrike" cap="none">
                <a:solidFill>
                  <a:srgbClr val="6B6280"/>
                </a:solidFill>
                <a:latin typeface="Arial"/>
                <a:ea typeface="Arial"/>
                <a:cs typeface="Arial"/>
                <a:sym typeface="Arial"/>
              </a:rPr>
              <a:t>A correlation matrix reveals far more than any single number — here is what ours actually shows, walked through explicitly.</a:t>
            </a:r>
            <a:endParaRPr sz="1050" b="0" i="0" u="none" strike="noStrike" cap="none">
              <a:solidFill>
                <a:schemeClr val="dk1"/>
              </a:solidFill>
              <a:latin typeface="Calibri"/>
              <a:ea typeface="Calibri"/>
              <a:cs typeface="Calibri"/>
              <a:sym typeface="Calibri"/>
            </a:endParaRPr>
          </a:p>
        </p:txBody>
      </p:sp>
      <p:sp>
        <p:nvSpPr>
          <p:cNvPr id="514" name="Google Shape;514;p10"/>
          <p:cNvSpPr/>
          <p:nvPr/>
        </p:nvSpPr>
        <p:spPr>
          <a:xfrm>
            <a:off x="274320" y="1773936"/>
            <a:ext cx="6309360" cy="4882896"/>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0"/>
          <p:cNvSpPr/>
          <p:nvPr/>
        </p:nvSpPr>
        <p:spPr>
          <a:xfrm>
            <a:off x="457200" y="1883664"/>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Why a Correlation Matrix Matters Here</a:t>
            </a:r>
            <a:endParaRPr sz="1150" b="0" i="0" u="none" strike="noStrike" cap="none">
              <a:solidFill>
                <a:schemeClr val="dk1"/>
              </a:solidFill>
              <a:latin typeface="Calibri"/>
              <a:ea typeface="Calibri"/>
              <a:cs typeface="Calibri"/>
              <a:sym typeface="Calibri"/>
            </a:endParaRPr>
          </a:p>
        </p:txBody>
      </p:sp>
      <p:sp>
        <p:nvSpPr>
          <p:cNvPr id="516" name="Google Shape;516;p10"/>
          <p:cNvSpPr/>
          <p:nvPr/>
        </p:nvSpPr>
        <p:spPr>
          <a:xfrm>
            <a:off x="377100" y="1993395"/>
            <a:ext cx="5943600" cy="909900"/>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Before combining 36 variables into an index, we need to know which variables move together (risking double-counting the same underlying signal) and which are genuinely independent (each contributing unique information). A correlation matrix across all 66 raw NFHS indicators answers exactly this, and directly shaped which 32 indicators we ultimately selected.</a:t>
            </a:r>
            <a:endParaRPr sz="920" b="0" i="0" u="none" strike="noStrike" cap="none">
              <a:solidFill>
                <a:schemeClr val="dk1"/>
              </a:solidFill>
              <a:latin typeface="Calibri"/>
              <a:ea typeface="Calibri"/>
              <a:cs typeface="Calibri"/>
              <a:sym typeface="Calibri"/>
            </a:endParaRPr>
          </a:p>
        </p:txBody>
      </p:sp>
      <p:sp>
        <p:nvSpPr>
          <p:cNvPr id="517" name="Google Shape;517;p10"/>
          <p:cNvSpPr/>
          <p:nvPr/>
        </p:nvSpPr>
        <p:spPr>
          <a:xfrm>
            <a:off x="417150" y="2916949"/>
            <a:ext cx="5943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Reading </a:t>
            </a:r>
            <a:r>
              <a:rPr lang="en-US" sz="1150" b="1">
                <a:solidFill>
                  <a:srgbClr val="5F32F2"/>
                </a:solidFill>
              </a:rPr>
              <a:t>the</a:t>
            </a:r>
            <a:r>
              <a:rPr lang="en-US" sz="1150" b="1" i="0" u="none" strike="noStrike" cap="none">
                <a:solidFill>
                  <a:srgbClr val="5F32F2"/>
                </a:solidFill>
                <a:latin typeface="Arial"/>
                <a:ea typeface="Arial"/>
                <a:cs typeface="Arial"/>
                <a:sym typeface="Arial"/>
              </a:rPr>
              <a:t> Matrix</a:t>
            </a:r>
            <a:r>
              <a:rPr lang="en-US" sz="1150" b="1">
                <a:solidFill>
                  <a:srgbClr val="5F32F2"/>
                </a:solidFill>
              </a:rPr>
              <a:t>: </a:t>
            </a:r>
            <a:r>
              <a:rPr lang="en-US" sz="1150" b="1" i="0" u="none" strike="noStrike" cap="none">
                <a:solidFill>
                  <a:srgbClr val="5F32F2"/>
                </a:solidFill>
                <a:latin typeface="Arial"/>
                <a:ea typeface="Arial"/>
                <a:cs typeface="Arial"/>
                <a:sym typeface="Arial"/>
              </a:rPr>
              <a:t> Three Clear Clusters</a:t>
            </a:r>
            <a:endParaRPr sz="1150" b="0" i="0" u="none" strike="noStrike" cap="none">
              <a:solidFill>
                <a:schemeClr val="dk1"/>
              </a:solidFill>
              <a:latin typeface="Calibri"/>
              <a:ea typeface="Calibri"/>
              <a:cs typeface="Calibri"/>
              <a:sym typeface="Calibri"/>
            </a:endParaRPr>
          </a:p>
        </p:txBody>
      </p:sp>
      <p:sp>
        <p:nvSpPr>
          <p:cNvPr id="518" name="Google Shape;518;p10"/>
          <p:cNvSpPr/>
          <p:nvPr/>
        </p:nvSpPr>
        <p:spPr>
          <a:xfrm>
            <a:off x="457200" y="3268980"/>
            <a:ext cx="5943600" cy="909900"/>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First: NFHS-4 and NFHS-5 versions of the same indicator are the strongest correlated pairs wherever both rounds exist (r typically above 0.7) </a:t>
            </a:r>
            <a:r>
              <a:rPr lang="en-US" sz="920">
                <a:solidFill>
                  <a:srgbClr val="241B3D"/>
                </a:solidFill>
              </a:rPr>
              <a:t>; </a:t>
            </a:r>
            <a:r>
              <a:rPr lang="en-US" sz="920" b="0" i="0" u="none" strike="noStrike" cap="none">
                <a:solidFill>
                  <a:srgbClr val="241B3D"/>
                </a:solidFill>
                <a:latin typeface="Arial"/>
                <a:ea typeface="Arial"/>
                <a:cs typeface="Arial"/>
                <a:sym typeface="Arial"/>
              </a:rPr>
              <a:t>expected, since a district persistently high or low on an indicator stays that way across survey rounds. Second: blood-pressure and blood-sugar indicators cluster together — chronic risk factors move together across districts, validating our decision to weight them as one coherent Chronic pillar rather than treating each as independent. Third: literacy, sanitation, electricity, and drinking-water indicators form their own separate cluster, consistent with a shared underlying socioeconomic development factor distinct from health-specific measures.</a:t>
            </a:r>
            <a:endParaRPr sz="920" b="0" i="0" u="none" strike="noStrike" cap="none">
              <a:solidFill>
                <a:schemeClr val="dk1"/>
              </a:solidFill>
              <a:latin typeface="Calibri"/>
              <a:ea typeface="Calibri"/>
              <a:cs typeface="Calibri"/>
              <a:sym typeface="Calibri"/>
            </a:endParaRPr>
          </a:p>
        </p:txBody>
      </p:sp>
      <p:sp>
        <p:nvSpPr>
          <p:cNvPr id="519" name="Google Shape;519;p10"/>
          <p:cNvSpPr/>
          <p:nvPr/>
        </p:nvSpPr>
        <p:spPr>
          <a:xfrm>
            <a:off x="417150" y="4329534"/>
            <a:ext cx="5943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Predictor Interaction Example 1: Chronic MAI and Momentum</a:t>
            </a:r>
            <a:endParaRPr sz="1150" b="0" i="0" u="none" strike="noStrike" cap="none">
              <a:solidFill>
                <a:schemeClr val="dk1"/>
              </a:solidFill>
              <a:latin typeface="Calibri"/>
              <a:ea typeface="Calibri"/>
              <a:cs typeface="Calibri"/>
              <a:sym typeface="Calibri"/>
            </a:endParaRPr>
          </a:p>
        </p:txBody>
      </p:sp>
      <p:sp>
        <p:nvSpPr>
          <p:cNvPr id="520" name="Google Shape;520;p10"/>
          <p:cNvSpPr/>
          <p:nvPr/>
        </p:nvSpPr>
        <p:spPr>
          <a:xfrm>
            <a:off x="457200" y="4434840"/>
            <a:ext cx="5943600" cy="909828"/>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Testing whether our own derived Chronic MAI relates to Momentum (income growth), we find a weak-positive correlation (r = 0.259)</a:t>
            </a:r>
            <a:r>
              <a:rPr lang="en-US" sz="920">
                <a:solidFill>
                  <a:srgbClr val="241B3D"/>
                </a:solidFill>
              </a:rPr>
              <a:t>. D</a:t>
            </a:r>
            <a:r>
              <a:rPr lang="en-US" sz="920" b="0" i="0" u="none" strike="noStrike" cap="none">
                <a:solidFill>
                  <a:srgbClr val="241B3D"/>
                </a:solidFill>
                <a:latin typeface="Arial"/>
                <a:ea typeface="Arial"/>
                <a:cs typeface="Arial"/>
                <a:sym typeface="Arial"/>
              </a:rPr>
              <a:t>istricts with higher chronic-disease burden show modestly higher economic momentum too, plausibly because both track with urbanisation and development level. This is weak enough that Chronic and Momentum remain meaningfully distinct pillars, not redundant proxies for the same thing.</a:t>
            </a:r>
            <a:endParaRPr sz="920" b="0" i="0" u="none" strike="noStrike" cap="none">
              <a:solidFill>
                <a:schemeClr val="dk1"/>
              </a:solidFill>
              <a:latin typeface="Calibri"/>
              <a:ea typeface="Calibri"/>
              <a:cs typeface="Calibri"/>
              <a:sym typeface="Calibri"/>
            </a:endParaRPr>
          </a:p>
        </p:txBody>
      </p:sp>
      <p:sp>
        <p:nvSpPr>
          <p:cNvPr id="521" name="Google Shape;521;p10"/>
          <p:cNvSpPr/>
          <p:nvPr/>
        </p:nvSpPr>
        <p:spPr>
          <a:xfrm>
            <a:off x="377100" y="5271519"/>
            <a:ext cx="5943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Predictor Interaction Example 2: A Critical Data-Availability Finding</a:t>
            </a:r>
            <a:endParaRPr sz="1150" b="0" i="0" u="none" strike="noStrike" cap="none">
              <a:solidFill>
                <a:schemeClr val="dk1"/>
              </a:solidFill>
              <a:latin typeface="Calibri"/>
              <a:ea typeface="Calibri"/>
              <a:cs typeface="Calibri"/>
              <a:sym typeface="Calibri"/>
            </a:endParaRPr>
          </a:p>
        </p:txBody>
      </p:sp>
      <p:sp>
        <p:nvSpPr>
          <p:cNvPr id="522" name="Google Shape;522;p10"/>
          <p:cNvSpPr/>
          <p:nvPr/>
        </p:nvSpPr>
        <p:spPr>
          <a:xfrm>
            <a:off x="320050" y="5391525"/>
            <a:ext cx="5943600" cy="909900"/>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Cancer-screening and detailed blood-sugar/blood-pressure indicators show 100% non-null but 0% non-zero NFHS-4 values</a:t>
            </a:r>
            <a:r>
              <a:rPr lang="en-US" sz="920">
                <a:solidFill>
                  <a:srgbClr val="241B3D"/>
                </a:solidFill>
              </a:rPr>
              <a:t>.</a:t>
            </a:r>
            <a:r>
              <a:rPr lang="en-US" sz="920" b="0" i="0" u="none" strike="noStrike" cap="none">
                <a:solidFill>
                  <a:srgbClr val="241B3D"/>
                </a:solidFill>
                <a:latin typeface="Arial"/>
                <a:ea typeface="Arial"/>
                <a:cs typeface="Arial"/>
                <a:sym typeface="Arial"/>
              </a:rPr>
              <a:t> </a:t>
            </a:r>
            <a:r>
              <a:rPr lang="en-US" sz="920">
                <a:solidFill>
                  <a:srgbClr val="241B3D"/>
                </a:solidFill>
              </a:rPr>
              <a:t>T</a:t>
            </a:r>
            <a:r>
              <a:rPr lang="en-US" sz="920" b="0" i="0" u="none" strike="noStrike" cap="none">
                <a:solidFill>
                  <a:srgbClr val="241B3D"/>
                </a:solidFill>
                <a:latin typeface="Arial"/>
                <a:ea typeface="Arial"/>
                <a:cs typeface="Arial"/>
                <a:sym typeface="Arial"/>
              </a:rPr>
              <a:t>hey simply weren't collected in that survey round, encoded as a placeholder zero rather than a true measurement. Only 12 of our 32 selected indicators genuinely support a NFHS4→NFHS5 trend calculation; we explicitly gated our Momentum layer to use only these 12, rather than silently computing a fabricated 'change' score on indicators that never had a real baseline.</a:t>
            </a:r>
            <a:endParaRPr sz="920" b="0" i="0" u="none" strike="noStrike" cap="none">
              <a:solidFill>
                <a:schemeClr val="dk1"/>
              </a:solidFill>
              <a:latin typeface="Calibri"/>
              <a:ea typeface="Calibri"/>
              <a:cs typeface="Calibri"/>
              <a:sym typeface="Calibri"/>
            </a:endParaRPr>
          </a:p>
        </p:txBody>
      </p:sp>
      <p:sp>
        <p:nvSpPr>
          <p:cNvPr id="523" name="Google Shape;523;p10"/>
          <p:cNvSpPr/>
          <p:nvPr/>
        </p:nvSpPr>
        <p:spPr>
          <a:xfrm>
            <a:off x="6812280" y="4306824"/>
            <a:ext cx="2445900" cy="2349900"/>
          </a:xfrm>
          <a:prstGeom prst="rect">
            <a:avLst/>
          </a:prstGeom>
          <a:solidFill>
            <a:srgbClr val="5F32F2"/>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0"/>
          <p:cNvSpPr/>
          <p:nvPr/>
        </p:nvSpPr>
        <p:spPr>
          <a:xfrm>
            <a:off x="6885432" y="4343400"/>
            <a:ext cx="22998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How We Read a Correlation Matrix</a:t>
            </a:r>
            <a:endParaRPr sz="800" b="0" i="0" u="none" strike="noStrike" cap="none">
              <a:solidFill>
                <a:schemeClr val="dk1"/>
              </a:solidFill>
              <a:latin typeface="Calibri"/>
              <a:ea typeface="Calibri"/>
              <a:cs typeface="Calibri"/>
              <a:sym typeface="Calibri"/>
            </a:endParaRPr>
          </a:p>
        </p:txBody>
      </p:sp>
      <p:sp>
        <p:nvSpPr>
          <p:cNvPr id="525" name="Google Shape;525;p10"/>
          <p:cNvSpPr/>
          <p:nvPr/>
        </p:nvSpPr>
        <p:spPr>
          <a:xfrm>
            <a:off x="6922008" y="4636008"/>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0"/>
          <p:cNvSpPr/>
          <p:nvPr/>
        </p:nvSpPr>
        <p:spPr>
          <a:xfrm>
            <a:off x="6958584" y="4636008"/>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Scan for near-1.0</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pairs (redundancy)</a:t>
            </a:r>
            <a:endParaRPr sz="760" b="0" i="0" u="none" strike="noStrike" cap="none">
              <a:solidFill>
                <a:schemeClr val="dk1"/>
              </a:solidFill>
              <a:latin typeface="Calibri"/>
              <a:ea typeface="Calibri"/>
              <a:cs typeface="Calibri"/>
              <a:sym typeface="Calibri"/>
            </a:endParaRPr>
          </a:p>
        </p:txBody>
      </p:sp>
      <p:sp>
        <p:nvSpPr>
          <p:cNvPr id="527" name="Google Shape;527;p10"/>
          <p:cNvSpPr/>
          <p:nvPr/>
        </p:nvSpPr>
        <p:spPr>
          <a:xfrm>
            <a:off x="7962138" y="5077206"/>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0"/>
          <p:cNvSpPr/>
          <p:nvPr/>
        </p:nvSpPr>
        <p:spPr>
          <a:xfrm>
            <a:off x="6922008" y="5132070"/>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0"/>
          <p:cNvSpPr/>
          <p:nvPr/>
        </p:nvSpPr>
        <p:spPr>
          <a:xfrm>
            <a:off x="6958584" y="5132070"/>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Identify variable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clusters</a:t>
            </a:r>
            <a:endParaRPr sz="760" b="0" i="0" u="none" strike="noStrike" cap="none">
              <a:solidFill>
                <a:schemeClr val="dk1"/>
              </a:solidFill>
              <a:latin typeface="Calibri"/>
              <a:ea typeface="Calibri"/>
              <a:cs typeface="Calibri"/>
              <a:sym typeface="Calibri"/>
            </a:endParaRPr>
          </a:p>
        </p:txBody>
      </p:sp>
      <p:sp>
        <p:nvSpPr>
          <p:cNvPr id="530" name="Google Shape;530;p10"/>
          <p:cNvSpPr/>
          <p:nvPr/>
        </p:nvSpPr>
        <p:spPr>
          <a:xfrm>
            <a:off x="7962138" y="5573268"/>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0"/>
          <p:cNvSpPr/>
          <p:nvPr/>
        </p:nvSpPr>
        <p:spPr>
          <a:xfrm>
            <a:off x="6922008" y="5628132"/>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10"/>
          <p:cNvSpPr/>
          <p:nvPr/>
        </p:nvSpPr>
        <p:spPr>
          <a:xfrm>
            <a:off x="6958584" y="5628132"/>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Check cross-cluster</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independence</a:t>
            </a:r>
            <a:endParaRPr sz="760" b="0" i="0" u="none" strike="noStrike" cap="none">
              <a:solidFill>
                <a:schemeClr val="dk1"/>
              </a:solidFill>
              <a:latin typeface="Calibri"/>
              <a:ea typeface="Calibri"/>
              <a:cs typeface="Calibri"/>
              <a:sym typeface="Calibri"/>
            </a:endParaRPr>
          </a:p>
        </p:txBody>
      </p:sp>
      <p:sp>
        <p:nvSpPr>
          <p:cNvPr id="533" name="Google Shape;533;p10"/>
          <p:cNvSpPr/>
          <p:nvPr/>
        </p:nvSpPr>
        <p:spPr>
          <a:xfrm>
            <a:off x="7962138" y="6069330"/>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0"/>
          <p:cNvSpPr/>
          <p:nvPr/>
        </p:nvSpPr>
        <p:spPr>
          <a:xfrm>
            <a:off x="6922008" y="6124194"/>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0"/>
          <p:cNvSpPr/>
          <p:nvPr/>
        </p:nvSpPr>
        <p:spPr>
          <a:xfrm>
            <a:off x="6958584" y="6124194"/>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Finalize non-</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redundant variable set</a:t>
            </a:r>
            <a:endParaRPr sz="760" b="0" i="0" u="none" strike="noStrike" cap="none">
              <a:solidFill>
                <a:schemeClr val="dk1"/>
              </a:solidFill>
              <a:latin typeface="Calibri"/>
              <a:ea typeface="Calibri"/>
              <a:cs typeface="Calibri"/>
              <a:sym typeface="Calibri"/>
            </a:endParaRPr>
          </a:p>
        </p:txBody>
      </p:sp>
      <p:sp>
        <p:nvSpPr>
          <p:cNvPr id="536" name="Google Shape;536;p10"/>
          <p:cNvSpPr/>
          <p:nvPr/>
        </p:nvSpPr>
        <p:spPr>
          <a:xfrm>
            <a:off x="9441180" y="4306824"/>
            <a:ext cx="2445900" cy="2349900"/>
          </a:xfrm>
          <a:prstGeom prst="rect">
            <a:avLst/>
          </a:prstGeom>
          <a:solidFill>
            <a:srgbClr val="38521F"/>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10"/>
          <p:cNvSpPr/>
          <p:nvPr/>
        </p:nvSpPr>
        <p:spPr>
          <a:xfrm>
            <a:off x="9514332" y="4343400"/>
            <a:ext cx="2299800" cy="2925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Trend-Capability Gating</a:t>
            </a:r>
            <a:endParaRPr sz="800" b="0" i="0" u="none" strike="noStrike" cap="none">
              <a:solidFill>
                <a:schemeClr val="dk1"/>
              </a:solidFill>
              <a:latin typeface="Calibri"/>
              <a:ea typeface="Calibri"/>
              <a:cs typeface="Calibri"/>
              <a:sym typeface="Calibri"/>
            </a:endParaRPr>
          </a:p>
        </p:txBody>
      </p:sp>
      <p:sp>
        <p:nvSpPr>
          <p:cNvPr id="538" name="Google Shape;538;p10"/>
          <p:cNvSpPr/>
          <p:nvPr/>
        </p:nvSpPr>
        <p:spPr>
          <a:xfrm>
            <a:off x="9550908" y="4636008"/>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0"/>
          <p:cNvSpPr/>
          <p:nvPr/>
        </p:nvSpPr>
        <p:spPr>
          <a:xfrm>
            <a:off x="9587484" y="4636008"/>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Check NFHS4</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non-zero values</a:t>
            </a:r>
            <a:endParaRPr sz="760" b="0" i="0" u="none" strike="noStrike" cap="none">
              <a:solidFill>
                <a:schemeClr val="dk1"/>
              </a:solidFill>
              <a:latin typeface="Calibri"/>
              <a:ea typeface="Calibri"/>
              <a:cs typeface="Calibri"/>
              <a:sym typeface="Calibri"/>
            </a:endParaRPr>
          </a:p>
        </p:txBody>
      </p:sp>
      <p:sp>
        <p:nvSpPr>
          <p:cNvPr id="540" name="Google Shape;540;p10"/>
          <p:cNvSpPr/>
          <p:nvPr/>
        </p:nvSpPr>
        <p:spPr>
          <a:xfrm>
            <a:off x="10591038" y="5077206"/>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10"/>
          <p:cNvSpPr/>
          <p:nvPr/>
        </p:nvSpPr>
        <p:spPr>
          <a:xfrm>
            <a:off x="9550908" y="5132070"/>
            <a:ext cx="2226564" cy="436626"/>
          </a:xfrm>
          <a:prstGeom prst="roundRect">
            <a:avLst>
              <a:gd name="adj" fmla="val 10471"/>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10"/>
          <p:cNvSpPr/>
          <p:nvPr/>
        </p:nvSpPr>
        <p:spPr>
          <a:xfrm>
            <a:off x="9587484" y="5132070"/>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20 indicators:</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NFHS-5-only</a:t>
            </a:r>
            <a:endParaRPr sz="760" b="0" i="0" u="none" strike="noStrike" cap="none">
              <a:solidFill>
                <a:schemeClr val="dk1"/>
              </a:solidFill>
              <a:latin typeface="Calibri"/>
              <a:ea typeface="Calibri"/>
              <a:cs typeface="Calibri"/>
              <a:sym typeface="Calibri"/>
            </a:endParaRPr>
          </a:p>
        </p:txBody>
      </p:sp>
      <p:sp>
        <p:nvSpPr>
          <p:cNvPr id="543" name="Google Shape;543;p10"/>
          <p:cNvSpPr/>
          <p:nvPr/>
        </p:nvSpPr>
        <p:spPr>
          <a:xfrm>
            <a:off x="10591038" y="5573268"/>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0"/>
          <p:cNvSpPr/>
          <p:nvPr/>
        </p:nvSpPr>
        <p:spPr>
          <a:xfrm>
            <a:off x="9550908" y="5628132"/>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10"/>
          <p:cNvSpPr/>
          <p:nvPr/>
        </p:nvSpPr>
        <p:spPr>
          <a:xfrm>
            <a:off x="9587484" y="5628132"/>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12 indicators:</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genuinely trend-capable</a:t>
            </a:r>
            <a:endParaRPr sz="760" b="0" i="0" u="none" strike="noStrike" cap="none">
              <a:solidFill>
                <a:schemeClr val="dk1"/>
              </a:solidFill>
              <a:latin typeface="Calibri"/>
              <a:ea typeface="Calibri"/>
              <a:cs typeface="Calibri"/>
              <a:sym typeface="Calibri"/>
            </a:endParaRPr>
          </a:p>
        </p:txBody>
      </p:sp>
      <p:sp>
        <p:nvSpPr>
          <p:cNvPr id="546" name="Google Shape;546;p10"/>
          <p:cNvSpPr/>
          <p:nvPr/>
        </p:nvSpPr>
        <p:spPr>
          <a:xfrm>
            <a:off x="10591038" y="6069330"/>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10"/>
          <p:cNvSpPr/>
          <p:nvPr/>
        </p:nvSpPr>
        <p:spPr>
          <a:xfrm>
            <a:off x="9550908" y="6124194"/>
            <a:ext cx="2226564" cy="436626"/>
          </a:xfrm>
          <a:prstGeom prst="roundRect">
            <a:avLst>
              <a:gd name="adj" fmla="val 10471"/>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0"/>
          <p:cNvSpPr/>
          <p:nvPr/>
        </p:nvSpPr>
        <p:spPr>
          <a:xfrm>
            <a:off x="9587484" y="6124194"/>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Gate Momentum</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layer accordingly</a:t>
            </a:r>
            <a:endParaRPr sz="760" b="0" i="0" u="none" strike="noStrike" cap="none">
              <a:solidFill>
                <a:schemeClr val="dk1"/>
              </a:solidFill>
              <a:latin typeface="Calibri"/>
              <a:ea typeface="Calibri"/>
              <a:cs typeface="Calibri"/>
              <a:sym typeface="Calibri"/>
            </a:endParaRPr>
          </a:p>
        </p:txBody>
      </p:sp>
      <p:sp>
        <p:nvSpPr>
          <p:cNvPr id="549" name="Google Shape;549;p10"/>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10"/>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10"/>
          <p:cNvSpPr/>
          <p:nvPr/>
        </p:nvSpPr>
        <p:spPr>
          <a:xfrm>
            <a:off x="4648200" y="6565392"/>
            <a:ext cx="2895600" cy="292608"/>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10"/>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10"/>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10"/>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10"/>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556" name="Google Shape;556;p10"/>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10</a:t>
            </a:r>
            <a:endParaRPr sz="600" b="0" i="0" u="none" strike="noStrike" cap="none">
              <a:solidFill>
                <a:schemeClr val="dk1"/>
              </a:solidFill>
              <a:latin typeface="Calibri"/>
              <a:ea typeface="Calibri"/>
              <a:cs typeface="Calibri"/>
              <a:sym typeface="Calibri"/>
            </a:endParaRPr>
          </a:p>
        </p:txBody>
      </p:sp>
      <p:sp>
        <p:nvSpPr>
          <p:cNvPr id="557" name="Google Shape;557;p10"/>
          <p:cNvSpPr/>
          <p:nvPr/>
        </p:nvSpPr>
        <p:spPr>
          <a:xfrm>
            <a:off x="6718550" y="1779393"/>
            <a:ext cx="2645100" cy="2337300"/>
          </a:xfrm>
          <a:prstGeom prst="rect">
            <a:avLst/>
          </a:prstGeom>
          <a:solidFill>
            <a:srgbClr val="FFFFFF"/>
          </a:solidFill>
          <a:ln w="12625" cap="flat" cmpd="sng">
            <a:solidFill>
              <a:srgbClr val="D9D0EC"/>
            </a:solidFill>
            <a:prstDash val="solid"/>
            <a:round/>
            <a:headEnd type="none" w="sm" len="sm"/>
            <a:tailEnd type="none" w="sm" len="sm"/>
          </a:ln>
          <a:effectLst>
            <a:outerShdw blurRad="63151" dist="15156" dir="5400000" algn="bl" rotWithShape="0">
              <a:srgbClr val="000000">
                <a:alpha val="10200"/>
              </a:srgbClr>
            </a:outerShdw>
          </a:effectLst>
        </p:spPr>
        <p:txBody>
          <a:bodyPr spcFirstLastPara="1" wrap="square" lIns="90900" tIns="90900" rIns="90900" bIns="90900" anchor="ctr" anchorCtr="0">
            <a:noAutofit/>
          </a:bodyPr>
          <a:lstStyle/>
          <a:p>
            <a:pPr marL="0" lvl="0" indent="0" algn="l" rtl="0">
              <a:spcBef>
                <a:spcPts val="0"/>
              </a:spcBef>
              <a:spcAft>
                <a:spcPts val="0"/>
              </a:spcAft>
              <a:buNone/>
            </a:pPr>
            <a:endParaRPr sz="1392"/>
          </a:p>
        </p:txBody>
      </p:sp>
      <p:sp>
        <p:nvSpPr>
          <p:cNvPr id="558" name="Google Shape;558;p10"/>
          <p:cNvSpPr/>
          <p:nvPr/>
        </p:nvSpPr>
        <p:spPr>
          <a:xfrm>
            <a:off x="6757288" y="1735367"/>
            <a:ext cx="2556000" cy="163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796"/>
              <a:buFont typeface="Arial"/>
              <a:buNone/>
            </a:pPr>
            <a:r>
              <a:rPr lang="en-US" sz="796" b="1" i="0" u="none" strike="noStrike" cap="none">
                <a:solidFill>
                  <a:srgbClr val="160A6E"/>
                </a:solidFill>
                <a:latin typeface="Arial"/>
                <a:ea typeface="Arial"/>
                <a:cs typeface="Arial"/>
                <a:sym typeface="Arial"/>
              </a:rPr>
              <a:t>Correlation Matrix (66 NFHS Indicators)</a:t>
            </a:r>
            <a:endParaRPr sz="796" b="0" i="0" u="none" strike="noStrike" cap="none">
              <a:solidFill>
                <a:schemeClr val="dk1"/>
              </a:solidFill>
              <a:latin typeface="Calibri"/>
              <a:ea typeface="Calibri"/>
              <a:cs typeface="Calibri"/>
              <a:sym typeface="Calibri"/>
            </a:endParaRPr>
          </a:p>
        </p:txBody>
      </p:sp>
      <p:pic>
        <p:nvPicPr>
          <p:cNvPr id="559" name="Google Shape;559;p10" descr="charts/16_correlation_heatmap.png"/>
          <p:cNvPicPr preferRelativeResize="0"/>
          <p:nvPr/>
        </p:nvPicPr>
        <p:blipFill rotWithShape="1">
          <a:blip r:embed="rId5">
            <a:alphaModFix/>
          </a:blip>
          <a:srcRect/>
          <a:stretch/>
        </p:blipFill>
        <p:spPr>
          <a:xfrm>
            <a:off x="6794702" y="1983942"/>
            <a:ext cx="2515425" cy="1682345"/>
          </a:xfrm>
          <a:prstGeom prst="rect">
            <a:avLst/>
          </a:prstGeom>
          <a:noFill/>
          <a:ln>
            <a:noFill/>
          </a:ln>
        </p:spPr>
      </p:pic>
      <p:sp>
        <p:nvSpPr>
          <p:cNvPr id="560" name="Google Shape;560;p10"/>
          <p:cNvSpPr/>
          <p:nvPr/>
        </p:nvSpPr>
        <p:spPr>
          <a:xfrm>
            <a:off x="6779613" y="3663247"/>
            <a:ext cx="2556000" cy="3819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27"/>
              <a:buFont typeface="Arial"/>
              <a:buNone/>
            </a:pPr>
            <a:r>
              <a:rPr lang="en-US" sz="627" b="0" i="1" u="none" strike="noStrike" cap="none">
                <a:solidFill>
                  <a:schemeClr val="dk1"/>
                </a:solidFill>
                <a:latin typeface="Arial"/>
                <a:ea typeface="Arial"/>
                <a:cs typeface="Arial"/>
                <a:sym typeface="Arial"/>
              </a:rPr>
              <a:t>Heatmap: pairwise correlation (dark red = strong positive, dark blue = strong negative) across all 66 raw NFHS-4/5 indicators. The three diagonal-adjacent bright blocks are the NFHS4-NFHS5 paired indicators, chronic risk-factor cluster, and infrastructure cluster discussed at left.</a:t>
            </a:r>
            <a:endParaRPr sz="627" b="0" i="0" u="none" strike="noStrike" cap="none">
              <a:solidFill>
                <a:schemeClr val="dk1"/>
              </a:solidFill>
              <a:latin typeface="Calibri"/>
              <a:ea typeface="Calibri"/>
              <a:cs typeface="Calibri"/>
              <a:sym typeface="Calibri"/>
            </a:endParaRPr>
          </a:p>
        </p:txBody>
      </p:sp>
      <p:sp>
        <p:nvSpPr>
          <p:cNvPr id="561" name="Google Shape;561;p10"/>
          <p:cNvSpPr/>
          <p:nvPr/>
        </p:nvSpPr>
        <p:spPr>
          <a:xfrm>
            <a:off x="9426188" y="1766577"/>
            <a:ext cx="2552400" cy="2337300"/>
          </a:xfrm>
          <a:prstGeom prst="rect">
            <a:avLst/>
          </a:prstGeom>
          <a:solidFill>
            <a:srgbClr val="FFFFFF"/>
          </a:solidFill>
          <a:ln w="12625" cap="flat" cmpd="sng">
            <a:solidFill>
              <a:srgbClr val="D9D0EC"/>
            </a:solidFill>
            <a:prstDash val="solid"/>
            <a:round/>
            <a:headEnd type="none" w="sm" len="sm"/>
            <a:tailEnd type="none" w="sm" len="sm"/>
          </a:ln>
          <a:effectLst>
            <a:outerShdw blurRad="63148" dist="15156" dir="5400000" algn="bl" rotWithShape="0">
              <a:srgbClr val="000000">
                <a:alpha val="10200"/>
              </a:srgbClr>
            </a:outerShdw>
          </a:effectLst>
        </p:spPr>
        <p:txBody>
          <a:bodyPr spcFirstLastPara="1" wrap="square" lIns="90900" tIns="90900" rIns="90900" bIns="90900" anchor="ctr" anchorCtr="0">
            <a:noAutofit/>
          </a:bodyPr>
          <a:lstStyle/>
          <a:p>
            <a:pPr marL="0" lvl="0" indent="0" algn="l" rtl="0">
              <a:spcBef>
                <a:spcPts val="0"/>
              </a:spcBef>
              <a:spcAft>
                <a:spcPts val="0"/>
              </a:spcAft>
              <a:buNone/>
            </a:pPr>
            <a:endParaRPr/>
          </a:p>
        </p:txBody>
      </p:sp>
      <p:sp>
        <p:nvSpPr>
          <p:cNvPr id="562" name="Google Shape;562;p10"/>
          <p:cNvSpPr/>
          <p:nvPr/>
        </p:nvSpPr>
        <p:spPr>
          <a:xfrm>
            <a:off x="9380049" y="1735375"/>
            <a:ext cx="2399400" cy="1638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796"/>
              <a:buFont typeface="Arial"/>
              <a:buNone/>
            </a:pPr>
            <a:r>
              <a:rPr lang="en-US" sz="796" b="1" i="0" u="none" strike="noStrike" cap="none">
                <a:solidFill>
                  <a:srgbClr val="160A6E"/>
                </a:solidFill>
                <a:latin typeface="Arial"/>
                <a:ea typeface="Arial"/>
                <a:cs typeface="Arial"/>
                <a:sym typeface="Arial"/>
              </a:rPr>
              <a:t>Chronic MAI vs. Momentum</a:t>
            </a:r>
            <a:endParaRPr sz="796" b="0" i="0" u="none" strike="noStrike" cap="none">
              <a:solidFill>
                <a:schemeClr val="dk1"/>
              </a:solidFill>
              <a:latin typeface="Calibri"/>
              <a:ea typeface="Calibri"/>
              <a:cs typeface="Calibri"/>
              <a:sym typeface="Calibri"/>
            </a:endParaRPr>
          </a:p>
        </p:txBody>
      </p:sp>
      <p:pic>
        <p:nvPicPr>
          <p:cNvPr id="563" name="Google Shape;563;p10" descr="charts/23_chronic_vs_momentum.png"/>
          <p:cNvPicPr preferRelativeResize="0"/>
          <p:nvPr/>
        </p:nvPicPr>
        <p:blipFill rotWithShape="1">
          <a:blip r:embed="rId6">
            <a:alphaModFix/>
          </a:blip>
          <a:srcRect/>
          <a:stretch/>
        </p:blipFill>
        <p:spPr>
          <a:xfrm>
            <a:off x="9521600" y="1984816"/>
            <a:ext cx="2361458" cy="1682263"/>
          </a:xfrm>
          <a:prstGeom prst="rect">
            <a:avLst/>
          </a:prstGeom>
          <a:noFill/>
          <a:ln>
            <a:noFill/>
          </a:ln>
        </p:spPr>
      </p:pic>
      <p:sp>
        <p:nvSpPr>
          <p:cNvPr id="564" name="Google Shape;564;p10"/>
          <p:cNvSpPr/>
          <p:nvPr/>
        </p:nvSpPr>
        <p:spPr>
          <a:xfrm>
            <a:off x="9490746" y="3611816"/>
            <a:ext cx="2399400" cy="3819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27"/>
              <a:buFont typeface="Arial"/>
              <a:buNone/>
            </a:pPr>
            <a:r>
              <a:rPr lang="en-US" sz="627" b="0" i="1" u="none" strike="noStrike" cap="none">
                <a:solidFill>
                  <a:schemeClr val="dk1"/>
                </a:solidFill>
                <a:latin typeface="Arial"/>
                <a:ea typeface="Arial"/>
                <a:cs typeface="Arial"/>
                <a:sym typeface="Arial"/>
              </a:rPr>
              <a:t>Scatter plot: each dot is a district; x-axis = Chronic MAI, y-axis = Momentum Index. r = 0.259 (weak positive) — dashed line shows the fitted trend. Confirms these two pillars capture related but distinct signal.</a:t>
            </a:r>
            <a:endParaRPr sz="627"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9"/>
        <p:cNvGrpSpPr/>
        <p:nvPr/>
      </p:nvGrpSpPr>
      <p:grpSpPr>
        <a:xfrm>
          <a:off x="0" y="0"/>
          <a:ext cx="0" cy="0"/>
          <a:chOff x="0" y="0"/>
          <a:chExt cx="0" cy="0"/>
        </a:xfrm>
      </p:grpSpPr>
      <p:sp>
        <p:nvSpPr>
          <p:cNvPr id="570" name="Google Shape;570;p11"/>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71" name="Google Shape;571;p11"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572" name="Google Shape;572;p11"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573" name="Google Shape;573;p11"/>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574" name="Google Shape;574;p11"/>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575" name="Google Shape;575;p11"/>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EDA III </a:t>
            </a:r>
            <a:r>
              <a:rPr lang="en-US" sz="2200" b="1">
                <a:solidFill>
                  <a:srgbClr val="160A6E"/>
                </a:solidFill>
              </a:rPr>
              <a:t>: </a:t>
            </a:r>
            <a:r>
              <a:rPr lang="en-US" sz="2200" b="1" i="0" u="none" strike="noStrike" cap="none">
                <a:solidFill>
                  <a:srgbClr val="160A6E"/>
                </a:solidFill>
                <a:latin typeface="Arial"/>
                <a:ea typeface="Arial"/>
                <a:cs typeface="Arial"/>
                <a:sym typeface="Arial"/>
              </a:rPr>
              <a:t> Hypothesis Testing &amp; Regional Variation</a:t>
            </a:r>
            <a:endParaRPr sz="2200" b="0" i="0" u="none" strike="noStrike" cap="none">
              <a:solidFill>
                <a:schemeClr val="dk1"/>
              </a:solidFill>
              <a:latin typeface="Calibri"/>
              <a:ea typeface="Calibri"/>
              <a:cs typeface="Calibri"/>
              <a:sym typeface="Calibri"/>
            </a:endParaRPr>
          </a:p>
        </p:txBody>
      </p:sp>
      <p:sp>
        <p:nvSpPr>
          <p:cNvPr id="576" name="Google Shape;576;p11"/>
          <p:cNvSpPr/>
          <p:nvPr/>
        </p:nvSpPr>
        <p:spPr>
          <a:xfrm>
            <a:off x="319970" y="1441217"/>
            <a:ext cx="6309300" cy="5120700"/>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1"/>
          <p:cNvSpPr/>
          <p:nvPr/>
        </p:nvSpPr>
        <p:spPr>
          <a:xfrm>
            <a:off x="457200" y="1645920"/>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Hypothesis 1: Literacy and Hypertension</a:t>
            </a:r>
            <a:endParaRPr sz="1150" b="0" i="0" u="none" strike="noStrike" cap="none">
              <a:solidFill>
                <a:schemeClr val="dk1"/>
              </a:solidFill>
              <a:latin typeface="Calibri"/>
              <a:ea typeface="Calibri"/>
              <a:cs typeface="Calibri"/>
              <a:sym typeface="Calibri"/>
            </a:endParaRPr>
          </a:p>
        </p:txBody>
      </p:sp>
      <p:sp>
        <p:nvSpPr>
          <p:cNvPr id="578" name="Google Shape;578;p11"/>
          <p:cNvSpPr/>
          <p:nvPr/>
        </p:nvSpPr>
        <p:spPr>
          <a:xfrm>
            <a:off x="457200" y="1865376"/>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We tested whether higher-literacy districts show lower chronic-risk-factor prevalence, expecting an inverse relationship. The actual result: literacy correlates positively with male hypertension (r = 0.351, p = 7.57×10⁻²², n = 706) — counter to a naive poverty-causes-worse-health prior. This is consistent with higher-literacy districts showing more diagnosed and reported lifestyle-linked conditions due to better healthcare access and awareness, not necessarily higher true prevalence.</a:t>
            </a:r>
            <a:endParaRPr sz="920" b="0" i="0" u="none" strike="noStrike" cap="none">
              <a:solidFill>
                <a:schemeClr val="dk1"/>
              </a:solidFill>
              <a:latin typeface="Calibri"/>
              <a:ea typeface="Calibri"/>
              <a:cs typeface="Calibri"/>
              <a:sym typeface="Calibri"/>
            </a:endParaRPr>
          </a:p>
        </p:txBody>
      </p:sp>
      <p:sp>
        <p:nvSpPr>
          <p:cNvPr id="579" name="Google Shape;579;p11"/>
          <p:cNvSpPr/>
          <p:nvPr/>
        </p:nvSpPr>
        <p:spPr>
          <a:xfrm>
            <a:off x="457200" y="2728291"/>
            <a:ext cx="5943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Hypothesis 2: Insurance Coverage and Facility Access</a:t>
            </a:r>
            <a:endParaRPr sz="1150" b="0" i="0" u="none" strike="noStrike" cap="none">
              <a:solidFill>
                <a:schemeClr val="dk1"/>
              </a:solidFill>
              <a:latin typeface="Calibri"/>
              <a:ea typeface="Calibri"/>
              <a:cs typeface="Calibri"/>
              <a:sym typeface="Calibri"/>
            </a:endParaRPr>
          </a:p>
        </p:txBody>
      </p:sp>
      <p:sp>
        <p:nvSpPr>
          <p:cNvPr id="580" name="Google Shape;580;p11"/>
          <p:cNvSpPr/>
          <p:nvPr/>
        </p:nvSpPr>
        <p:spPr>
          <a:xfrm>
            <a:off x="457200" y="2962622"/>
            <a:ext cx="5943600" cy="969300"/>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We tested whether insurance coverage correlates with hospital density, expecting supply and demand-side affordability to move together. The result: no statistically significant relationship (r = -0.060, p = 0.124, n = 648) — insurance coverage is apparently driven more by state-level scheme rollout (Ayushman Bharat enrollment drives) than by local hospital supply, justifying Affordability and Access as genuinely separate, independently-weighted pillars.</a:t>
            </a:r>
            <a:r>
              <a:rPr lang="en-US" sz="920">
                <a:solidFill>
                  <a:srgbClr val="241B3D"/>
                </a:solidFill>
              </a:rPr>
              <a:t>Zone-level analysis of the final Overall MAI shows real geographic variation: West India leads (median 0.273), followed by East (0.259), with South (0.211), Central (0.184), North (0.175), and Northeast (0.169) trailing. </a:t>
            </a:r>
            <a:endParaRPr sz="920">
              <a:solidFill>
                <a:schemeClr val="dk1"/>
              </a:solidFill>
              <a:latin typeface="Calibri"/>
              <a:ea typeface="Calibri"/>
              <a:cs typeface="Calibri"/>
              <a:sym typeface="Calibri"/>
            </a:endParaRPr>
          </a:p>
          <a:p>
            <a:pPr marL="0" marR="0" lvl="0" indent="0" algn="just" rtl="0">
              <a:lnSpc>
                <a:spcPct val="116000"/>
              </a:lnSpc>
              <a:spcBef>
                <a:spcPts val="0"/>
              </a:spcBef>
              <a:spcAft>
                <a:spcPts val="0"/>
              </a:spcAft>
              <a:buClr>
                <a:srgbClr val="241B3D"/>
              </a:buClr>
              <a:buSzPts val="920"/>
              <a:buFont typeface="Arial"/>
              <a:buNone/>
            </a:pPr>
            <a:endParaRPr sz="920">
              <a:solidFill>
                <a:srgbClr val="241B3D"/>
              </a:solidFill>
            </a:endParaRPr>
          </a:p>
        </p:txBody>
      </p:sp>
      <p:sp>
        <p:nvSpPr>
          <p:cNvPr id="581" name="Google Shape;581;p11"/>
          <p:cNvSpPr/>
          <p:nvPr/>
        </p:nvSpPr>
        <p:spPr>
          <a:xfrm>
            <a:off x="809850" y="218625"/>
            <a:ext cx="5943600" cy="2272200"/>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endParaRPr sz="920" b="0" i="0" u="none" strike="noStrike" cap="none">
              <a:solidFill>
                <a:schemeClr val="dk1"/>
              </a:solidFill>
              <a:latin typeface="Calibri"/>
              <a:ea typeface="Calibri"/>
              <a:cs typeface="Calibri"/>
              <a:sym typeface="Calibri"/>
            </a:endParaRPr>
          </a:p>
        </p:txBody>
      </p:sp>
      <p:sp>
        <p:nvSpPr>
          <p:cNvPr id="582" name="Google Shape;582;p11"/>
          <p:cNvSpPr/>
          <p:nvPr/>
        </p:nvSpPr>
        <p:spPr>
          <a:xfrm>
            <a:off x="6812280" y="1536192"/>
            <a:ext cx="2445900" cy="246900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11"/>
          <p:cNvSpPr/>
          <p:nvPr/>
        </p:nvSpPr>
        <p:spPr>
          <a:xfrm>
            <a:off x="68854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Correlation Among Final Indices</a:t>
            </a:r>
            <a:endParaRPr sz="800" b="0" i="0" u="none" strike="noStrike" cap="none">
              <a:solidFill>
                <a:schemeClr val="dk1"/>
              </a:solidFill>
              <a:latin typeface="Calibri"/>
              <a:ea typeface="Calibri"/>
              <a:cs typeface="Calibri"/>
              <a:sym typeface="Calibri"/>
            </a:endParaRPr>
          </a:p>
        </p:txBody>
      </p:sp>
      <p:pic>
        <p:nvPicPr>
          <p:cNvPr id="584" name="Google Shape;584;p11" descr="charts/18_final_index_correlation.png"/>
          <p:cNvPicPr preferRelativeResize="0"/>
          <p:nvPr/>
        </p:nvPicPr>
        <p:blipFill rotWithShape="1">
          <a:blip r:embed="rId5">
            <a:alphaModFix/>
          </a:blip>
          <a:srcRect/>
          <a:stretch/>
        </p:blipFill>
        <p:spPr>
          <a:xfrm>
            <a:off x="6903720" y="1755648"/>
            <a:ext cx="2263139" cy="1810512"/>
          </a:xfrm>
          <a:prstGeom prst="rect">
            <a:avLst/>
          </a:prstGeom>
          <a:noFill/>
          <a:ln>
            <a:noFill/>
          </a:ln>
        </p:spPr>
      </p:pic>
      <p:sp>
        <p:nvSpPr>
          <p:cNvPr id="585" name="Google Shape;585;p11"/>
          <p:cNvSpPr/>
          <p:nvPr/>
        </p:nvSpPr>
        <p:spPr>
          <a:xfrm>
            <a:off x="6885432" y="3602736"/>
            <a:ext cx="2299800" cy="3840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Heatmap: pairwise correlation among the 7 final derived variables (Overall/Chronic/Acute/Overlap MAI, Momentum, Population, PatientPool). Values close to 1.0 on the diagonal are self-correlations; off-diagonal values show how independent our four indices actually are from one another.</a:t>
            </a:r>
            <a:endParaRPr sz="630" b="0" i="0" u="none" strike="noStrike" cap="none">
              <a:solidFill>
                <a:schemeClr val="dk1"/>
              </a:solidFill>
              <a:latin typeface="Calibri"/>
              <a:ea typeface="Calibri"/>
              <a:cs typeface="Calibri"/>
              <a:sym typeface="Calibri"/>
            </a:endParaRPr>
          </a:p>
        </p:txBody>
      </p:sp>
      <p:sp>
        <p:nvSpPr>
          <p:cNvPr id="586" name="Google Shape;586;p11"/>
          <p:cNvSpPr/>
          <p:nvPr/>
        </p:nvSpPr>
        <p:spPr>
          <a:xfrm>
            <a:off x="9441180" y="1536192"/>
            <a:ext cx="2445900" cy="246900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11"/>
          <p:cNvSpPr/>
          <p:nvPr/>
        </p:nvSpPr>
        <p:spPr>
          <a:xfrm>
            <a:off x="95143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Overall MAI by Region (Zone)</a:t>
            </a:r>
            <a:endParaRPr sz="800" b="0" i="0" u="none" strike="noStrike" cap="none">
              <a:solidFill>
                <a:schemeClr val="dk1"/>
              </a:solidFill>
              <a:latin typeface="Calibri"/>
              <a:ea typeface="Calibri"/>
              <a:cs typeface="Calibri"/>
              <a:sym typeface="Calibri"/>
            </a:endParaRPr>
          </a:p>
        </p:txBody>
      </p:sp>
      <p:pic>
        <p:nvPicPr>
          <p:cNvPr id="588" name="Google Shape;588;p11" descr="charts/19_regional_boxplot.png"/>
          <p:cNvPicPr preferRelativeResize="0"/>
          <p:nvPr/>
        </p:nvPicPr>
        <p:blipFill rotWithShape="1">
          <a:blip r:embed="rId6">
            <a:alphaModFix/>
          </a:blip>
          <a:srcRect/>
          <a:stretch/>
        </p:blipFill>
        <p:spPr>
          <a:xfrm>
            <a:off x="9532620" y="1755648"/>
            <a:ext cx="2263140" cy="1810513"/>
          </a:xfrm>
          <a:prstGeom prst="rect">
            <a:avLst/>
          </a:prstGeom>
          <a:noFill/>
          <a:ln>
            <a:noFill/>
          </a:ln>
        </p:spPr>
      </p:pic>
      <p:sp>
        <p:nvSpPr>
          <p:cNvPr id="589" name="Google Shape;589;p11"/>
          <p:cNvSpPr/>
          <p:nvPr/>
        </p:nvSpPr>
        <p:spPr>
          <a:xfrm>
            <a:off x="9514332" y="3602736"/>
            <a:ext cx="2299800" cy="3840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Box plot: distribution of Overall MAI scores within each of India's 6 broad zones. The box shows the middle 50% of districts; the horizontal line is the median. West and East zones show both higher medians and wider spread than Northeast.</a:t>
            </a:r>
            <a:endParaRPr sz="630" b="0" i="0" u="none" strike="noStrike" cap="none">
              <a:solidFill>
                <a:schemeClr val="dk1"/>
              </a:solidFill>
              <a:latin typeface="Calibri"/>
              <a:ea typeface="Calibri"/>
              <a:cs typeface="Calibri"/>
              <a:sym typeface="Calibri"/>
            </a:endParaRPr>
          </a:p>
        </p:txBody>
      </p:sp>
      <p:sp>
        <p:nvSpPr>
          <p:cNvPr id="590" name="Google Shape;590;p11"/>
          <p:cNvSpPr/>
          <p:nvPr/>
        </p:nvSpPr>
        <p:spPr>
          <a:xfrm>
            <a:off x="6812280" y="4187952"/>
            <a:ext cx="2446020" cy="2468880"/>
          </a:xfrm>
          <a:prstGeom prst="rect">
            <a:avLst/>
          </a:prstGeom>
          <a:solidFill>
            <a:srgbClr val="5F32F2"/>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1"/>
          <p:cNvSpPr/>
          <p:nvPr/>
        </p:nvSpPr>
        <p:spPr>
          <a:xfrm>
            <a:off x="68854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Hypothesis Testing Approach</a:t>
            </a:r>
            <a:endParaRPr sz="800" b="0" i="0" u="none" strike="noStrike" cap="none">
              <a:solidFill>
                <a:schemeClr val="dk1"/>
              </a:solidFill>
              <a:latin typeface="Calibri"/>
              <a:ea typeface="Calibri"/>
              <a:cs typeface="Calibri"/>
              <a:sym typeface="Calibri"/>
            </a:endParaRPr>
          </a:p>
        </p:txBody>
      </p:sp>
      <p:sp>
        <p:nvSpPr>
          <p:cNvPr id="592" name="Google Shape;592;p11"/>
          <p:cNvSpPr/>
          <p:nvPr/>
        </p:nvSpPr>
        <p:spPr>
          <a:xfrm>
            <a:off x="69220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11"/>
          <p:cNvSpPr/>
          <p:nvPr/>
        </p:nvSpPr>
        <p:spPr>
          <a:xfrm>
            <a:off x="69585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State a testable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hypothesis first</a:t>
            </a:r>
            <a:endParaRPr sz="760" b="0" i="0" u="none" strike="noStrike" cap="none">
              <a:solidFill>
                <a:schemeClr val="dk1"/>
              </a:solidFill>
              <a:latin typeface="Calibri"/>
              <a:ea typeface="Calibri"/>
              <a:cs typeface="Calibri"/>
              <a:sym typeface="Calibri"/>
            </a:endParaRPr>
          </a:p>
        </p:txBody>
      </p:sp>
      <p:sp>
        <p:nvSpPr>
          <p:cNvPr id="594" name="Google Shape;594;p11"/>
          <p:cNvSpPr/>
          <p:nvPr/>
        </p:nvSpPr>
        <p:spPr>
          <a:xfrm>
            <a:off x="79621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1"/>
          <p:cNvSpPr/>
          <p:nvPr/>
        </p:nvSpPr>
        <p:spPr>
          <a:xfrm>
            <a:off x="6922008" y="504291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1"/>
          <p:cNvSpPr/>
          <p:nvPr/>
        </p:nvSpPr>
        <p:spPr>
          <a:xfrm>
            <a:off x="69585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Run correlation +</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significance test</a:t>
            </a:r>
            <a:endParaRPr sz="760" b="0" i="0" u="none" strike="noStrike" cap="none">
              <a:solidFill>
                <a:schemeClr val="dk1"/>
              </a:solidFill>
              <a:latin typeface="Calibri"/>
              <a:ea typeface="Calibri"/>
              <a:cs typeface="Calibri"/>
              <a:sym typeface="Calibri"/>
            </a:endParaRPr>
          </a:p>
        </p:txBody>
      </p:sp>
      <p:sp>
        <p:nvSpPr>
          <p:cNvPr id="597" name="Google Shape;597;p11"/>
          <p:cNvSpPr/>
          <p:nvPr/>
        </p:nvSpPr>
        <p:spPr>
          <a:xfrm>
            <a:off x="79621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11"/>
          <p:cNvSpPr/>
          <p:nvPr/>
        </p:nvSpPr>
        <p:spPr>
          <a:xfrm>
            <a:off x="69220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11"/>
          <p:cNvSpPr/>
          <p:nvPr/>
        </p:nvSpPr>
        <p:spPr>
          <a:xfrm>
            <a:off x="69585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Report result</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even if counter-intuitive</a:t>
            </a:r>
            <a:endParaRPr sz="760" b="0" i="0" u="none" strike="noStrike" cap="none">
              <a:solidFill>
                <a:schemeClr val="dk1"/>
              </a:solidFill>
              <a:latin typeface="Calibri"/>
              <a:ea typeface="Calibri"/>
              <a:cs typeface="Calibri"/>
              <a:sym typeface="Calibri"/>
            </a:endParaRPr>
          </a:p>
        </p:txBody>
      </p:sp>
      <p:sp>
        <p:nvSpPr>
          <p:cNvPr id="600" name="Google Shape;600;p11"/>
          <p:cNvSpPr/>
          <p:nvPr/>
        </p:nvSpPr>
        <p:spPr>
          <a:xfrm>
            <a:off x="79621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1"/>
          <p:cNvSpPr/>
          <p:nvPr/>
        </p:nvSpPr>
        <p:spPr>
          <a:xfrm>
            <a:off x="6922008" y="609447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1"/>
          <p:cNvSpPr/>
          <p:nvPr/>
        </p:nvSpPr>
        <p:spPr>
          <a:xfrm>
            <a:off x="69585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Interpret with</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domain reasoning</a:t>
            </a:r>
            <a:endParaRPr sz="760" b="0" i="0" u="none" strike="noStrike" cap="none">
              <a:solidFill>
                <a:schemeClr val="dk1"/>
              </a:solidFill>
              <a:latin typeface="Calibri"/>
              <a:ea typeface="Calibri"/>
              <a:cs typeface="Calibri"/>
              <a:sym typeface="Calibri"/>
            </a:endParaRPr>
          </a:p>
        </p:txBody>
      </p:sp>
      <p:sp>
        <p:nvSpPr>
          <p:cNvPr id="603" name="Google Shape;603;p11"/>
          <p:cNvSpPr/>
          <p:nvPr/>
        </p:nvSpPr>
        <p:spPr>
          <a:xfrm>
            <a:off x="9441180" y="4187952"/>
            <a:ext cx="2446020" cy="2468880"/>
          </a:xfrm>
          <a:prstGeom prst="rect">
            <a:avLst/>
          </a:prstGeom>
          <a:solidFill>
            <a:srgbClr val="B4143C"/>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1"/>
          <p:cNvSpPr/>
          <p:nvPr/>
        </p:nvSpPr>
        <p:spPr>
          <a:xfrm>
            <a:off x="95143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Why Region Matters</a:t>
            </a:r>
            <a:endParaRPr sz="800" b="0" i="0" u="none" strike="noStrike" cap="none">
              <a:solidFill>
                <a:schemeClr val="dk1"/>
              </a:solidFill>
              <a:latin typeface="Calibri"/>
              <a:ea typeface="Calibri"/>
              <a:cs typeface="Calibri"/>
              <a:sym typeface="Calibri"/>
            </a:endParaRPr>
          </a:p>
        </p:txBody>
      </p:sp>
      <p:sp>
        <p:nvSpPr>
          <p:cNvPr id="605" name="Google Shape;605;p11"/>
          <p:cNvSpPr/>
          <p:nvPr/>
        </p:nvSpPr>
        <p:spPr>
          <a:xfrm>
            <a:off x="95509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1"/>
          <p:cNvSpPr/>
          <p:nvPr/>
        </p:nvSpPr>
        <p:spPr>
          <a:xfrm>
            <a:off x="95874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National average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hides variation</a:t>
            </a:r>
            <a:endParaRPr sz="760" b="0" i="0" u="none" strike="noStrike" cap="none">
              <a:solidFill>
                <a:schemeClr val="dk1"/>
              </a:solidFill>
              <a:latin typeface="Calibri"/>
              <a:ea typeface="Calibri"/>
              <a:cs typeface="Calibri"/>
              <a:sym typeface="Calibri"/>
            </a:endParaRPr>
          </a:p>
        </p:txBody>
      </p:sp>
      <p:sp>
        <p:nvSpPr>
          <p:cNvPr id="607" name="Google Shape;607;p11"/>
          <p:cNvSpPr/>
          <p:nvPr/>
        </p:nvSpPr>
        <p:spPr>
          <a:xfrm>
            <a:off x="105910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1"/>
          <p:cNvSpPr/>
          <p:nvPr/>
        </p:nvSpPr>
        <p:spPr>
          <a:xfrm>
            <a:off x="9550908" y="5042916"/>
            <a:ext cx="2226564" cy="466344"/>
          </a:xfrm>
          <a:prstGeom prst="roundRect">
            <a:avLst>
              <a:gd name="adj" fmla="val 9804"/>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11"/>
          <p:cNvSpPr/>
          <p:nvPr/>
        </p:nvSpPr>
        <p:spPr>
          <a:xfrm>
            <a:off x="95874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Zone-level split</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reveals real gaps</a:t>
            </a:r>
            <a:endParaRPr sz="760" b="0" i="0" u="none" strike="noStrike" cap="none">
              <a:solidFill>
                <a:schemeClr val="dk1"/>
              </a:solidFill>
              <a:latin typeface="Calibri"/>
              <a:ea typeface="Calibri"/>
              <a:cs typeface="Calibri"/>
              <a:sym typeface="Calibri"/>
            </a:endParaRPr>
          </a:p>
        </p:txBody>
      </p:sp>
      <p:sp>
        <p:nvSpPr>
          <p:cNvPr id="610" name="Google Shape;610;p11"/>
          <p:cNvSpPr/>
          <p:nvPr/>
        </p:nvSpPr>
        <p:spPr>
          <a:xfrm>
            <a:off x="105910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1"/>
          <p:cNvSpPr/>
          <p:nvPr/>
        </p:nvSpPr>
        <p:spPr>
          <a:xfrm>
            <a:off x="95509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1"/>
          <p:cNvSpPr/>
          <p:nvPr/>
        </p:nvSpPr>
        <p:spPr>
          <a:xfrm>
            <a:off x="95874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West/East lead,</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Northeast trails</a:t>
            </a:r>
            <a:endParaRPr sz="760" b="0" i="0" u="none" strike="noStrike" cap="none">
              <a:solidFill>
                <a:schemeClr val="dk1"/>
              </a:solidFill>
              <a:latin typeface="Calibri"/>
              <a:ea typeface="Calibri"/>
              <a:cs typeface="Calibri"/>
              <a:sym typeface="Calibri"/>
            </a:endParaRPr>
          </a:p>
        </p:txBody>
      </p:sp>
      <p:sp>
        <p:nvSpPr>
          <p:cNvPr id="613" name="Google Shape;613;p11"/>
          <p:cNvSpPr/>
          <p:nvPr/>
        </p:nvSpPr>
        <p:spPr>
          <a:xfrm>
            <a:off x="105910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11"/>
          <p:cNvSpPr/>
          <p:nvPr/>
        </p:nvSpPr>
        <p:spPr>
          <a:xfrm>
            <a:off x="9550908" y="6094476"/>
            <a:ext cx="2226564" cy="466344"/>
          </a:xfrm>
          <a:prstGeom prst="roundRect">
            <a:avLst>
              <a:gd name="adj" fmla="val 9804"/>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1"/>
          <p:cNvSpPr/>
          <p:nvPr/>
        </p:nvSpPr>
        <p:spPr>
          <a:xfrm>
            <a:off x="95874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Justifies district-</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level granularity</a:t>
            </a:r>
            <a:endParaRPr sz="760" b="0" i="0" u="none" strike="noStrike" cap="none">
              <a:solidFill>
                <a:schemeClr val="dk1"/>
              </a:solidFill>
              <a:latin typeface="Calibri"/>
              <a:ea typeface="Calibri"/>
              <a:cs typeface="Calibri"/>
              <a:sym typeface="Calibri"/>
            </a:endParaRPr>
          </a:p>
        </p:txBody>
      </p:sp>
      <p:sp>
        <p:nvSpPr>
          <p:cNvPr id="616" name="Google Shape;616;p11"/>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11"/>
          <p:cNvSpPr/>
          <p:nvPr/>
        </p:nvSpPr>
        <p:spPr>
          <a:xfrm>
            <a:off x="2186940" y="6611112"/>
            <a:ext cx="2895600" cy="246900"/>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11"/>
          <p:cNvSpPr/>
          <p:nvPr/>
        </p:nvSpPr>
        <p:spPr>
          <a:xfrm>
            <a:off x="4648200" y="6565392"/>
            <a:ext cx="2895600" cy="292608"/>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1"/>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1"/>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11"/>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11"/>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623" name="Google Shape;623;p11"/>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11</a:t>
            </a:r>
            <a:endParaRPr sz="600" b="0" i="0" u="none" strike="noStrike" cap="none">
              <a:solidFill>
                <a:schemeClr val="dk1"/>
              </a:solidFill>
              <a:latin typeface="Calibri"/>
              <a:ea typeface="Calibri"/>
              <a:cs typeface="Calibri"/>
              <a:sym typeface="Calibri"/>
            </a:endParaRPr>
          </a:p>
        </p:txBody>
      </p:sp>
      <p:sp>
        <p:nvSpPr>
          <p:cNvPr id="624" name="Google Shape;624;p11"/>
          <p:cNvSpPr/>
          <p:nvPr/>
        </p:nvSpPr>
        <p:spPr>
          <a:xfrm>
            <a:off x="4108376" y="3942650"/>
            <a:ext cx="1937100" cy="2455800"/>
          </a:xfrm>
          <a:prstGeom prst="rect">
            <a:avLst/>
          </a:prstGeom>
          <a:solidFill>
            <a:srgbClr val="FFFFFF"/>
          </a:solidFill>
          <a:ln w="11950" cap="flat" cmpd="sng">
            <a:solidFill>
              <a:srgbClr val="D9D0EC"/>
            </a:solidFill>
            <a:prstDash val="solid"/>
            <a:round/>
            <a:headEnd type="none" w="sm" len="sm"/>
            <a:tailEnd type="none" w="sm" len="sm"/>
          </a:ln>
          <a:effectLst>
            <a:outerShdw blurRad="59726" dist="14334" dir="5400000" algn="bl" rotWithShape="0">
              <a:srgbClr val="000000">
                <a:alpha val="10200"/>
              </a:srgbClr>
            </a:outerShdw>
          </a:effectLst>
        </p:spPr>
        <p:txBody>
          <a:bodyPr spcFirstLastPara="1" wrap="square" lIns="86000" tIns="86000" rIns="86000" bIns="86000" anchor="ctr" anchorCtr="0">
            <a:noAutofit/>
          </a:bodyPr>
          <a:lstStyle/>
          <a:p>
            <a:pPr marL="0" lvl="0" indent="0" algn="l" rtl="0">
              <a:spcBef>
                <a:spcPts val="0"/>
              </a:spcBef>
              <a:spcAft>
                <a:spcPts val="0"/>
              </a:spcAft>
              <a:buNone/>
            </a:pPr>
            <a:endParaRPr/>
          </a:p>
        </p:txBody>
      </p:sp>
      <p:sp>
        <p:nvSpPr>
          <p:cNvPr id="625" name="Google Shape;625;p11"/>
          <p:cNvSpPr/>
          <p:nvPr/>
        </p:nvSpPr>
        <p:spPr>
          <a:xfrm>
            <a:off x="4166315" y="3947382"/>
            <a:ext cx="1821900" cy="172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752"/>
              <a:buFont typeface="Arial"/>
              <a:buNone/>
            </a:pPr>
            <a:r>
              <a:rPr lang="en-US" sz="752" b="1" i="0" u="none" strike="noStrike" cap="none">
                <a:solidFill>
                  <a:srgbClr val="160A6E"/>
                </a:solidFill>
                <a:latin typeface="Arial"/>
                <a:ea typeface="Arial"/>
                <a:cs typeface="Arial"/>
                <a:sym typeface="Arial"/>
              </a:rPr>
              <a:t>Dataset-Level Missingness</a:t>
            </a:r>
            <a:endParaRPr sz="752" b="0" i="0" u="none" strike="noStrike" cap="none">
              <a:solidFill>
                <a:schemeClr val="dk1"/>
              </a:solidFill>
              <a:latin typeface="Calibri"/>
              <a:ea typeface="Calibri"/>
              <a:cs typeface="Calibri"/>
              <a:sym typeface="Calibri"/>
            </a:endParaRPr>
          </a:p>
        </p:txBody>
      </p:sp>
      <p:pic>
        <p:nvPicPr>
          <p:cNvPr id="626" name="Google Shape;626;p11" descr="charts/17_dataset_missingness.png"/>
          <p:cNvPicPr preferRelativeResize="0"/>
          <p:nvPr/>
        </p:nvPicPr>
        <p:blipFill rotWithShape="1">
          <a:blip r:embed="rId7">
            <a:alphaModFix/>
          </a:blip>
          <a:srcRect/>
          <a:stretch/>
        </p:blipFill>
        <p:spPr>
          <a:xfrm>
            <a:off x="4180800" y="4079888"/>
            <a:ext cx="1792485" cy="1767822"/>
          </a:xfrm>
          <a:prstGeom prst="rect">
            <a:avLst/>
          </a:prstGeom>
          <a:noFill/>
          <a:ln>
            <a:noFill/>
          </a:ln>
        </p:spPr>
      </p:pic>
      <p:sp>
        <p:nvSpPr>
          <p:cNvPr id="627" name="Google Shape;627;p11"/>
          <p:cNvSpPr/>
          <p:nvPr/>
        </p:nvSpPr>
        <p:spPr>
          <a:xfrm>
            <a:off x="4166315" y="5818952"/>
            <a:ext cx="1821900" cy="401400"/>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593"/>
              <a:buFont typeface="Arial"/>
              <a:buNone/>
            </a:pPr>
            <a:r>
              <a:rPr lang="en-US" sz="593" b="0" i="1" u="none" strike="noStrike" cap="none">
                <a:solidFill>
                  <a:srgbClr val="6B6280"/>
                </a:solidFill>
                <a:latin typeface="Arial"/>
                <a:ea typeface="Arial"/>
                <a:cs typeface="Arial"/>
                <a:sym typeface="Arial"/>
              </a:rPr>
              <a:t>Bar chart: mean % of missing values across all columns, per source dataset. Our two core NFHS files show 0% missingness; several supplementary sources (water, population projections) show high missingness or are too coarse (India-wide only) for district-level use.</a:t>
            </a:r>
            <a:endParaRPr sz="593" b="0" i="0" u="none" strike="noStrike" cap="none">
              <a:solidFill>
                <a:schemeClr val="dk1"/>
              </a:solidFill>
              <a:latin typeface="Calibri"/>
              <a:ea typeface="Calibri"/>
              <a:cs typeface="Calibri"/>
              <a:sym typeface="Calibri"/>
            </a:endParaRPr>
          </a:p>
        </p:txBody>
      </p:sp>
      <p:sp>
        <p:nvSpPr>
          <p:cNvPr id="628" name="Google Shape;628;p11"/>
          <p:cNvSpPr/>
          <p:nvPr/>
        </p:nvSpPr>
        <p:spPr>
          <a:xfrm>
            <a:off x="1124000" y="4144896"/>
            <a:ext cx="1874700" cy="485100"/>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1"/>
          <p:cNvSpPr/>
          <p:nvPr/>
        </p:nvSpPr>
        <p:spPr>
          <a:xfrm>
            <a:off x="1093200" y="3876838"/>
            <a:ext cx="1937100" cy="324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Data Source Inventory Process</a:t>
            </a:r>
            <a:endParaRPr sz="800" b="0" i="0" u="none" strike="noStrike" cap="none">
              <a:solidFill>
                <a:schemeClr val="dk1"/>
              </a:solidFill>
              <a:latin typeface="Calibri"/>
              <a:ea typeface="Calibri"/>
              <a:cs typeface="Calibri"/>
              <a:sym typeface="Calibri"/>
            </a:endParaRPr>
          </a:p>
        </p:txBody>
      </p:sp>
      <p:sp>
        <p:nvSpPr>
          <p:cNvPr id="630" name="Google Shape;630;p11"/>
          <p:cNvSpPr/>
          <p:nvPr/>
        </p:nvSpPr>
        <p:spPr>
          <a:xfrm>
            <a:off x="1999696" y="4554684"/>
            <a:ext cx="123300" cy="142200"/>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11"/>
          <p:cNvSpPr/>
          <p:nvPr/>
        </p:nvSpPr>
        <p:spPr>
          <a:xfrm>
            <a:off x="1154800" y="4132251"/>
            <a:ext cx="1813200" cy="485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Catalog every</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raw source file</a:t>
            </a:r>
            <a:endParaRPr sz="760" b="0" i="0" u="none" strike="noStrike" cap="none">
              <a:solidFill>
                <a:schemeClr val="dk1"/>
              </a:solidFill>
              <a:latin typeface="Calibri"/>
              <a:ea typeface="Calibri"/>
              <a:cs typeface="Calibri"/>
              <a:sym typeface="Calibri"/>
            </a:endParaRPr>
          </a:p>
        </p:txBody>
      </p:sp>
      <p:sp>
        <p:nvSpPr>
          <p:cNvPr id="632" name="Google Shape;632;p11"/>
          <p:cNvSpPr/>
          <p:nvPr/>
        </p:nvSpPr>
        <p:spPr>
          <a:xfrm>
            <a:off x="1126960" y="4753104"/>
            <a:ext cx="1874700" cy="485100"/>
          </a:xfrm>
          <a:prstGeom prst="roundRect">
            <a:avLst>
              <a:gd name="adj" fmla="val 10471"/>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11"/>
          <p:cNvSpPr/>
          <p:nvPr/>
        </p:nvSpPr>
        <p:spPr>
          <a:xfrm>
            <a:off x="1216400" y="5304251"/>
            <a:ext cx="1874700" cy="485100"/>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11"/>
          <p:cNvSpPr/>
          <p:nvPr/>
        </p:nvSpPr>
        <p:spPr>
          <a:xfrm>
            <a:off x="1154800" y="4753104"/>
            <a:ext cx="1813200" cy="485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Document description,</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source, columns</a:t>
            </a:r>
            <a:endParaRPr sz="760" b="0" i="0" u="none" strike="noStrike" cap="none">
              <a:solidFill>
                <a:schemeClr val="dk1"/>
              </a:solidFill>
              <a:latin typeface="Calibri"/>
              <a:ea typeface="Calibri"/>
              <a:cs typeface="Calibri"/>
              <a:sym typeface="Calibri"/>
            </a:endParaRPr>
          </a:p>
        </p:txBody>
      </p:sp>
      <p:sp>
        <p:nvSpPr>
          <p:cNvPr id="635" name="Google Shape;635;p11"/>
          <p:cNvSpPr/>
          <p:nvPr/>
        </p:nvSpPr>
        <p:spPr>
          <a:xfrm>
            <a:off x="1154800" y="5862184"/>
            <a:ext cx="1874700" cy="485100"/>
          </a:xfrm>
          <a:prstGeom prst="roundRect">
            <a:avLst>
              <a:gd name="adj" fmla="val 10471"/>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11"/>
          <p:cNvSpPr/>
          <p:nvPr/>
        </p:nvSpPr>
        <p:spPr>
          <a:xfrm>
            <a:off x="1154800" y="5304263"/>
            <a:ext cx="1813200" cy="485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Assess district-level</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usability</a:t>
            </a:r>
            <a:endParaRPr sz="760" b="0" i="0" u="none" strike="noStrike" cap="none">
              <a:solidFill>
                <a:schemeClr val="dk1"/>
              </a:solidFill>
              <a:latin typeface="Calibri"/>
              <a:ea typeface="Calibri"/>
              <a:cs typeface="Calibri"/>
              <a:sym typeface="Calibri"/>
            </a:endParaRPr>
          </a:p>
        </p:txBody>
      </p:sp>
      <p:sp>
        <p:nvSpPr>
          <p:cNvPr id="637" name="Google Shape;637;p11"/>
          <p:cNvSpPr/>
          <p:nvPr/>
        </p:nvSpPr>
        <p:spPr>
          <a:xfrm>
            <a:off x="1031600" y="3907612"/>
            <a:ext cx="2059500" cy="2539500"/>
          </a:xfrm>
          <a:prstGeom prst="rect">
            <a:avLst/>
          </a:prstGeom>
          <a:solidFill>
            <a:srgbClr val="160A6E"/>
          </a:solidFill>
          <a:ln>
            <a:noFill/>
          </a:ln>
          <a:effectLst>
            <a:outerShdw blurRad="63500" dist="15240" dir="54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11"/>
          <p:cNvSpPr/>
          <p:nvPr/>
        </p:nvSpPr>
        <p:spPr>
          <a:xfrm>
            <a:off x="1154800" y="5855422"/>
            <a:ext cx="1813200" cy="485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Include or</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exclude, disclosed</a:t>
            </a:r>
            <a:endParaRPr sz="760" b="0" i="0" u="none" strike="noStrike" cap="none">
              <a:solidFill>
                <a:schemeClr val="dk1"/>
              </a:solidFill>
              <a:latin typeface="Calibri"/>
              <a:ea typeface="Calibri"/>
              <a:cs typeface="Calibri"/>
              <a:sym typeface="Calibri"/>
            </a:endParaRPr>
          </a:p>
        </p:txBody>
      </p:sp>
      <p:sp>
        <p:nvSpPr>
          <p:cNvPr id="639" name="Google Shape;639;p11"/>
          <p:cNvSpPr/>
          <p:nvPr/>
        </p:nvSpPr>
        <p:spPr>
          <a:xfrm>
            <a:off x="191250" y="6404723"/>
            <a:ext cx="2438700" cy="324900"/>
          </a:xfrm>
          <a:prstGeom prst="triangle">
            <a:avLst>
              <a:gd name="adj" fmla="val 50000"/>
            </a:avLst>
          </a:prstGeom>
          <a:solidFill>
            <a:srgbClr val="8AAE6E">
              <a:alpha val="8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11"/>
          <p:cNvSpPr/>
          <p:nvPr/>
        </p:nvSpPr>
        <p:spPr>
          <a:xfrm>
            <a:off x="2263824" y="6506319"/>
            <a:ext cx="2438700" cy="223800"/>
          </a:xfrm>
          <a:prstGeom prst="triangle">
            <a:avLst>
              <a:gd name="adj" fmla="val 50000"/>
            </a:avLst>
          </a:prstGeom>
          <a:solidFill>
            <a:srgbClr val="4B6E32">
              <a:alpha val="851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11"/>
          <p:cNvSpPr/>
          <p:nvPr/>
        </p:nvSpPr>
        <p:spPr>
          <a:xfrm>
            <a:off x="1999695" y="5275897"/>
            <a:ext cx="123300" cy="142200"/>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11"/>
          <p:cNvSpPr/>
          <p:nvPr/>
        </p:nvSpPr>
        <p:spPr>
          <a:xfrm>
            <a:off x="1999695" y="5686114"/>
            <a:ext cx="123300" cy="142200"/>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11"/>
          <p:cNvSpPr/>
          <p:nvPr/>
        </p:nvSpPr>
        <p:spPr>
          <a:xfrm>
            <a:off x="1031600" y="3907612"/>
            <a:ext cx="2059500" cy="2539500"/>
          </a:xfrm>
          <a:prstGeom prst="rect">
            <a:avLst/>
          </a:prstGeom>
          <a:solidFill>
            <a:srgbClr val="160A6E"/>
          </a:solidFill>
          <a:ln>
            <a:noFill/>
          </a:ln>
          <a:effectLst>
            <a:outerShdw blurRad="63500" dist="15240" dir="5400000" algn="bl" rotWithShape="0">
              <a:srgbClr val="000000">
                <a:alpha val="102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11"/>
          <p:cNvSpPr/>
          <p:nvPr/>
        </p:nvSpPr>
        <p:spPr>
          <a:xfrm>
            <a:off x="1093200" y="3876838"/>
            <a:ext cx="1937100" cy="3249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Data Source Inventory Process</a:t>
            </a:r>
            <a:endParaRPr sz="800" b="0" i="0" u="none" strike="noStrike" cap="none">
              <a:solidFill>
                <a:schemeClr val="dk1"/>
              </a:solidFill>
              <a:latin typeface="Calibri"/>
              <a:ea typeface="Calibri"/>
              <a:cs typeface="Calibri"/>
              <a:sym typeface="Calibri"/>
            </a:endParaRPr>
          </a:p>
        </p:txBody>
      </p:sp>
      <p:sp>
        <p:nvSpPr>
          <p:cNvPr id="645" name="Google Shape;645;p11"/>
          <p:cNvSpPr/>
          <p:nvPr/>
        </p:nvSpPr>
        <p:spPr>
          <a:xfrm>
            <a:off x="1154800" y="4132251"/>
            <a:ext cx="1813200" cy="485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Catalog every</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raw source file</a:t>
            </a:r>
            <a:endParaRPr sz="760" b="0" i="0" u="none" strike="noStrike" cap="none">
              <a:solidFill>
                <a:schemeClr val="dk1"/>
              </a:solidFill>
              <a:latin typeface="Calibri"/>
              <a:ea typeface="Calibri"/>
              <a:cs typeface="Calibri"/>
              <a:sym typeface="Calibri"/>
            </a:endParaRPr>
          </a:p>
        </p:txBody>
      </p:sp>
      <p:sp>
        <p:nvSpPr>
          <p:cNvPr id="646" name="Google Shape;646;p11"/>
          <p:cNvSpPr/>
          <p:nvPr/>
        </p:nvSpPr>
        <p:spPr>
          <a:xfrm>
            <a:off x="1154800" y="4753104"/>
            <a:ext cx="1813200" cy="485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Document description,</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source, columns</a:t>
            </a:r>
            <a:endParaRPr sz="760" b="0" i="0" u="none" strike="noStrike" cap="none">
              <a:solidFill>
                <a:schemeClr val="dk1"/>
              </a:solidFill>
              <a:latin typeface="Calibri"/>
              <a:ea typeface="Calibri"/>
              <a:cs typeface="Calibri"/>
              <a:sym typeface="Calibri"/>
            </a:endParaRPr>
          </a:p>
        </p:txBody>
      </p:sp>
      <p:sp>
        <p:nvSpPr>
          <p:cNvPr id="647" name="Google Shape;647;p11"/>
          <p:cNvSpPr/>
          <p:nvPr/>
        </p:nvSpPr>
        <p:spPr>
          <a:xfrm>
            <a:off x="1154800" y="5304263"/>
            <a:ext cx="1813200" cy="485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Assess district-level</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usability</a:t>
            </a:r>
            <a:endParaRPr sz="760" b="0" i="0" u="none" strike="noStrike" cap="none">
              <a:solidFill>
                <a:schemeClr val="dk1"/>
              </a:solidFill>
              <a:latin typeface="Calibri"/>
              <a:ea typeface="Calibri"/>
              <a:cs typeface="Calibri"/>
              <a:sym typeface="Calibri"/>
            </a:endParaRPr>
          </a:p>
        </p:txBody>
      </p:sp>
      <p:sp>
        <p:nvSpPr>
          <p:cNvPr id="648" name="Google Shape;648;p11"/>
          <p:cNvSpPr/>
          <p:nvPr/>
        </p:nvSpPr>
        <p:spPr>
          <a:xfrm>
            <a:off x="1154800" y="5855422"/>
            <a:ext cx="1813200" cy="485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Include or</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exclude, disclosed</a:t>
            </a:r>
            <a:endParaRPr sz="760" b="0" i="0" u="none" strike="noStrike" cap="none">
              <a:solidFill>
                <a:schemeClr val="dk1"/>
              </a:solidFill>
              <a:latin typeface="Calibri"/>
              <a:ea typeface="Calibri"/>
              <a:cs typeface="Calibri"/>
              <a:sym typeface="Calibri"/>
            </a:endParaRPr>
          </a:p>
        </p:txBody>
      </p:sp>
      <p:sp>
        <p:nvSpPr>
          <p:cNvPr id="649" name="Google Shape;649;p11"/>
          <p:cNvSpPr/>
          <p:nvPr/>
        </p:nvSpPr>
        <p:spPr>
          <a:xfrm>
            <a:off x="2734300" y="4192375"/>
            <a:ext cx="233700" cy="2053500"/>
          </a:xfrm>
          <a:prstGeom prst="down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54"/>
        <p:cNvGrpSpPr/>
        <p:nvPr/>
      </p:nvGrpSpPr>
      <p:grpSpPr>
        <a:xfrm>
          <a:off x="0" y="0"/>
          <a:ext cx="0" cy="0"/>
          <a:chOff x="0" y="0"/>
          <a:chExt cx="0" cy="0"/>
        </a:xfrm>
      </p:grpSpPr>
      <p:sp>
        <p:nvSpPr>
          <p:cNvPr id="655" name="Google Shape;655;p12"/>
          <p:cNvSpPr/>
          <p:nvPr/>
        </p:nvSpPr>
        <p:spPr>
          <a:xfrm>
            <a:off x="0" y="0"/>
            <a:ext cx="12161400" cy="105150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56" name="Google Shape;656;p12" descr="logo/trilytics_logo_clean.png"/>
          <p:cNvPicPr preferRelativeResize="0"/>
          <p:nvPr/>
        </p:nvPicPr>
        <p:blipFill rotWithShape="1">
          <a:blip r:embed="rId3">
            <a:alphaModFix/>
          </a:blip>
          <a:srcRect/>
          <a:stretch/>
        </p:blipFill>
        <p:spPr>
          <a:xfrm>
            <a:off x="94095" y="27441"/>
            <a:ext cx="1417938" cy="777240"/>
          </a:xfrm>
          <a:prstGeom prst="rect">
            <a:avLst/>
          </a:prstGeom>
          <a:noFill/>
          <a:ln>
            <a:noFill/>
          </a:ln>
        </p:spPr>
      </p:pic>
      <p:pic>
        <p:nvPicPr>
          <p:cNvPr id="657" name="Google Shape;657;p12"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658" name="Google Shape;658;p12"/>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659" name="Google Shape;659;p12"/>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660" name="Google Shape;660;p12"/>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EDA IV — Understanding the District Archetypes in Detail</a:t>
            </a:r>
            <a:endParaRPr sz="2200" b="0" i="0" u="none" strike="noStrike" cap="none">
              <a:solidFill>
                <a:schemeClr val="dk1"/>
              </a:solidFill>
              <a:latin typeface="Calibri"/>
              <a:ea typeface="Calibri"/>
              <a:cs typeface="Calibri"/>
              <a:sym typeface="Calibri"/>
            </a:endParaRPr>
          </a:p>
        </p:txBody>
      </p:sp>
      <p:sp>
        <p:nvSpPr>
          <p:cNvPr id="661" name="Google Shape;661;p12"/>
          <p:cNvSpPr/>
          <p:nvPr/>
        </p:nvSpPr>
        <p:spPr>
          <a:xfrm>
            <a:off x="320040" y="1481328"/>
            <a:ext cx="115214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280"/>
              </a:buClr>
              <a:buSzPts val="1050"/>
              <a:buFont typeface="Arial"/>
              <a:buNone/>
            </a:pPr>
            <a:r>
              <a:rPr lang="en-US" sz="1050" b="0" i="1" u="none" strike="noStrike" cap="none">
                <a:solidFill>
                  <a:srgbClr val="6B6280"/>
                </a:solidFill>
                <a:latin typeface="Arial"/>
                <a:ea typeface="Arial"/>
                <a:cs typeface="Arial"/>
                <a:sym typeface="Arial"/>
              </a:rPr>
              <a:t>The four K-Means segments introduced briefly in the Executive Summary, explained fully here.</a:t>
            </a:r>
            <a:endParaRPr sz="1050" b="0" i="0" u="none" strike="noStrike" cap="none">
              <a:solidFill>
                <a:schemeClr val="dk1"/>
              </a:solidFill>
              <a:latin typeface="Calibri"/>
              <a:ea typeface="Calibri"/>
              <a:cs typeface="Calibri"/>
              <a:sym typeface="Calibri"/>
            </a:endParaRPr>
          </a:p>
        </p:txBody>
      </p:sp>
      <p:sp>
        <p:nvSpPr>
          <p:cNvPr id="662" name="Google Shape;662;p12"/>
          <p:cNvSpPr/>
          <p:nvPr/>
        </p:nvSpPr>
        <p:spPr>
          <a:xfrm>
            <a:off x="194250" y="1883675"/>
            <a:ext cx="6309300" cy="4855200"/>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2"/>
          <p:cNvSpPr/>
          <p:nvPr/>
        </p:nvSpPr>
        <p:spPr>
          <a:xfrm>
            <a:off x="274325" y="1946152"/>
            <a:ext cx="5943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What an "Archetype" Actually Is</a:t>
            </a:r>
            <a:endParaRPr sz="1150" b="0" i="0" u="none" strike="noStrike" cap="none">
              <a:solidFill>
                <a:schemeClr val="dk1"/>
              </a:solidFill>
              <a:latin typeface="Calibri"/>
              <a:ea typeface="Calibri"/>
              <a:cs typeface="Calibri"/>
              <a:sym typeface="Calibri"/>
            </a:endParaRPr>
          </a:p>
        </p:txBody>
      </p:sp>
      <p:sp>
        <p:nvSpPr>
          <p:cNvPr id="664" name="Google Shape;664;p12"/>
          <p:cNvSpPr/>
          <p:nvPr/>
        </p:nvSpPr>
        <p:spPr>
          <a:xfrm>
            <a:off x="274325" y="2167124"/>
            <a:ext cx="5943600" cy="1051500"/>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a:solidFill>
                  <a:srgbClr val="241B3D"/>
                </a:solidFill>
              </a:rPr>
              <a:t>Each of the 706 districts was assigned to exactly one of four groups by K-Means clustering on the same 37-variable, index-consistent scoring set used for Overall MAI, so archetypes reflect the same logic as the score itself. An archetype is not a score; it is a behavioral grouping, meaning districts in the same group look statistically similar across chronic burden, acute burden, infrastructure, and momentum at once, even if individual Overall MAI values differ somewhat. K-Means (k=4, fixed to match a four-tier business framework, not statistically derived) was chosen after an unweighted version misclassified major metros like Ahmedabad. </a:t>
            </a:r>
            <a:endParaRPr sz="920">
              <a:solidFill>
                <a:srgbClr val="241B3D"/>
              </a:solidFill>
            </a:endParaRPr>
          </a:p>
        </p:txBody>
      </p:sp>
      <p:sp>
        <p:nvSpPr>
          <p:cNvPr id="665" name="Google Shape;665;p12"/>
          <p:cNvSpPr/>
          <p:nvPr/>
        </p:nvSpPr>
        <p:spPr>
          <a:xfrm>
            <a:off x="274325" y="3219199"/>
            <a:ext cx="5943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Elite Metro Powerhouses &amp; Established High-Value</a:t>
            </a:r>
            <a:endParaRPr sz="1150" b="0" i="0" u="none" strike="noStrike" cap="none">
              <a:solidFill>
                <a:schemeClr val="dk1"/>
              </a:solidFill>
              <a:latin typeface="Calibri"/>
              <a:ea typeface="Calibri"/>
              <a:cs typeface="Calibri"/>
              <a:sym typeface="Calibri"/>
            </a:endParaRPr>
          </a:p>
        </p:txBody>
      </p:sp>
      <p:sp>
        <p:nvSpPr>
          <p:cNvPr id="666" name="Google Shape;666;p12"/>
          <p:cNvSpPr/>
          <p:nvPr/>
        </p:nvSpPr>
        <p:spPr>
          <a:xfrm>
            <a:off x="320050" y="3421055"/>
            <a:ext cx="5943600" cy="909900"/>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Elite Metro Powerhouses (n=6, &lt;1% of districts) show both the highest mean Overall MAI (0.406) and the highest mean Momentum (0.546) of any archetype — these districts are simultaneously the most mature AND still growing the fastest, an unusual combination worth noting rather than assuming metros are simply 'done growing.' Established High-Value (n=210, 30% of districts) shows strong but more moderate scores across the board — the natural pipeline for future Tier 1 promotion.</a:t>
            </a:r>
            <a:endParaRPr sz="920" b="0" i="0" u="none" strike="noStrike" cap="none">
              <a:solidFill>
                <a:schemeClr val="dk1"/>
              </a:solidFill>
              <a:latin typeface="Calibri"/>
              <a:ea typeface="Calibri"/>
              <a:cs typeface="Calibri"/>
              <a:sym typeface="Calibri"/>
            </a:endParaRPr>
          </a:p>
        </p:txBody>
      </p:sp>
      <p:sp>
        <p:nvSpPr>
          <p:cNvPr id="667" name="Google Shape;667;p12"/>
          <p:cNvSpPr/>
          <p:nvPr/>
        </p:nvSpPr>
        <p:spPr>
          <a:xfrm>
            <a:off x="377100" y="4357284"/>
            <a:ext cx="5943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Mainstream Mid-Tier &amp; Small Underserved</a:t>
            </a:r>
            <a:endParaRPr sz="1150" b="0" i="0" u="none" strike="noStrike" cap="none">
              <a:solidFill>
                <a:schemeClr val="dk1"/>
              </a:solidFill>
              <a:latin typeface="Calibri"/>
              <a:ea typeface="Calibri"/>
              <a:cs typeface="Calibri"/>
              <a:sym typeface="Calibri"/>
            </a:endParaRPr>
          </a:p>
        </p:txBody>
      </p:sp>
      <p:sp>
        <p:nvSpPr>
          <p:cNvPr id="668" name="Google Shape;668;p12"/>
          <p:cNvSpPr/>
          <p:nvPr/>
        </p:nvSpPr>
        <p:spPr>
          <a:xfrm>
            <a:off x="377100" y="4379340"/>
            <a:ext cx="5943600" cy="909900"/>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Mainstream Mid-Tier (n=391, 55% of districts — the majority of the country) shows average scores on every pillar; this is the genuine strategic ambiguity zone where momentum signals, not current-state scores alone, should drive investment decisions. Small Underserved, Chronic-Leaning (n=99, 14% of districts) shows the lowest mean Overall MAI (0.146) but a real, measurable chronic-risk profile underneath — not simply low demand.</a:t>
            </a:r>
            <a:endParaRPr sz="920" b="0" i="0" u="none" strike="noStrike" cap="none">
              <a:solidFill>
                <a:schemeClr val="dk1"/>
              </a:solidFill>
              <a:latin typeface="Calibri"/>
              <a:ea typeface="Calibri"/>
              <a:cs typeface="Calibri"/>
              <a:sym typeface="Calibri"/>
            </a:endParaRPr>
          </a:p>
        </p:txBody>
      </p:sp>
      <p:sp>
        <p:nvSpPr>
          <p:cNvPr id="669" name="Google Shape;669;p12"/>
          <p:cNvSpPr/>
          <p:nvPr/>
        </p:nvSpPr>
        <p:spPr>
          <a:xfrm>
            <a:off x="5359088" y="6947333"/>
            <a:ext cx="146400" cy="83700"/>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12"/>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12"/>
          <p:cNvSpPr/>
          <p:nvPr/>
        </p:nvSpPr>
        <p:spPr>
          <a:xfrm>
            <a:off x="2186940" y="6860879"/>
            <a:ext cx="2895600" cy="161100"/>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12"/>
          <p:cNvSpPr/>
          <p:nvPr/>
        </p:nvSpPr>
        <p:spPr>
          <a:xfrm>
            <a:off x="4648200" y="6831023"/>
            <a:ext cx="2895600" cy="191100"/>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12"/>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12"/>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12"/>
          <p:cNvSpPr/>
          <p:nvPr/>
        </p:nvSpPr>
        <p:spPr>
          <a:xfrm>
            <a:off x="0" y="6938504"/>
            <a:ext cx="12161400" cy="83700"/>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12"/>
          <p:cNvSpPr/>
          <p:nvPr/>
        </p:nvSpPr>
        <p:spPr>
          <a:xfrm>
            <a:off x="274320" y="6938504"/>
            <a:ext cx="7315200" cy="837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677" name="Google Shape;677;p12"/>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12</a:t>
            </a:r>
            <a:endParaRPr sz="600" b="0" i="0" u="none" strike="noStrike" cap="none">
              <a:solidFill>
                <a:schemeClr val="dk1"/>
              </a:solidFill>
              <a:latin typeface="Calibri"/>
              <a:ea typeface="Calibri"/>
              <a:cs typeface="Calibri"/>
              <a:sym typeface="Calibri"/>
            </a:endParaRPr>
          </a:p>
        </p:txBody>
      </p:sp>
      <p:pic>
        <p:nvPicPr>
          <p:cNvPr id="678" name="Google Shape;678;p12"/>
          <p:cNvPicPr preferRelativeResize="0"/>
          <p:nvPr/>
        </p:nvPicPr>
        <p:blipFill>
          <a:blip r:embed="rId5">
            <a:alphaModFix/>
          </a:blip>
          <a:stretch>
            <a:fillRect/>
          </a:stretch>
        </p:blipFill>
        <p:spPr>
          <a:xfrm>
            <a:off x="6558675" y="1537286"/>
            <a:ext cx="5419975" cy="5237789"/>
          </a:xfrm>
          <a:prstGeom prst="rect">
            <a:avLst/>
          </a:prstGeom>
          <a:noFill/>
          <a:ln>
            <a:noFill/>
          </a:ln>
        </p:spPr>
      </p:pic>
      <p:pic>
        <p:nvPicPr>
          <p:cNvPr id="679" name="Google Shape;679;p12"/>
          <p:cNvPicPr preferRelativeResize="0"/>
          <p:nvPr/>
        </p:nvPicPr>
        <p:blipFill>
          <a:blip r:embed="rId6">
            <a:alphaModFix/>
          </a:blip>
          <a:stretch>
            <a:fillRect/>
          </a:stretch>
        </p:blipFill>
        <p:spPr>
          <a:xfrm>
            <a:off x="320050" y="5158375"/>
            <a:ext cx="6284349" cy="14527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84"/>
        <p:cNvGrpSpPr/>
        <p:nvPr/>
      </p:nvGrpSpPr>
      <p:grpSpPr>
        <a:xfrm>
          <a:off x="0" y="0"/>
          <a:ext cx="0" cy="0"/>
          <a:chOff x="0" y="0"/>
          <a:chExt cx="0" cy="0"/>
        </a:xfrm>
      </p:grpSpPr>
      <p:sp>
        <p:nvSpPr>
          <p:cNvPr id="685" name="Google Shape;685;p13"/>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86" name="Google Shape;686;p13"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687" name="Google Shape;687;p13"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688" name="Google Shape;688;p13"/>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689" name="Google Shape;689;p13"/>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690" name="Google Shape;690;p13"/>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District Rankings — Overall Market Attractiveness Index</a:t>
            </a:r>
            <a:endParaRPr sz="2200" b="0" i="0" u="none" strike="noStrike" cap="none">
              <a:solidFill>
                <a:schemeClr val="dk1"/>
              </a:solidFill>
              <a:latin typeface="Calibri"/>
              <a:ea typeface="Calibri"/>
              <a:cs typeface="Calibri"/>
              <a:sym typeface="Calibri"/>
            </a:endParaRPr>
          </a:p>
        </p:txBody>
      </p:sp>
      <p:sp>
        <p:nvSpPr>
          <p:cNvPr id="691" name="Google Shape;691;p13"/>
          <p:cNvSpPr/>
          <p:nvPr/>
        </p:nvSpPr>
        <p:spPr>
          <a:xfrm>
            <a:off x="320040" y="1481328"/>
            <a:ext cx="115214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280"/>
              </a:buClr>
              <a:buSzPts val="1050"/>
              <a:buFont typeface="Arial"/>
              <a:buNone/>
            </a:pPr>
            <a:r>
              <a:rPr lang="en-US" sz="1050" b="0" i="1" u="none" strike="noStrike" cap="none">
                <a:solidFill>
                  <a:srgbClr val="6B6280"/>
                </a:solidFill>
                <a:latin typeface="Arial"/>
                <a:ea typeface="Arial"/>
                <a:cs typeface="Arial"/>
                <a:sym typeface="Arial"/>
              </a:rPr>
              <a:t>Precise figures, not just names: exactly what the Top 20 shows and why.</a:t>
            </a:r>
            <a:endParaRPr sz="1050" b="0" i="0" u="none" strike="noStrike" cap="none">
              <a:solidFill>
                <a:schemeClr val="dk1"/>
              </a:solidFill>
              <a:latin typeface="Calibri"/>
              <a:ea typeface="Calibri"/>
              <a:cs typeface="Calibri"/>
              <a:sym typeface="Calibri"/>
            </a:endParaRPr>
          </a:p>
        </p:txBody>
      </p:sp>
      <p:sp>
        <p:nvSpPr>
          <p:cNvPr id="692" name="Google Shape;692;p13"/>
          <p:cNvSpPr/>
          <p:nvPr/>
        </p:nvSpPr>
        <p:spPr>
          <a:xfrm>
            <a:off x="274320" y="1773936"/>
            <a:ext cx="6309360" cy="4882896"/>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3"/>
          <p:cNvSpPr/>
          <p:nvPr/>
        </p:nvSpPr>
        <p:spPr>
          <a:xfrm>
            <a:off x="457200" y="1883664"/>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The Exact Numbers at the Top</a:t>
            </a:r>
            <a:endParaRPr sz="1150" b="0" i="0" u="none" strike="noStrike" cap="none">
              <a:solidFill>
                <a:schemeClr val="dk1"/>
              </a:solidFill>
              <a:latin typeface="Calibri"/>
              <a:ea typeface="Calibri"/>
              <a:cs typeface="Calibri"/>
              <a:sym typeface="Calibri"/>
            </a:endParaRPr>
          </a:p>
        </p:txBody>
      </p:sp>
      <p:sp>
        <p:nvSpPr>
          <p:cNvPr id="694" name="Google Shape;694;p13"/>
          <p:cNvSpPr/>
          <p:nvPr/>
        </p:nvSpPr>
        <p:spPr>
          <a:xfrm>
            <a:off x="457200" y="2103120"/>
            <a:ext cx="5943600" cy="909828"/>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Ahmedabad ranks #1 with an Overall MAI of 0.434 </a:t>
            </a:r>
            <a:r>
              <a:rPr lang="en-US" sz="920">
                <a:solidFill>
                  <a:srgbClr val="241B3D"/>
                </a:solidFill>
              </a:rPr>
              <a:t>- </a:t>
            </a:r>
            <a:r>
              <a:rPr lang="en-US" sz="920" b="0" i="0" u="none" strike="noStrike" cap="none">
                <a:solidFill>
                  <a:srgbClr val="241B3D"/>
                </a:solidFill>
                <a:latin typeface="Arial"/>
                <a:ea typeface="Arial"/>
                <a:cs typeface="Arial"/>
                <a:sym typeface="Arial"/>
              </a:rPr>
              <a:t>the highest of all 706 districts. Mumbai Suburban (0.429) and Bangalore (0.421) follow closely, within 0.013 of the top score. Rank #20 (Medak, Telangana) scores 0.331, meaning the gap between rank 1 and rank 20 is just 0.103 on a 0-1 scale </a:t>
            </a:r>
            <a:r>
              <a:rPr lang="en-US" sz="920">
                <a:solidFill>
                  <a:srgbClr val="241B3D"/>
                </a:solidFill>
              </a:rPr>
              <a:t>- </a:t>
            </a:r>
            <a:r>
              <a:rPr lang="en-US" sz="920" b="0" i="0" u="none" strike="noStrike" cap="none">
                <a:solidFill>
                  <a:srgbClr val="241B3D"/>
                </a:solidFill>
                <a:latin typeface="Arial"/>
                <a:ea typeface="Arial"/>
                <a:cs typeface="Arial"/>
                <a:sym typeface="Arial"/>
              </a:rPr>
              <a:t> the Top 20 are genuinely close together, not a single outlier followed by a steep drop-off. For scale: the median district scores 0.192, and the lowest-scoring district scores 0.090 </a:t>
            </a:r>
            <a:r>
              <a:rPr lang="en-US" sz="920">
                <a:solidFill>
                  <a:srgbClr val="241B3D"/>
                </a:solidFill>
              </a:rPr>
              <a:t>- </a:t>
            </a:r>
            <a:r>
              <a:rPr lang="en-US" sz="920" b="0" i="0" u="none" strike="noStrike" cap="none">
                <a:solidFill>
                  <a:srgbClr val="241B3D"/>
                </a:solidFill>
                <a:latin typeface="Arial"/>
                <a:ea typeface="Arial"/>
                <a:cs typeface="Arial"/>
                <a:sym typeface="Arial"/>
              </a:rPr>
              <a:t> so the Top 20 all sit at more than 1.7x the national median.</a:t>
            </a:r>
            <a:endParaRPr sz="920" b="0" i="0" u="none" strike="noStrike" cap="none">
              <a:solidFill>
                <a:schemeClr val="dk1"/>
              </a:solidFill>
              <a:latin typeface="Calibri"/>
              <a:ea typeface="Calibri"/>
              <a:cs typeface="Calibri"/>
              <a:sym typeface="Calibri"/>
            </a:endParaRPr>
          </a:p>
        </p:txBody>
      </p:sp>
      <p:sp>
        <p:nvSpPr>
          <p:cNvPr id="695" name="Google Shape;695;p13"/>
          <p:cNvSpPr/>
          <p:nvPr/>
        </p:nvSpPr>
        <p:spPr>
          <a:xfrm>
            <a:off x="457200" y="3049524"/>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Why Ahmedabad Specifically Leads</a:t>
            </a:r>
            <a:endParaRPr sz="1150" b="0" i="0" u="none" strike="noStrike" cap="none">
              <a:solidFill>
                <a:schemeClr val="dk1"/>
              </a:solidFill>
              <a:latin typeface="Calibri"/>
              <a:ea typeface="Calibri"/>
              <a:cs typeface="Calibri"/>
              <a:sym typeface="Calibri"/>
            </a:endParaRPr>
          </a:p>
        </p:txBody>
      </p:sp>
      <p:sp>
        <p:nvSpPr>
          <p:cNvPr id="696" name="Google Shape;696;p13"/>
          <p:cNvSpPr/>
          <p:nvPr/>
        </p:nvSpPr>
        <p:spPr>
          <a:xfrm>
            <a:off x="457200" y="3268980"/>
            <a:ext cx="5943600" cy="909828"/>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Breaking down Ahmedabad's 0.434 score by pillar: Chronic MAI = 0.268, Acute MAI = 0.419, and Momentum = 0.630</a:t>
            </a:r>
            <a:r>
              <a:rPr lang="en-US" sz="920">
                <a:solidFill>
                  <a:srgbClr val="241B3D"/>
                </a:solidFill>
              </a:rPr>
              <a:t>.</a:t>
            </a:r>
            <a:r>
              <a:rPr lang="en-US" sz="920" b="0" i="0" u="none" strike="noStrike" cap="none">
                <a:solidFill>
                  <a:srgbClr val="241B3D"/>
                </a:solidFill>
                <a:latin typeface="Arial"/>
                <a:ea typeface="Arial"/>
                <a:cs typeface="Arial"/>
                <a:sym typeface="Arial"/>
              </a:rPr>
              <a:t> </a:t>
            </a:r>
            <a:r>
              <a:rPr lang="en-US" sz="920">
                <a:solidFill>
                  <a:srgbClr val="241B3D"/>
                </a:solidFill>
              </a:rPr>
              <a:t>I</a:t>
            </a:r>
            <a:r>
              <a:rPr lang="en-US" sz="920" b="0" i="0" u="none" strike="noStrike" cap="none">
                <a:solidFill>
                  <a:srgbClr val="241B3D"/>
                </a:solidFill>
                <a:latin typeface="Arial"/>
                <a:ea typeface="Arial"/>
                <a:cs typeface="Arial"/>
                <a:sym typeface="Arial"/>
              </a:rPr>
              <a:t>ts lead comes disproportionately from Acute burden and Momentum (economic growth), not primarily from Chronic risk factors. This is a specific, checkable claim, not just "Ahmedabad is a strong district" — a sales-force planner reading this knows precisely which pillar to emphasize in Ahmedabad's account strategy.</a:t>
            </a:r>
            <a:endParaRPr sz="920" b="0" i="0" u="none" strike="noStrike" cap="none">
              <a:solidFill>
                <a:schemeClr val="dk1"/>
              </a:solidFill>
              <a:latin typeface="Calibri"/>
              <a:ea typeface="Calibri"/>
              <a:cs typeface="Calibri"/>
              <a:sym typeface="Calibri"/>
            </a:endParaRPr>
          </a:p>
        </p:txBody>
      </p:sp>
      <p:sp>
        <p:nvSpPr>
          <p:cNvPr id="697" name="Google Shape;697;p13"/>
          <p:cNvSpPr/>
          <p:nvPr/>
        </p:nvSpPr>
        <p:spPr>
          <a:xfrm>
            <a:off x="457200" y="4215384"/>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A Genuinely Surprising Result: Kodagaon</a:t>
            </a:r>
            <a:endParaRPr sz="1150" b="0" i="0" u="none" strike="noStrike" cap="none">
              <a:solidFill>
                <a:schemeClr val="dk1"/>
              </a:solidFill>
              <a:latin typeface="Calibri"/>
              <a:ea typeface="Calibri"/>
              <a:cs typeface="Calibri"/>
              <a:sym typeface="Calibri"/>
            </a:endParaRPr>
          </a:p>
        </p:txBody>
      </p:sp>
      <p:sp>
        <p:nvSpPr>
          <p:cNvPr id="698" name="Google Shape;698;p13"/>
          <p:cNvSpPr/>
          <p:nvPr/>
        </p:nvSpPr>
        <p:spPr>
          <a:xfrm>
            <a:off x="457200" y="4434840"/>
            <a:ext cx="5943600" cy="909828"/>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Kodagaon (Chhattisgarh) ranks #8 nationally with a 0.355 score despite a population of only 706,599 </a:t>
            </a:r>
            <a:r>
              <a:rPr lang="en-US" sz="920">
                <a:solidFill>
                  <a:srgbClr val="241B3D"/>
                </a:solidFill>
              </a:rPr>
              <a:t>- </a:t>
            </a:r>
            <a:r>
              <a:rPr lang="en-US" sz="920" b="0" i="0" u="none" strike="noStrike" cap="none">
                <a:solidFill>
                  <a:srgbClr val="241B3D"/>
                </a:solidFill>
                <a:latin typeface="Arial"/>
                <a:ea typeface="Arial"/>
                <a:cs typeface="Arial"/>
                <a:sym typeface="Arial"/>
              </a:rPr>
              <a:t> far smaller than the six metros above it. Its pillar breakdown (Chronic 0.204, Acute 0.334, Momentum 0.760) shows the highest Momentum score of any district in the Top 20, meaning its high rank is driven by rapid recent economic growth, not sheer market size. This is exactly the kind of district a population-only heuristic would have missed entirely.</a:t>
            </a:r>
            <a:endParaRPr sz="920" b="0" i="0" u="none" strike="noStrike" cap="none">
              <a:solidFill>
                <a:schemeClr val="dk1"/>
              </a:solidFill>
              <a:latin typeface="Calibri"/>
              <a:ea typeface="Calibri"/>
              <a:cs typeface="Calibri"/>
              <a:sym typeface="Calibri"/>
            </a:endParaRPr>
          </a:p>
        </p:txBody>
      </p:sp>
      <p:sp>
        <p:nvSpPr>
          <p:cNvPr id="699" name="Google Shape;699;p13"/>
          <p:cNvSpPr/>
          <p:nvPr/>
        </p:nvSpPr>
        <p:spPr>
          <a:xfrm>
            <a:off x="457200" y="5381244"/>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What the Full Top 20 Shows</a:t>
            </a:r>
            <a:endParaRPr sz="1150" b="0" i="0" u="none" strike="noStrike" cap="none">
              <a:solidFill>
                <a:schemeClr val="dk1"/>
              </a:solidFill>
              <a:latin typeface="Calibri"/>
              <a:ea typeface="Calibri"/>
              <a:cs typeface="Calibri"/>
              <a:sym typeface="Calibri"/>
            </a:endParaRPr>
          </a:p>
        </p:txBody>
      </p:sp>
      <p:sp>
        <p:nvSpPr>
          <p:cNvPr id="700" name="Google Shape;700;p13"/>
          <p:cNvSpPr/>
          <p:nvPr/>
        </p:nvSpPr>
        <p:spPr>
          <a:xfrm>
            <a:off x="457200" y="5600700"/>
            <a:ext cx="5943600" cy="909828"/>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Beyond the six recognizable metros (Ahmedabad, Mumbai Suburban, Bangalore, Hyderabad, Mumbai, Chennai), ranks 7-20 are dominated by less-obvious districts: two NCT of Delhi zones, three West Bengal districts (Paschim Barddhaman, Murshidabad, Bankura), and Gujarat's Anand and Chhota Udaipur. None of these have their state-capital status or metro-scale population working in their favor</a:t>
            </a:r>
            <a:r>
              <a:rPr lang="en-US" sz="920">
                <a:solidFill>
                  <a:srgbClr val="241B3D"/>
                </a:solidFill>
              </a:rPr>
              <a:t>.</a:t>
            </a:r>
            <a:r>
              <a:rPr lang="en-US" sz="920" b="0" i="0" u="none" strike="noStrike" cap="none">
                <a:solidFill>
                  <a:srgbClr val="241B3D"/>
                </a:solidFill>
                <a:latin typeface="Arial"/>
                <a:ea typeface="Arial"/>
                <a:cs typeface="Arial"/>
                <a:sym typeface="Arial"/>
              </a:rPr>
              <a:t> </a:t>
            </a:r>
            <a:r>
              <a:rPr lang="en-US" sz="920">
                <a:solidFill>
                  <a:srgbClr val="241B3D"/>
                </a:solidFill>
              </a:rPr>
              <a:t>T</a:t>
            </a:r>
            <a:r>
              <a:rPr lang="en-US" sz="920" b="0" i="0" u="none" strike="noStrike" cap="none">
                <a:solidFill>
                  <a:srgbClr val="241B3D"/>
                </a:solidFill>
                <a:latin typeface="Arial"/>
                <a:ea typeface="Arial"/>
                <a:cs typeface="Arial"/>
                <a:sym typeface="Arial"/>
              </a:rPr>
              <a:t>hey rank here purely on disease burden, infrastructure, and momentum data.</a:t>
            </a:r>
            <a:endParaRPr sz="920" b="0" i="0" u="none" strike="noStrike" cap="none">
              <a:solidFill>
                <a:schemeClr val="dk1"/>
              </a:solidFill>
              <a:latin typeface="Calibri"/>
              <a:ea typeface="Calibri"/>
              <a:cs typeface="Calibri"/>
              <a:sym typeface="Calibri"/>
            </a:endParaRPr>
          </a:p>
        </p:txBody>
      </p:sp>
      <p:sp>
        <p:nvSpPr>
          <p:cNvPr id="701" name="Google Shape;701;p13"/>
          <p:cNvSpPr/>
          <p:nvPr/>
        </p:nvSpPr>
        <p:spPr>
          <a:xfrm>
            <a:off x="6812280" y="1773936"/>
            <a:ext cx="2446020" cy="2350008"/>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13"/>
          <p:cNvSpPr/>
          <p:nvPr/>
        </p:nvSpPr>
        <p:spPr>
          <a:xfrm>
            <a:off x="6885432" y="1810512"/>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Top 20 Districts</a:t>
            </a:r>
            <a:endParaRPr sz="800" b="0" i="0" u="none" strike="noStrike" cap="none">
              <a:solidFill>
                <a:schemeClr val="dk1"/>
              </a:solidFill>
              <a:latin typeface="Calibri"/>
              <a:ea typeface="Calibri"/>
              <a:cs typeface="Calibri"/>
              <a:sym typeface="Calibri"/>
            </a:endParaRPr>
          </a:p>
        </p:txBody>
      </p:sp>
      <p:pic>
        <p:nvPicPr>
          <p:cNvPr id="703" name="Google Shape;703;p13" descr="charts/01_top20_ranking.png"/>
          <p:cNvPicPr preferRelativeResize="0"/>
          <p:nvPr/>
        </p:nvPicPr>
        <p:blipFill rotWithShape="1">
          <a:blip r:embed="rId5">
            <a:alphaModFix/>
          </a:blip>
          <a:srcRect/>
          <a:stretch/>
        </p:blipFill>
        <p:spPr>
          <a:xfrm>
            <a:off x="6903720" y="1993392"/>
            <a:ext cx="2263142" cy="1691639"/>
          </a:xfrm>
          <a:prstGeom prst="rect">
            <a:avLst/>
          </a:prstGeom>
          <a:noFill/>
          <a:ln>
            <a:noFill/>
          </a:ln>
        </p:spPr>
      </p:pic>
      <p:sp>
        <p:nvSpPr>
          <p:cNvPr id="704" name="Google Shape;704;p13"/>
          <p:cNvSpPr/>
          <p:nvPr/>
        </p:nvSpPr>
        <p:spPr>
          <a:xfrm>
            <a:off x="6885432" y="3721608"/>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Bar chart: Overall MAI score (0.331 to 0.434) for the 20 highest-scoring districts, colored by archetype cluster (orange = Elite Metro Powerhouse). Bars are close in length, confirming a tight Top 20 rather than one dominant outlier.</a:t>
            </a:r>
            <a:endParaRPr sz="630" b="0" i="0" u="none" strike="noStrike" cap="none">
              <a:solidFill>
                <a:schemeClr val="dk1"/>
              </a:solidFill>
              <a:latin typeface="Calibri"/>
              <a:ea typeface="Calibri"/>
              <a:cs typeface="Calibri"/>
              <a:sym typeface="Calibri"/>
            </a:endParaRPr>
          </a:p>
        </p:txBody>
      </p:sp>
      <p:sp>
        <p:nvSpPr>
          <p:cNvPr id="705" name="Google Shape;705;p13"/>
          <p:cNvSpPr/>
          <p:nvPr/>
        </p:nvSpPr>
        <p:spPr>
          <a:xfrm>
            <a:off x="9441180" y="1773936"/>
            <a:ext cx="2446020" cy="2350008"/>
          </a:xfrm>
          <a:prstGeom prst="rect">
            <a:avLst/>
          </a:prstGeom>
          <a:solidFill>
            <a:srgbClr val="160A6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3"/>
          <p:cNvSpPr/>
          <p:nvPr/>
        </p:nvSpPr>
        <p:spPr>
          <a:xfrm>
            <a:off x="9514332" y="1810512"/>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District Archetype Mix</a:t>
            </a:r>
            <a:endParaRPr sz="800" b="0" i="0" u="none" strike="noStrike" cap="none">
              <a:solidFill>
                <a:schemeClr val="dk1"/>
              </a:solidFill>
              <a:latin typeface="Calibri"/>
              <a:ea typeface="Calibri"/>
              <a:cs typeface="Calibri"/>
              <a:sym typeface="Calibri"/>
            </a:endParaRPr>
          </a:p>
        </p:txBody>
      </p:sp>
      <p:pic>
        <p:nvPicPr>
          <p:cNvPr id="707" name="Google Shape;707;p13" descr="charts/08_cluster_donut.png"/>
          <p:cNvPicPr preferRelativeResize="0"/>
          <p:nvPr/>
        </p:nvPicPr>
        <p:blipFill rotWithShape="1">
          <a:blip r:embed="rId6">
            <a:alphaModFix/>
          </a:blip>
          <a:srcRect/>
          <a:stretch/>
        </p:blipFill>
        <p:spPr>
          <a:xfrm>
            <a:off x="9532620" y="1993392"/>
            <a:ext cx="2263140" cy="1691640"/>
          </a:xfrm>
          <a:prstGeom prst="rect">
            <a:avLst/>
          </a:prstGeom>
          <a:noFill/>
          <a:ln>
            <a:noFill/>
          </a:ln>
        </p:spPr>
      </p:pic>
      <p:sp>
        <p:nvSpPr>
          <p:cNvPr id="708" name="Google Shape;708;p13"/>
          <p:cNvSpPr/>
          <p:nvPr/>
        </p:nvSpPr>
        <p:spPr>
          <a:xfrm>
            <a:off x="9514332" y="3721608"/>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chemeClr val="lt1"/>
                </a:solidFill>
                <a:latin typeface="Arial"/>
                <a:ea typeface="Arial"/>
                <a:cs typeface="Arial"/>
                <a:sym typeface="Arial"/>
              </a:rPr>
              <a:t>Donut chart: 6 of 706 districts (&lt;1%) fall in the Elite Metro Powerhouse archetype — an extremely small, distinct top tier, statistically separated from the rest of the country on every underlying pillar.</a:t>
            </a:r>
            <a:endParaRPr sz="630" b="0" i="0" u="none" strike="noStrike" cap="none">
              <a:solidFill>
                <a:schemeClr val="lt1"/>
              </a:solidFill>
              <a:latin typeface="Calibri"/>
              <a:ea typeface="Calibri"/>
              <a:cs typeface="Calibri"/>
              <a:sym typeface="Calibri"/>
            </a:endParaRPr>
          </a:p>
        </p:txBody>
      </p:sp>
      <p:sp>
        <p:nvSpPr>
          <p:cNvPr id="709" name="Google Shape;709;p13"/>
          <p:cNvSpPr/>
          <p:nvPr/>
        </p:nvSpPr>
        <p:spPr>
          <a:xfrm>
            <a:off x="6812280" y="4306824"/>
            <a:ext cx="2446020" cy="2350008"/>
          </a:xfrm>
          <a:prstGeom prst="rect">
            <a:avLst/>
          </a:prstGeom>
          <a:solidFill>
            <a:srgbClr val="160A6E"/>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3"/>
          <p:cNvSpPr/>
          <p:nvPr/>
        </p:nvSpPr>
        <p:spPr>
          <a:xfrm>
            <a:off x="6885432" y="4343400"/>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How Overall MAI Is Built</a:t>
            </a:r>
            <a:endParaRPr sz="800" b="0" i="0" u="none" strike="noStrike" cap="none">
              <a:solidFill>
                <a:schemeClr val="dk1"/>
              </a:solidFill>
              <a:latin typeface="Calibri"/>
              <a:ea typeface="Calibri"/>
              <a:cs typeface="Calibri"/>
              <a:sym typeface="Calibri"/>
            </a:endParaRPr>
          </a:p>
        </p:txBody>
      </p:sp>
      <p:sp>
        <p:nvSpPr>
          <p:cNvPr id="711" name="Google Shape;711;p13"/>
          <p:cNvSpPr/>
          <p:nvPr/>
        </p:nvSpPr>
        <p:spPr>
          <a:xfrm>
            <a:off x="6922008" y="4636008"/>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13"/>
          <p:cNvSpPr/>
          <p:nvPr/>
        </p:nvSpPr>
        <p:spPr>
          <a:xfrm>
            <a:off x="6958584" y="4636008"/>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36 normalized</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pillar variables</a:t>
            </a:r>
            <a:endParaRPr sz="760" b="0" i="0" u="none" strike="noStrike" cap="none">
              <a:solidFill>
                <a:schemeClr val="dk1"/>
              </a:solidFill>
              <a:latin typeface="Calibri"/>
              <a:ea typeface="Calibri"/>
              <a:cs typeface="Calibri"/>
              <a:sym typeface="Calibri"/>
            </a:endParaRPr>
          </a:p>
        </p:txBody>
      </p:sp>
      <p:sp>
        <p:nvSpPr>
          <p:cNvPr id="713" name="Google Shape;713;p13"/>
          <p:cNvSpPr/>
          <p:nvPr/>
        </p:nvSpPr>
        <p:spPr>
          <a:xfrm>
            <a:off x="7962138" y="5077206"/>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13"/>
          <p:cNvSpPr/>
          <p:nvPr/>
        </p:nvSpPr>
        <p:spPr>
          <a:xfrm>
            <a:off x="6922008" y="5132070"/>
            <a:ext cx="2226564" cy="436626"/>
          </a:xfrm>
          <a:prstGeom prst="roundRect">
            <a:avLst>
              <a:gd name="adj" fmla="val 10471"/>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13"/>
          <p:cNvSpPr/>
          <p:nvPr/>
        </p:nvSpPr>
        <p:spPr>
          <a:xfrm>
            <a:off x="6958584" y="5132070"/>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Entropy + judgment</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weights (ρ=0.79)</a:t>
            </a:r>
            <a:endParaRPr sz="760" b="0" i="0" u="none" strike="noStrike" cap="none">
              <a:solidFill>
                <a:schemeClr val="dk1"/>
              </a:solidFill>
              <a:latin typeface="Calibri"/>
              <a:ea typeface="Calibri"/>
              <a:cs typeface="Calibri"/>
              <a:sym typeface="Calibri"/>
            </a:endParaRPr>
          </a:p>
        </p:txBody>
      </p:sp>
      <p:sp>
        <p:nvSpPr>
          <p:cNvPr id="716" name="Google Shape;716;p13"/>
          <p:cNvSpPr/>
          <p:nvPr/>
        </p:nvSpPr>
        <p:spPr>
          <a:xfrm>
            <a:off x="7962138" y="5573268"/>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3"/>
          <p:cNvSpPr/>
          <p:nvPr/>
        </p:nvSpPr>
        <p:spPr>
          <a:xfrm>
            <a:off x="6922008" y="5628132"/>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3"/>
          <p:cNvSpPr/>
          <p:nvPr/>
        </p:nvSpPr>
        <p:spPr>
          <a:xfrm>
            <a:off x="6958584" y="5628132"/>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+15% population</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floor blend</a:t>
            </a:r>
            <a:endParaRPr sz="760" b="0" i="0" u="none" strike="noStrike" cap="none">
              <a:solidFill>
                <a:schemeClr val="dk1"/>
              </a:solidFill>
              <a:latin typeface="Calibri"/>
              <a:ea typeface="Calibri"/>
              <a:cs typeface="Calibri"/>
              <a:sym typeface="Calibri"/>
            </a:endParaRPr>
          </a:p>
        </p:txBody>
      </p:sp>
      <p:sp>
        <p:nvSpPr>
          <p:cNvPr id="719" name="Google Shape;719;p13"/>
          <p:cNvSpPr/>
          <p:nvPr/>
        </p:nvSpPr>
        <p:spPr>
          <a:xfrm>
            <a:off x="7962138" y="6069330"/>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13"/>
          <p:cNvSpPr/>
          <p:nvPr/>
        </p:nvSpPr>
        <p:spPr>
          <a:xfrm>
            <a:off x="6922008" y="6124194"/>
            <a:ext cx="2226564" cy="436626"/>
          </a:xfrm>
          <a:prstGeom prst="roundRect">
            <a:avLst>
              <a:gd name="adj" fmla="val 10471"/>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13"/>
          <p:cNvSpPr/>
          <p:nvPr/>
        </p:nvSpPr>
        <p:spPr>
          <a:xfrm>
            <a:off x="6958584" y="6124194"/>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Overall MAI</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score</a:t>
            </a:r>
            <a:endParaRPr sz="760" b="0" i="0" u="none" strike="noStrike" cap="none">
              <a:solidFill>
                <a:schemeClr val="dk1"/>
              </a:solidFill>
              <a:latin typeface="Calibri"/>
              <a:ea typeface="Calibri"/>
              <a:cs typeface="Calibri"/>
              <a:sym typeface="Calibri"/>
            </a:endParaRPr>
          </a:p>
        </p:txBody>
      </p:sp>
      <p:sp>
        <p:nvSpPr>
          <p:cNvPr id="722" name="Google Shape;722;p13"/>
          <p:cNvSpPr/>
          <p:nvPr/>
        </p:nvSpPr>
        <p:spPr>
          <a:xfrm>
            <a:off x="9441180" y="4306824"/>
            <a:ext cx="2446020" cy="2350008"/>
          </a:xfrm>
          <a:prstGeom prst="rect">
            <a:avLst/>
          </a:prstGeom>
          <a:solidFill>
            <a:srgbClr val="38521F"/>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3"/>
          <p:cNvSpPr/>
          <p:nvPr/>
        </p:nvSpPr>
        <p:spPr>
          <a:xfrm>
            <a:off x="9514332" y="4343400"/>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From Score to Action</a:t>
            </a:r>
            <a:endParaRPr sz="800" b="0" i="0" u="none" strike="noStrike" cap="none">
              <a:solidFill>
                <a:schemeClr val="dk1"/>
              </a:solidFill>
              <a:latin typeface="Calibri"/>
              <a:ea typeface="Calibri"/>
              <a:cs typeface="Calibri"/>
              <a:sym typeface="Calibri"/>
            </a:endParaRPr>
          </a:p>
        </p:txBody>
      </p:sp>
      <p:sp>
        <p:nvSpPr>
          <p:cNvPr id="724" name="Google Shape;724;p13"/>
          <p:cNvSpPr/>
          <p:nvPr/>
        </p:nvSpPr>
        <p:spPr>
          <a:xfrm>
            <a:off x="9550908" y="4636008"/>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3"/>
          <p:cNvSpPr/>
          <p:nvPr/>
        </p:nvSpPr>
        <p:spPr>
          <a:xfrm>
            <a:off x="9587484" y="4636008"/>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District</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Overall MAI</a:t>
            </a:r>
            <a:endParaRPr sz="760" b="0" i="0" u="none" strike="noStrike" cap="none">
              <a:solidFill>
                <a:schemeClr val="dk1"/>
              </a:solidFill>
              <a:latin typeface="Calibri"/>
              <a:ea typeface="Calibri"/>
              <a:cs typeface="Calibri"/>
              <a:sym typeface="Calibri"/>
            </a:endParaRPr>
          </a:p>
        </p:txBody>
      </p:sp>
      <p:sp>
        <p:nvSpPr>
          <p:cNvPr id="726" name="Google Shape;726;p13"/>
          <p:cNvSpPr/>
          <p:nvPr/>
        </p:nvSpPr>
        <p:spPr>
          <a:xfrm>
            <a:off x="10591038" y="5077206"/>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13"/>
          <p:cNvSpPr/>
          <p:nvPr/>
        </p:nvSpPr>
        <p:spPr>
          <a:xfrm>
            <a:off x="9550908" y="5132070"/>
            <a:ext cx="2226564" cy="436626"/>
          </a:xfrm>
          <a:prstGeom prst="roundRect">
            <a:avLst>
              <a:gd name="adj" fmla="val 10471"/>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13"/>
          <p:cNvSpPr/>
          <p:nvPr/>
        </p:nvSpPr>
        <p:spPr>
          <a:xfrm>
            <a:off x="9587484" y="5132070"/>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Quartile →</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Tier 1-4</a:t>
            </a:r>
            <a:endParaRPr sz="760" b="0" i="0" u="none" strike="noStrike" cap="none">
              <a:solidFill>
                <a:schemeClr val="dk1"/>
              </a:solidFill>
              <a:latin typeface="Calibri"/>
              <a:ea typeface="Calibri"/>
              <a:cs typeface="Calibri"/>
              <a:sym typeface="Calibri"/>
            </a:endParaRPr>
          </a:p>
        </p:txBody>
      </p:sp>
      <p:sp>
        <p:nvSpPr>
          <p:cNvPr id="729" name="Google Shape;729;p13"/>
          <p:cNvSpPr/>
          <p:nvPr/>
        </p:nvSpPr>
        <p:spPr>
          <a:xfrm>
            <a:off x="10591038" y="5573268"/>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13"/>
          <p:cNvSpPr/>
          <p:nvPr/>
        </p:nvSpPr>
        <p:spPr>
          <a:xfrm>
            <a:off x="9550908" y="5628132"/>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3"/>
          <p:cNvSpPr/>
          <p:nvPr/>
        </p:nvSpPr>
        <p:spPr>
          <a:xfrm>
            <a:off x="9587484" y="5628132"/>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Cluster</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archetype</a:t>
            </a:r>
            <a:endParaRPr sz="760" b="0" i="0" u="none" strike="noStrike" cap="none">
              <a:solidFill>
                <a:schemeClr val="dk1"/>
              </a:solidFill>
              <a:latin typeface="Calibri"/>
              <a:ea typeface="Calibri"/>
              <a:cs typeface="Calibri"/>
              <a:sym typeface="Calibri"/>
            </a:endParaRPr>
          </a:p>
        </p:txBody>
      </p:sp>
      <p:sp>
        <p:nvSpPr>
          <p:cNvPr id="732" name="Google Shape;732;p13"/>
          <p:cNvSpPr/>
          <p:nvPr/>
        </p:nvSpPr>
        <p:spPr>
          <a:xfrm>
            <a:off x="10591038" y="6069330"/>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3"/>
          <p:cNvSpPr/>
          <p:nvPr/>
        </p:nvSpPr>
        <p:spPr>
          <a:xfrm>
            <a:off x="9550908" y="6124194"/>
            <a:ext cx="2226564" cy="436626"/>
          </a:xfrm>
          <a:prstGeom prst="roundRect">
            <a:avLst>
              <a:gd name="adj" fmla="val 10471"/>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3"/>
          <p:cNvSpPr/>
          <p:nvPr/>
        </p:nvSpPr>
        <p:spPr>
          <a:xfrm>
            <a:off x="9587484" y="6124194"/>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Sales-force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rep allocation</a:t>
            </a:r>
            <a:endParaRPr sz="760" b="0" i="0" u="none" strike="noStrike" cap="none">
              <a:solidFill>
                <a:schemeClr val="dk1"/>
              </a:solidFill>
              <a:latin typeface="Calibri"/>
              <a:ea typeface="Calibri"/>
              <a:cs typeface="Calibri"/>
              <a:sym typeface="Calibri"/>
            </a:endParaRPr>
          </a:p>
        </p:txBody>
      </p:sp>
      <p:sp>
        <p:nvSpPr>
          <p:cNvPr id="735" name="Google Shape;735;p13"/>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13"/>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13"/>
          <p:cNvSpPr/>
          <p:nvPr/>
        </p:nvSpPr>
        <p:spPr>
          <a:xfrm>
            <a:off x="4648200" y="6565392"/>
            <a:ext cx="2895600" cy="292608"/>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3"/>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3"/>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3"/>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13"/>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742" name="Google Shape;742;p13"/>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13</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47"/>
        <p:cNvGrpSpPr/>
        <p:nvPr/>
      </p:nvGrpSpPr>
      <p:grpSpPr>
        <a:xfrm>
          <a:off x="0" y="0"/>
          <a:ext cx="0" cy="0"/>
          <a:chOff x="0" y="0"/>
          <a:chExt cx="0" cy="0"/>
        </a:xfrm>
      </p:grpSpPr>
      <p:sp>
        <p:nvSpPr>
          <p:cNvPr id="748" name="Google Shape;748;p14"/>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749" name="Google Shape;749;p14"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750" name="Google Shape;750;p14"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751" name="Google Shape;751;p14"/>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752" name="Google Shape;752;p14"/>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753" name="Google Shape;753;p14"/>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Why Population Had to Be Built Into the Index — The Exact Fix</a:t>
            </a:r>
            <a:endParaRPr sz="2200" b="0" i="0" u="none" strike="noStrike" cap="none">
              <a:solidFill>
                <a:schemeClr val="dk1"/>
              </a:solidFill>
              <a:latin typeface="Calibri"/>
              <a:ea typeface="Calibri"/>
              <a:cs typeface="Calibri"/>
              <a:sym typeface="Calibri"/>
            </a:endParaRPr>
          </a:p>
        </p:txBody>
      </p:sp>
      <p:sp>
        <p:nvSpPr>
          <p:cNvPr id="754" name="Google Shape;754;p14"/>
          <p:cNvSpPr/>
          <p:nvPr/>
        </p:nvSpPr>
        <p:spPr>
          <a:xfrm>
            <a:off x="320040" y="1481328"/>
            <a:ext cx="115214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280"/>
              </a:buClr>
              <a:buSzPts val="1050"/>
              <a:buFont typeface="Arial"/>
              <a:buNone/>
            </a:pPr>
            <a:r>
              <a:rPr lang="en-US" sz="1050" b="0" i="1" u="none" strike="noStrike" cap="none">
                <a:solidFill>
                  <a:srgbClr val="6B6280"/>
                </a:solidFill>
                <a:latin typeface="Arial"/>
                <a:ea typeface="Arial"/>
                <a:cs typeface="Arial"/>
                <a:sym typeface="Arial"/>
              </a:rPr>
              <a:t>Precise before/after figures for the single most important methodological correction in this model.</a:t>
            </a:r>
            <a:endParaRPr sz="1050" b="0" i="0" u="none" strike="noStrike" cap="none">
              <a:solidFill>
                <a:schemeClr val="dk1"/>
              </a:solidFill>
              <a:latin typeface="Calibri"/>
              <a:ea typeface="Calibri"/>
              <a:cs typeface="Calibri"/>
              <a:sym typeface="Calibri"/>
            </a:endParaRPr>
          </a:p>
        </p:txBody>
      </p:sp>
      <p:sp>
        <p:nvSpPr>
          <p:cNvPr id="755" name="Google Shape;755;p14"/>
          <p:cNvSpPr/>
          <p:nvPr/>
        </p:nvSpPr>
        <p:spPr>
          <a:xfrm>
            <a:off x="274320" y="1773936"/>
            <a:ext cx="6309360" cy="4882896"/>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14"/>
          <p:cNvSpPr/>
          <p:nvPr/>
        </p:nvSpPr>
        <p:spPr>
          <a:xfrm>
            <a:off x="457200" y="1883664"/>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The Problem, in Exact Numbers</a:t>
            </a:r>
            <a:endParaRPr sz="1150" b="0" i="0" u="none" strike="noStrike" cap="none">
              <a:solidFill>
                <a:schemeClr val="dk1"/>
              </a:solidFill>
              <a:latin typeface="Calibri"/>
              <a:ea typeface="Calibri"/>
              <a:cs typeface="Calibri"/>
              <a:sym typeface="Calibri"/>
            </a:endParaRPr>
          </a:p>
        </p:txBody>
      </p:sp>
      <p:sp>
        <p:nvSpPr>
          <p:cNvPr id="757" name="Google Shape;757;p14"/>
          <p:cNvSpPr/>
          <p:nvPr/>
        </p:nvSpPr>
        <p:spPr>
          <a:xfrm>
            <a:off x="457200" y="2103120"/>
            <a:ext cx="5943600" cy="909828"/>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a:solidFill>
                  <a:srgbClr val="241B3D"/>
                </a:solidFill>
              </a:rPr>
              <a:t>When population was tested as a 37th entropy-weighted variable, its resulting weight was 0.05% of the total, which is statistically negligible and essentially zero influence. Left this way, Nicobar (population 36,842, smaller than 98.7% of all Indian districts) ranked #8 nationally, ahead of Chennai (population 4.65 million). Tawang (population 49,977) and South West Garo Hills (population 71,167) also appeared in the pre-fix Top 20; these three sub-100,000-population districts outranked major metros purely from statistical noise in small NFHS survey samples.</a:t>
            </a:r>
            <a:endParaRPr sz="920" b="0" i="0" u="none" strike="noStrike" cap="none">
              <a:solidFill>
                <a:schemeClr val="dk1"/>
              </a:solidFill>
              <a:latin typeface="Calibri"/>
              <a:ea typeface="Calibri"/>
              <a:cs typeface="Calibri"/>
              <a:sym typeface="Calibri"/>
            </a:endParaRPr>
          </a:p>
        </p:txBody>
      </p:sp>
      <p:sp>
        <p:nvSpPr>
          <p:cNvPr id="758" name="Google Shape;758;p14"/>
          <p:cNvSpPr/>
          <p:nvPr/>
        </p:nvSpPr>
        <p:spPr>
          <a:xfrm>
            <a:off x="457200" y="3049524"/>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Why This Happens</a:t>
            </a:r>
            <a:r>
              <a:rPr lang="en-US" sz="1150" b="1">
                <a:solidFill>
                  <a:srgbClr val="5F32F2"/>
                </a:solidFill>
              </a:rPr>
              <a:t>,</a:t>
            </a:r>
            <a:r>
              <a:rPr lang="en-US" sz="1150" b="1" i="0" u="none" strike="noStrike" cap="none">
                <a:solidFill>
                  <a:srgbClr val="5F32F2"/>
                </a:solidFill>
                <a:latin typeface="Arial"/>
                <a:ea typeface="Arial"/>
                <a:cs typeface="Arial"/>
                <a:sym typeface="Arial"/>
              </a:rPr>
              <a:t> </a:t>
            </a:r>
            <a:r>
              <a:rPr lang="en-US" sz="1150" b="1">
                <a:solidFill>
                  <a:srgbClr val="5F32F2"/>
                </a:solidFill>
              </a:rPr>
              <a:t>T</a:t>
            </a:r>
            <a:r>
              <a:rPr lang="en-US" sz="1150" b="1" i="0" u="none" strike="noStrike" cap="none">
                <a:solidFill>
                  <a:srgbClr val="5F32F2"/>
                </a:solidFill>
                <a:latin typeface="Arial"/>
                <a:ea typeface="Arial"/>
                <a:cs typeface="Arial"/>
                <a:sym typeface="Arial"/>
              </a:rPr>
              <a:t>he Precise Mechanism</a:t>
            </a:r>
            <a:endParaRPr sz="1150" b="0" i="0" u="none" strike="noStrike" cap="none">
              <a:solidFill>
                <a:schemeClr val="dk1"/>
              </a:solidFill>
              <a:latin typeface="Calibri"/>
              <a:ea typeface="Calibri"/>
              <a:cs typeface="Calibri"/>
              <a:sym typeface="Calibri"/>
            </a:endParaRPr>
          </a:p>
        </p:txBody>
      </p:sp>
      <p:sp>
        <p:nvSpPr>
          <p:cNvPr id="759" name="Google Shape;759;p14"/>
          <p:cNvSpPr/>
          <p:nvPr/>
        </p:nvSpPr>
        <p:spPr>
          <a:xfrm>
            <a:off x="457200" y="3268980"/>
            <a:ext cx="5943600" cy="909828"/>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1200"/>
              </a:spcBef>
              <a:spcAft>
                <a:spcPts val="1200"/>
              </a:spcAft>
              <a:buClr>
                <a:schemeClr val="dk1"/>
              </a:buClr>
              <a:buSzPts val="1100"/>
              <a:buFont typeface="Arial"/>
              <a:buNone/>
            </a:pPr>
            <a:r>
              <a:rPr lang="en-US" sz="920">
                <a:solidFill>
                  <a:srgbClr val="241B3D"/>
                </a:solidFill>
              </a:rPr>
              <a:t>Entropy weighting rewards variables with high statistical dispersion in their normalized values. Population is naturally smooth, with most districts clustering in a moderate range. Conversely, hospital counts and prevalence rates are naturally spiky, with many districts near zero and a few very high.Because entropy weighting mechanically favors spiky variables, small-sample NFHS estimates exacerbate the issue. A well-documented small-area-estimation effect causes smaller districts to produce inherently noisier, more extreme values on the exact variables entropy weighting rewards most.</a:t>
            </a:r>
            <a:endParaRPr sz="920">
              <a:solidFill>
                <a:srgbClr val="241B3D"/>
              </a:solidFill>
            </a:endParaRPr>
          </a:p>
        </p:txBody>
      </p:sp>
      <p:sp>
        <p:nvSpPr>
          <p:cNvPr id="760" name="Google Shape;760;p14"/>
          <p:cNvSpPr/>
          <p:nvPr/>
        </p:nvSpPr>
        <p:spPr>
          <a:xfrm>
            <a:off x="457200" y="4215384"/>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The Fix, With the Exact Formula</a:t>
            </a:r>
            <a:endParaRPr sz="1150" b="0" i="0" u="none" strike="noStrike" cap="none">
              <a:solidFill>
                <a:schemeClr val="dk1"/>
              </a:solidFill>
              <a:latin typeface="Calibri"/>
              <a:ea typeface="Calibri"/>
              <a:cs typeface="Calibri"/>
              <a:sym typeface="Calibri"/>
            </a:endParaRPr>
          </a:p>
        </p:txBody>
      </p:sp>
      <p:sp>
        <p:nvSpPr>
          <p:cNvPr id="761" name="Google Shape;761;p14"/>
          <p:cNvSpPr/>
          <p:nvPr/>
        </p:nvSpPr>
        <p:spPr>
          <a:xfrm>
            <a:off x="457200" y="4291590"/>
            <a:ext cx="5943600" cy="909900"/>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a:solidFill>
                  <a:srgbClr val="241B3D"/>
                </a:solidFill>
              </a:rPr>
              <a:t>Overall_MAI = 0.85 × (36-variable entropy/judgment-weighted score) + 0.15 × (log-normalized Population_2011). This 15% floor is a disclosed manual override, not derived from any statistical test. It was chosen as a plain judgment correction to fix a data-driven method that failed a face-validity check.</a:t>
            </a:r>
            <a:endParaRPr sz="920">
              <a:solidFill>
                <a:srgbClr val="241B3D"/>
              </a:solidFill>
            </a:endParaRPr>
          </a:p>
          <a:p>
            <a:pPr marL="0" marR="0" lvl="0" indent="0" algn="just" rtl="0">
              <a:lnSpc>
                <a:spcPct val="116000"/>
              </a:lnSpc>
              <a:spcBef>
                <a:spcPts val="0"/>
              </a:spcBef>
              <a:spcAft>
                <a:spcPts val="0"/>
              </a:spcAft>
              <a:buClr>
                <a:srgbClr val="241B3D"/>
              </a:buClr>
              <a:buSzPts val="920"/>
              <a:buFont typeface="Arial"/>
              <a:buNone/>
            </a:pPr>
            <a:r>
              <a:rPr lang="en-US" sz="920">
                <a:solidFill>
                  <a:srgbClr val="241B3D"/>
                </a:solidFill>
              </a:rPr>
              <a:t>Applying this override successfully corrected the bias: zero districts under 100,000 population remain in the Top 20.</a:t>
            </a:r>
            <a:endParaRPr sz="920">
              <a:solidFill>
                <a:srgbClr val="241B3D"/>
              </a:solidFill>
            </a:endParaRPr>
          </a:p>
        </p:txBody>
      </p:sp>
      <p:sp>
        <p:nvSpPr>
          <p:cNvPr id="762" name="Google Shape;762;p14"/>
          <p:cNvSpPr/>
          <p:nvPr/>
        </p:nvSpPr>
        <p:spPr>
          <a:xfrm>
            <a:off x="457200" y="5132069"/>
            <a:ext cx="59436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The Downstream Impact This Fix Had</a:t>
            </a:r>
            <a:endParaRPr sz="1150" b="0" i="0" u="none" strike="noStrike" cap="none">
              <a:solidFill>
                <a:schemeClr val="dk1"/>
              </a:solidFill>
              <a:latin typeface="Calibri"/>
              <a:ea typeface="Calibri"/>
              <a:cs typeface="Calibri"/>
              <a:sym typeface="Calibri"/>
            </a:endParaRPr>
          </a:p>
        </p:txBody>
      </p:sp>
      <p:sp>
        <p:nvSpPr>
          <p:cNvPr id="763" name="Google Shape;763;p14"/>
          <p:cNvSpPr/>
          <p:nvPr/>
        </p:nvSpPr>
        <p:spPr>
          <a:xfrm>
            <a:off x="457200" y="5524500"/>
            <a:ext cx="5943600" cy="909900"/>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1200"/>
              </a:spcBef>
              <a:spcAft>
                <a:spcPts val="0"/>
              </a:spcAft>
              <a:buClr>
                <a:schemeClr val="dk1"/>
              </a:buClr>
              <a:buSzPts val="1100"/>
              <a:buFont typeface="Arial"/>
              <a:buNone/>
            </a:pPr>
            <a:r>
              <a:rPr lang="en-US" sz="920">
                <a:solidFill>
                  <a:srgbClr val="241B3D"/>
                </a:solidFill>
              </a:rPr>
              <a:t>The same small-district-outlier problem had broken our first K-Means clustering pass (Ahmedabad was misclassified into the lowest-value archetype due to an extreme hospital-count outlier), which was fixed by re-clustering on the same effective weights the corrected index uses. It also changed our sales-force allocation dramatically: the Top-10 districts' combined rep-allocation share moved from 41.0 (out of 100, under an earlier hospital-count-based proxy) to 12.02 under the corrected, population-based formula. This represents a genuinely large, real, and traceable shift in a business recommendation caused directly by this single methodological fix.</a:t>
            </a:r>
            <a:endParaRPr sz="920">
              <a:solidFill>
                <a:srgbClr val="241B3D"/>
              </a:solidFill>
            </a:endParaRPr>
          </a:p>
          <a:p>
            <a:pPr marL="0" marR="0" lvl="0" indent="0" algn="just" rtl="0">
              <a:lnSpc>
                <a:spcPct val="116000"/>
              </a:lnSpc>
              <a:spcBef>
                <a:spcPts val="1200"/>
              </a:spcBef>
              <a:spcAft>
                <a:spcPts val="0"/>
              </a:spcAft>
              <a:buClr>
                <a:srgbClr val="241B3D"/>
              </a:buClr>
              <a:buSzPts val="920"/>
              <a:buFont typeface="Arial"/>
              <a:buNone/>
            </a:pPr>
            <a:endParaRPr sz="920">
              <a:solidFill>
                <a:srgbClr val="241B3D"/>
              </a:solidFill>
            </a:endParaRPr>
          </a:p>
        </p:txBody>
      </p:sp>
      <p:sp>
        <p:nvSpPr>
          <p:cNvPr id="764" name="Google Shape;764;p14"/>
          <p:cNvSpPr/>
          <p:nvPr/>
        </p:nvSpPr>
        <p:spPr>
          <a:xfrm>
            <a:off x="6812275" y="1773925"/>
            <a:ext cx="2445900" cy="248640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14"/>
          <p:cNvSpPr/>
          <p:nvPr/>
        </p:nvSpPr>
        <p:spPr>
          <a:xfrm>
            <a:off x="6885432" y="1810512"/>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Population vs. Overall MAI</a:t>
            </a:r>
            <a:endParaRPr sz="800" b="0" i="0" u="none" strike="noStrike" cap="none">
              <a:solidFill>
                <a:schemeClr val="dk1"/>
              </a:solidFill>
              <a:latin typeface="Calibri"/>
              <a:ea typeface="Calibri"/>
              <a:cs typeface="Calibri"/>
              <a:sym typeface="Calibri"/>
            </a:endParaRPr>
          </a:p>
        </p:txBody>
      </p:sp>
      <p:pic>
        <p:nvPicPr>
          <p:cNvPr id="766" name="Google Shape;766;p14" descr="charts/03_population_vs_mai.png"/>
          <p:cNvPicPr preferRelativeResize="0"/>
          <p:nvPr/>
        </p:nvPicPr>
        <p:blipFill rotWithShape="1">
          <a:blip r:embed="rId5">
            <a:alphaModFix/>
          </a:blip>
          <a:srcRect/>
          <a:stretch/>
        </p:blipFill>
        <p:spPr>
          <a:xfrm>
            <a:off x="6903720" y="1993392"/>
            <a:ext cx="2263140" cy="1691640"/>
          </a:xfrm>
          <a:prstGeom prst="rect">
            <a:avLst/>
          </a:prstGeom>
          <a:noFill/>
          <a:ln>
            <a:noFill/>
          </a:ln>
        </p:spPr>
      </p:pic>
      <p:sp>
        <p:nvSpPr>
          <p:cNvPr id="767" name="Google Shape;767;p14"/>
          <p:cNvSpPr/>
          <p:nvPr/>
        </p:nvSpPr>
        <p:spPr>
          <a:xfrm>
            <a:off x="6885432" y="3721608"/>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Scatter plot (log population x-axis): after the 15% floor fix, small-population districts (left side) no longer show inflated Overall MAI scores</a:t>
            </a:r>
            <a:r>
              <a:rPr lang="en-US" sz="630" i="1">
                <a:solidFill>
                  <a:srgbClr val="6B6280"/>
                </a:solidFill>
              </a:rPr>
              <a:t>.T</a:t>
            </a:r>
            <a:r>
              <a:rPr lang="en-US" sz="630" b="0" i="1" u="none" strike="noStrike" cap="none">
                <a:solidFill>
                  <a:srgbClr val="6B6280"/>
                </a:solidFill>
                <a:latin typeface="Arial"/>
                <a:ea typeface="Arial"/>
                <a:cs typeface="Arial"/>
                <a:sym typeface="Arial"/>
              </a:rPr>
              <a:t>he relationship is now sensible, with larger districts trending toward higher scores rather than random small-district spikes.</a:t>
            </a:r>
            <a:endParaRPr sz="630" b="0" i="0" u="none" strike="noStrike" cap="none">
              <a:solidFill>
                <a:schemeClr val="dk1"/>
              </a:solidFill>
              <a:latin typeface="Calibri"/>
              <a:ea typeface="Calibri"/>
              <a:cs typeface="Calibri"/>
              <a:sym typeface="Calibri"/>
            </a:endParaRPr>
          </a:p>
        </p:txBody>
      </p:sp>
      <p:sp>
        <p:nvSpPr>
          <p:cNvPr id="768" name="Google Shape;768;p14"/>
          <p:cNvSpPr/>
          <p:nvPr/>
        </p:nvSpPr>
        <p:spPr>
          <a:xfrm>
            <a:off x="9441175" y="1773924"/>
            <a:ext cx="2445900" cy="248640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14"/>
          <p:cNvSpPr/>
          <p:nvPr/>
        </p:nvSpPr>
        <p:spPr>
          <a:xfrm>
            <a:off x="9514332" y="1810512"/>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Rep Allocation: Before vs. After</a:t>
            </a:r>
            <a:endParaRPr sz="800" b="0" i="0" u="none" strike="noStrike" cap="none">
              <a:solidFill>
                <a:schemeClr val="dk1"/>
              </a:solidFill>
              <a:latin typeface="Calibri"/>
              <a:ea typeface="Calibri"/>
              <a:cs typeface="Calibri"/>
              <a:sym typeface="Calibri"/>
            </a:endParaRPr>
          </a:p>
        </p:txBody>
      </p:sp>
      <p:pic>
        <p:nvPicPr>
          <p:cNvPr id="770" name="Google Shape;770;p14" descr="charts/14_repsallocation_beforeafter.png"/>
          <p:cNvPicPr preferRelativeResize="0"/>
          <p:nvPr/>
        </p:nvPicPr>
        <p:blipFill rotWithShape="1">
          <a:blip r:embed="rId6">
            <a:alphaModFix/>
          </a:blip>
          <a:srcRect/>
          <a:stretch/>
        </p:blipFill>
        <p:spPr>
          <a:xfrm>
            <a:off x="9532620" y="1993392"/>
            <a:ext cx="2263140" cy="1691640"/>
          </a:xfrm>
          <a:prstGeom prst="rect">
            <a:avLst/>
          </a:prstGeom>
          <a:noFill/>
          <a:ln>
            <a:noFill/>
          </a:ln>
        </p:spPr>
      </p:pic>
      <p:sp>
        <p:nvSpPr>
          <p:cNvPr id="771" name="Google Shape;771;p14"/>
          <p:cNvSpPr/>
          <p:nvPr/>
        </p:nvSpPr>
        <p:spPr>
          <a:xfrm>
            <a:off x="9514332" y="3721608"/>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Bar chart: Top-10 districts' combined share of a 100-rep sales-force pool, comparing the rejected hospital-count-based proxy (41.0 reps) against the corrected, Census-population-based formula (12.02 reps) </a:t>
            </a:r>
            <a:r>
              <a:rPr lang="en-US" sz="630" i="1">
                <a:solidFill>
                  <a:srgbClr val="6B6280"/>
                </a:solidFill>
              </a:rPr>
              <a:t>which is</a:t>
            </a:r>
            <a:r>
              <a:rPr lang="en-US" sz="630" b="0" i="1" u="none" strike="noStrike" cap="none">
                <a:solidFill>
                  <a:srgbClr val="6B6280"/>
                </a:solidFill>
                <a:latin typeface="Arial"/>
                <a:ea typeface="Arial"/>
                <a:cs typeface="Arial"/>
                <a:sym typeface="Arial"/>
              </a:rPr>
              <a:t> a 3.4x reduction in over-concentration.</a:t>
            </a:r>
            <a:endParaRPr sz="630" b="0" i="0" u="none" strike="noStrike" cap="none">
              <a:solidFill>
                <a:schemeClr val="dk1"/>
              </a:solidFill>
              <a:latin typeface="Calibri"/>
              <a:ea typeface="Calibri"/>
              <a:cs typeface="Calibri"/>
              <a:sym typeface="Calibri"/>
            </a:endParaRPr>
          </a:p>
        </p:txBody>
      </p:sp>
      <p:sp>
        <p:nvSpPr>
          <p:cNvPr id="772" name="Google Shape;772;p14"/>
          <p:cNvSpPr/>
          <p:nvPr/>
        </p:nvSpPr>
        <p:spPr>
          <a:xfrm>
            <a:off x="6812280" y="4306824"/>
            <a:ext cx="2446020" cy="2350008"/>
          </a:xfrm>
          <a:prstGeom prst="rect">
            <a:avLst/>
          </a:prstGeom>
          <a:solidFill>
            <a:srgbClr val="B4143C"/>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4"/>
          <p:cNvSpPr/>
          <p:nvPr/>
        </p:nvSpPr>
        <p:spPr>
          <a:xfrm>
            <a:off x="6885432" y="4343400"/>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Why Entropy Alone Failed</a:t>
            </a:r>
            <a:endParaRPr sz="800" b="0" i="0" u="none" strike="noStrike" cap="none">
              <a:solidFill>
                <a:schemeClr val="dk1"/>
              </a:solidFill>
              <a:latin typeface="Calibri"/>
              <a:ea typeface="Calibri"/>
              <a:cs typeface="Calibri"/>
              <a:sym typeface="Calibri"/>
            </a:endParaRPr>
          </a:p>
        </p:txBody>
      </p:sp>
      <p:sp>
        <p:nvSpPr>
          <p:cNvPr id="774" name="Google Shape;774;p14"/>
          <p:cNvSpPr/>
          <p:nvPr/>
        </p:nvSpPr>
        <p:spPr>
          <a:xfrm>
            <a:off x="6922008" y="4636008"/>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14"/>
          <p:cNvSpPr/>
          <p:nvPr/>
        </p:nvSpPr>
        <p:spPr>
          <a:xfrm>
            <a:off x="6958584" y="4636008"/>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Add population as</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37th variable</a:t>
            </a:r>
            <a:endParaRPr sz="760" b="0" i="0" u="none" strike="noStrike" cap="none">
              <a:solidFill>
                <a:schemeClr val="dk1"/>
              </a:solidFill>
              <a:latin typeface="Calibri"/>
              <a:ea typeface="Calibri"/>
              <a:cs typeface="Calibri"/>
              <a:sym typeface="Calibri"/>
            </a:endParaRPr>
          </a:p>
        </p:txBody>
      </p:sp>
      <p:sp>
        <p:nvSpPr>
          <p:cNvPr id="776" name="Google Shape;776;p14"/>
          <p:cNvSpPr/>
          <p:nvPr/>
        </p:nvSpPr>
        <p:spPr>
          <a:xfrm>
            <a:off x="7962138" y="5077206"/>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14"/>
          <p:cNvSpPr/>
          <p:nvPr/>
        </p:nvSpPr>
        <p:spPr>
          <a:xfrm>
            <a:off x="6922008" y="5132070"/>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14"/>
          <p:cNvSpPr/>
          <p:nvPr/>
        </p:nvSpPr>
        <p:spPr>
          <a:xfrm>
            <a:off x="6958584" y="5132070"/>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Entropy weight</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 0.05%</a:t>
            </a:r>
            <a:endParaRPr sz="760" b="0" i="0" u="none" strike="noStrike" cap="none">
              <a:solidFill>
                <a:schemeClr val="dk1"/>
              </a:solidFill>
              <a:latin typeface="Calibri"/>
              <a:ea typeface="Calibri"/>
              <a:cs typeface="Calibri"/>
              <a:sym typeface="Calibri"/>
            </a:endParaRPr>
          </a:p>
        </p:txBody>
      </p:sp>
      <p:sp>
        <p:nvSpPr>
          <p:cNvPr id="779" name="Google Shape;779;p14"/>
          <p:cNvSpPr/>
          <p:nvPr/>
        </p:nvSpPr>
        <p:spPr>
          <a:xfrm>
            <a:off x="7962138" y="5573268"/>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4"/>
          <p:cNvSpPr/>
          <p:nvPr/>
        </p:nvSpPr>
        <p:spPr>
          <a:xfrm>
            <a:off x="6922008" y="5628132"/>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4"/>
          <p:cNvSpPr/>
          <p:nvPr/>
        </p:nvSpPr>
        <p:spPr>
          <a:xfrm>
            <a:off x="6958584" y="5628132"/>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Small districts</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still dominate</a:t>
            </a:r>
            <a:endParaRPr sz="760" b="0" i="0" u="none" strike="noStrike" cap="none">
              <a:solidFill>
                <a:schemeClr val="dk1"/>
              </a:solidFill>
              <a:latin typeface="Calibri"/>
              <a:ea typeface="Calibri"/>
              <a:cs typeface="Calibri"/>
              <a:sym typeface="Calibri"/>
            </a:endParaRPr>
          </a:p>
        </p:txBody>
      </p:sp>
      <p:sp>
        <p:nvSpPr>
          <p:cNvPr id="782" name="Google Shape;782;p14"/>
          <p:cNvSpPr/>
          <p:nvPr/>
        </p:nvSpPr>
        <p:spPr>
          <a:xfrm>
            <a:off x="7962138" y="6069330"/>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4"/>
          <p:cNvSpPr/>
          <p:nvPr/>
        </p:nvSpPr>
        <p:spPr>
          <a:xfrm>
            <a:off x="6922008" y="6124194"/>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4"/>
          <p:cNvSpPr/>
          <p:nvPr/>
        </p:nvSpPr>
        <p:spPr>
          <a:xfrm>
            <a:off x="6958584" y="6124194"/>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Fix rejected —</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not viable</a:t>
            </a:r>
            <a:endParaRPr sz="760" b="0" i="0" u="none" strike="noStrike" cap="none">
              <a:solidFill>
                <a:schemeClr val="dk1"/>
              </a:solidFill>
              <a:latin typeface="Calibri"/>
              <a:ea typeface="Calibri"/>
              <a:cs typeface="Calibri"/>
              <a:sym typeface="Calibri"/>
            </a:endParaRPr>
          </a:p>
        </p:txBody>
      </p:sp>
      <p:sp>
        <p:nvSpPr>
          <p:cNvPr id="785" name="Google Shape;785;p14"/>
          <p:cNvSpPr/>
          <p:nvPr/>
        </p:nvSpPr>
        <p:spPr>
          <a:xfrm>
            <a:off x="9441180" y="4306824"/>
            <a:ext cx="2446020" cy="2350008"/>
          </a:xfrm>
          <a:prstGeom prst="rect">
            <a:avLst/>
          </a:prstGeom>
          <a:solidFill>
            <a:srgbClr val="38521F"/>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14"/>
          <p:cNvSpPr/>
          <p:nvPr/>
        </p:nvSpPr>
        <p:spPr>
          <a:xfrm>
            <a:off x="9514332" y="4343400"/>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The Working Fix</a:t>
            </a:r>
            <a:endParaRPr sz="800" b="0" i="0" u="none" strike="noStrike" cap="none">
              <a:solidFill>
                <a:schemeClr val="dk1"/>
              </a:solidFill>
              <a:latin typeface="Calibri"/>
              <a:ea typeface="Calibri"/>
              <a:cs typeface="Calibri"/>
              <a:sym typeface="Calibri"/>
            </a:endParaRPr>
          </a:p>
        </p:txBody>
      </p:sp>
      <p:sp>
        <p:nvSpPr>
          <p:cNvPr id="787" name="Google Shape;787;p14"/>
          <p:cNvSpPr/>
          <p:nvPr/>
        </p:nvSpPr>
        <p:spPr>
          <a:xfrm>
            <a:off x="9550908" y="4636008"/>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4"/>
          <p:cNvSpPr/>
          <p:nvPr/>
        </p:nvSpPr>
        <p:spPr>
          <a:xfrm>
            <a:off x="9587484" y="4636008"/>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15% population</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floor applied</a:t>
            </a:r>
            <a:endParaRPr sz="760" b="0" i="0" u="none" strike="noStrike" cap="none">
              <a:solidFill>
                <a:schemeClr val="dk1"/>
              </a:solidFill>
              <a:latin typeface="Calibri"/>
              <a:ea typeface="Calibri"/>
              <a:cs typeface="Calibri"/>
              <a:sym typeface="Calibri"/>
            </a:endParaRPr>
          </a:p>
        </p:txBody>
      </p:sp>
      <p:sp>
        <p:nvSpPr>
          <p:cNvPr id="789" name="Google Shape;789;p14"/>
          <p:cNvSpPr/>
          <p:nvPr/>
        </p:nvSpPr>
        <p:spPr>
          <a:xfrm>
            <a:off x="10591038" y="5077206"/>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14"/>
          <p:cNvSpPr/>
          <p:nvPr/>
        </p:nvSpPr>
        <p:spPr>
          <a:xfrm>
            <a:off x="9550908" y="5132070"/>
            <a:ext cx="2226564" cy="436626"/>
          </a:xfrm>
          <a:prstGeom prst="roundRect">
            <a:avLst>
              <a:gd name="adj" fmla="val 10471"/>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4"/>
          <p:cNvSpPr/>
          <p:nvPr/>
        </p:nvSpPr>
        <p:spPr>
          <a:xfrm>
            <a:off x="9587484" y="5132070"/>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Blend with 85%</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base score</a:t>
            </a:r>
            <a:endParaRPr sz="760" b="0" i="0" u="none" strike="noStrike" cap="none">
              <a:solidFill>
                <a:schemeClr val="dk1"/>
              </a:solidFill>
              <a:latin typeface="Calibri"/>
              <a:ea typeface="Calibri"/>
              <a:cs typeface="Calibri"/>
              <a:sym typeface="Calibri"/>
            </a:endParaRPr>
          </a:p>
        </p:txBody>
      </p:sp>
      <p:sp>
        <p:nvSpPr>
          <p:cNvPr id="792" name="Google Shape;792;p14"/>
          <p:cNvSpPr/>
          <p:nvPr/>
        </p:nvSpPr>
        <p:spPr>
          <a:xfrm>
            <a:off x="10591038" y="5573268"/>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4"/>
          <p:cNvSpPr/>
          <p:nvPr/>
        </p:nvSpPr>
        <p:spPr>
          <a:xfrm>
            <a:off x="9550908" y="5628132"/>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4"/>
          <p:cNvSpPr/>
          <p:nvPr/>
        </p:nvSpPr>
        <p:spPr>
          <a:xfrm>
            <a:off x="9587484" y="5628132"/>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Re-cluster with</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same weights</a:t>
            </a:r>
            <a:endParaRPr sz="760" b="0" i="0" u="none" strike="noStrike" cap="none">
              <a:solidFill>
                <a:schemeClr val="dk1"/>
              </a:solidFill>
              <a:latin typeface="Calibri"/>
              <a:ea typeface="Calibri"/>
              <a:cs typeface="Calibri"/>
              <a:sym typeface="Calibri"/>
            </a:endParaRPr>
          </a:p>
        </p:txBody>
      </p:sp>
      <p:sp>
        <p:nvSpPr>
          <p:cNvPr id="795" name="Google Shape;795;p14"/>
          <p:cNvSpPr/>
          <p:nvPr/>
        </p:nvSpPr>
        <p:spPr>
          <a:xfrm>
            <a:off x="10591038" y="6069330"/>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14"/>
          <p:cNvSpPr/>
          <p:nvPr/>
        </p:nvSpPr>
        <p:spPr>
          <a:xfrm>
            <a:off x="9550908" y="6124194"/>
            <a:ext cx="2226564" cy="436626"/>
          </a:xfrm>
          <a:prstGeom prst="roundRect">
            <a:avLst>
              <a:gd name="adj" fmla="val 10471"/>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4"/>
          <p:cNvSpPr/>
          <p:nvPr/>
        </p:nvSpPr>
        <p:spPr>
          <a:xfrm>
            <a:off x="9587484" y="6124194"/>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Validated: 0 sub-100K</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in Top 20</a:t>
            </a:r>
            <a:endParaRPr sz="760" b="0" i="0" u="none" strike="noStrike" cap="none">
              <a:solidFill>
                <a:schemeClr val="dk1"/>
              </a:solidFill>
              <a:latin typeface="Calibri"/>
              <a:ea typeface="Calibri"/>
              <a:cs typeface="Calibri"/>
              <a:sym typeface="Calibri"/>
            </a:endParaRPr>
          </a:p>
        </p:txBody>
      </p:sp>
      <p:sp>
        <p:nvSpPr>
          <p:cNvPr id="798" name="Google Shape;798;p14"/>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4"/>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4"/>
          <p:cNvSpPr/>
          <p:nvPr/>
        </p:nvSpPr>
        <p:spPr>
          <a:xfrm>
            <a:off x="4648200" y="6565392"/>
            <a:ext cx="2895600" cy="292608"/>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4"/>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14"/>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14"/>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4"/>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805" name="Google Shape;805;p14"/>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14</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10"/>
        <p:cNvGrpSpPr/>
        <p:nvPr/>
      </p:nvGrpSpPr>
      <p:grpSpPr>
        <a:xfrm>
          <a:off x="0" y="0"/>
          <a:ext cx="0" cy="0"/>
          <a:chOff x="0" y="0"/>
          <a:chExt cx="0" cy="0"/>
        </a:xfrm>
      </p:grpSpPr>
      <p:sp>
        <p:nvSpPr>
          <p:cNvPr id="811" name="Google Shape;811;p15"/>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12" name="Google Shape;812;p15"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813" name="Google Shape;813;p15"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814" name="Google Shape;814;p15"/>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815" name="Google Shape;815;p15"/>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816" name="Google Shape;816;p15"/>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Chronic vs. Acute Segmentation &amp; District Archetypes</a:t>
            </a:r>
            <a:endParaRPr sz="2200" b="0" i="0" u="none" strike="noStrike" cap="none">
              <a:solidFill>
                <a:schemeClr val="dk1"/>
              </a:solidFill>
              <a:latin typeface="Calibri"/>
              <a:ea typeface="Calibri"/>
              <a:cs typeface="Calibri"/>
              <a:sym typeface="Calibri"/>
            </a:endParaRPr>
          </a:p>
        </p:txBody>
      </p:sp>
      <p:sp>
        <p:nvSpPr>
          <p:cNvPr id="817" name="Google Shape;817;p15"/>
          <p:cNvSpPr/>
          <p:nvPr/>
        </p:nvSpPr>
        <p:spPr>
          <a:xfrm>
            <a:off x="274320" y="1536192"/>
            <a:ext cx="6309360" cy="5120640"/>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5"/>
          <p:cNvSpPr/>
          <p:nvPr/>
        </p:nvSpPr>
        <p:spPr>
          <a:xfrm>
            <a:off x="457200" y="1645920"/>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Not Every District Wins the Same Way</a:t>
            </a:r>
            <a:endParaRPr sz="1150" b="0" i="0" u="none" strike="noStrike" cap="none">
              <a:solidFill>
                <a:schemeClr val="dk1"/>
              </a:solidFill>
              <a:latin typeface="Calibri"/>
              <a:ea typeface="Calibri"/>
              <a:cs typeface="Calibri"/>
              <a:sym typeface="Calibri"/>
            </a:endParaRPr>
          </a:p>
        </p:txBody>
      </p:sp>
      <p:sp>
        <p:nvSpPr>
          <p:cNvPr id="819" name="Google Shape;819;p15"/>
          <p:cNvSpPr/>
          <p:nvPr/>
        </p:nvSpPr>
        <p:spPr>
          <a:xfrm>
            <a:off x="457200" y="1865376"/>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a:solidFill>
                  <a:srgbClr val="241B3D"/>
                </a:solidFill>
              </a:rPr>
              <a:t>Districts split cleanly along both therapy dimensions, confirming Chronic and Acute MAI measure genuinely different things rather than two versions of the same score. Ahmedabad and Chennai score strong on both, making them priorities for full-portfolio sales coverage. Meanwhile, Kondagaon scores far higher on Acute (0.334) than Chronic (0.204) despite its modest population, reflecting a genuine divergence rather than a data artifact.</a:t>
            </a:r>
            <a:endParaRPr sz="920" b="0" i="0" u="none" strike="noStrike" cap="none">
              <a:solidFill>
                <a:schemeClr val="dk1"/>
              </a:solidFill>
              <a:latin typeface="Calibri"/>
              <a:ea typeface="Calibri"/>
              <a:cs typeface="Calibri"/>
              <a:sym typeface="Calibri"/>
            </a:endParaRPr>
          </a:p>
        </p:txBody>
      </p:sp>
      <p:sp>
        <p:nvSpPr>
          <p:cNvPr id="820" name="Google Shape;820;p15"/>
          <p:cNvSpPr/>
          <p:nvPr/>
        </p:nvSpPr>
        <p:spPr>
          <a:xfrm>
            <a:off x="457200" y="2871216"/>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Four Archetypes from Weighted Clustering</a:t>
            </a:r>
            <a:endParaRPr sz="1150" b="0" i="0" u="none" strike="noStrike" cap="none">
              <a:solidFill>
                <a:schemeClr val="dk1"/>
              </a:solidFill>
              <a:latin typeface="Calibri"/>
              <a:ea typeface="Calibri"/>
              <a:cs typeface="Calibri"/>
              <a:sym typeface="Calibri"/>
            </a:endParaRPr>
          </a:p>
        </p:txBody>
      </p:sp>
      <p:sp>
        <p:nvSpPr>
          <p:cNvPr id="821" name="Google Shape;821;p15"/>
          <p:cNvSpPr/>
          <p:nvPr/>
        </p:nvSpPr>
        <p:spPr>
          <a:xfrm>
            <a:off x="457200" y="3090672"/>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K-Means clustering on the full 37-variable scoring set, using index-consistent distance weighting, produces four segments: Elite Metro Powerhouses (n=6, highest on every measure), Established High-Value (n=210), Mainstream Mid-Tier (n=391, the bulk of the country), and Small Underserved Chronic-Leaning (n=99, weaker infrastructure but a real chronic-risk profile worth an access-first strategy).</a:t>
            </a:r>
            <a:endParaRPr sz="920" b="0" i="0" u="none" strike="noStrike" cap="none">
              <a:solidFill>
                <a:schemeClr val="dk1"/>
              </a:solidFill>
              <a:latin typeface="Calibri"/>
              <a:ea typeface="Calibri"/>
              <a:cs typeface="Calibri"/>
              <a:sym typeface="Calibri"/>
            </a:endParaRPr>
          </a:p>
        </p:txBody>
      </p:sp>
      <p:sp>
        <p:nvSpPr>
          <p:cNvPr id="822" name="Google Shape;822;p15"/>
          <p:cNvSpPr/>
          <p:nvPr/>
        </p:nvSpPr>
        <p:spPr>
          <a:xfrm>
            <a:off x="457200" y="4096512"/>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Therapy-Specific Re-weighting Logic</a:t>
            </a:r>
            <a:endParaRPr sz="1150" b="0" i="0" u="none" strike="noStrike" cap="none">
              <a:solidFill>
                <a:schemeClr val="dk1"/>
              </a:solidFill>
              <a:latin typeface="Calibri"/>
              <a:ea typeface="Calibri"/>
              <a:cs typeface="Calibri"/>
              <a:sym typeface="Calibri"/>
            </a:endParaRPr>
          </a:p>
        </p:txBody>
      </p:sp>
      <p:sp>
        <p:nvSpPr>
          <p:cNvPr id="823" name="Google Shape;823;p15"/>
          <p:cNvSpPr/>
          <p:nvPr/>
        </p:nvSpPr>
        <p:spPr>
          <a:xfrm>
            <a:off x="457200" y="4315968"/>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a:solidFill>
                  <a:srgbClr val="241B3D"/>
                </a:solidFill>
              </a:rPr>
              <a:t>Chronic MAI triples weights for chronic risk factors, insurance coverage, and Momentum, while scaling acute variables down to 0.3x. Acute MAI does the opposite by prioritizing acute prevalence and hospital access, while scaling down Momentum. Both indices re-normalize from the same 36-variable entropy base to maintain complete methodological consistency.</a:t>
            </a:r>
            <a:endParaRPr sz="920" b="0" i="0" u="none" strike="noStrike" cap="none">
              <a:solidFill>
                <a:schemeClr val="dk1"/>
              </a:solidFill>
              <a:latin typeface="Calibri"/>
              <a:ea typeface="Calibri"/>
              <a:cs typeface="Calibri"/>
              <a:sym typeface="Calibri"/>
            </a:endParaRPr>
          </a:p>
        </p:txBody>
      </p:sp>
      <p:sp>
        <p:nvSpPr>
          <p:cNvPr id="824" name="Google Shape;824;p15"/>
          <p:cNvSpPr/>
          <p:nvPr/>
        </p:nvSpPr>
        <p:spPr>
          <a:xfrm>
            <a:off x="457200" y="5321808"/>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What This Means for Deployment</a:t>
            </a:r>
            <a:endParaRPr sz="1150" b="0" i="0" u="none" strike="noStrike" cap="none">
              <a:solidFill>
                <a:schemeClr val="dk1"/>
              </a:solidFill>
              <a:latin typeface="Calibri"/>
              <a:ea typeface="Calibri"/>
              <a:cs typeface="Calibri"/>
              <a:sym typeface="Calibri"/>
            </a:endParaRPr>
          </a:p>
        </p:txBody>
      </p:sp>
      <p:sp>
        <p:nvSpPr>
          <p:cNvPr id="825" name="Google Shape;825;p15"/>
          <p:cNvSpPr/>
          <p:nvPr/>
        </p:nvSpPr>
        <p:spPr>
          <a:xfrm>
            <a:off x="457200" y="5541264"/>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a:solidFill>
                  <a:srgbClr val="241B3D"/>
                </a:solidFill>
              </a:rPr>
              <a:t>Districts in the bottom-left quadrant (weak on both Chronic and Acute today) are not low-priority. Our Small Underserved archetype analysis reveals strong underlying chronic-risk profiles that surface as access improves. For this segment, investing in access, rather than deprioritizing, is the right strategy.</a:t>
            </a:r>
            <a:endParaRPr sz="920" b="0" i="0" u="none" strike="noStrike" cap="none">
              <a:solidFill>
                <a:schemeClr val="dk1"/>
              </a:solidFill>
              <a:latin typeface="Calibri"/>
              <a:ea typeface="Calibri"/>
              <a:cs typeface="Calibri"/>
              <a:sym typeface="Calibri"/>
            </a:endParaRPr>
          </a:p>
        </p:txBody>
      </p:sp>
      <p:sp>
        <p:nvSpPr>
          <p:cNvPr id="826" name="Google Shape;826;p15"/>
          <p:cNvSpPr/>
          <p:nvPr/>
        </p:nvSpPr>
        <p:spPr>
          <a:xfrm>
            <a:off x="68122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5"/>
          <p:cNvSpPr/>
          <p:nvPr/>
        </p:nvSpPr>
        <p:spPr>
          <a:xfrm>
            <a:off x="68854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Chronic vs. Acute Quadrant</a:t>
            </a:r>
            <a:endParaRPr sz="800" b="0" i="0" u="none" strike="noStrike" cap="none">
              <a:solidFill>
                <a:schemeClr val="dk1"/>
              </a:solidFill>
              <a:latin typeface="Calibri"/>
              <a:ea typeface="Calibri"/>
              <a:cs typeface="Calibri"/>
              <a:sym typeface="Calibri"/>
            </a:endParaRPr>
          </a:p>
        </p:txBody>
      </p:sp>
      <p:pic>
        <p:nvPicPr>
          <p:cNvPr id="828" name="Google Shape;828;p15" descr="charts/02_chronic_acute_quadrant.png"/>
          <p:cNvPicPr preferRelativeResize="0"/>
          <p:nvPr/>
        </p:nvPicPr>
        <p:blipFill rotWithShape="1">
          <a:blip r:embed="rId5">
            <a:alphaModFix/>
          </a:blip>
          <a:srcRect/>
          <a:stretch/>
        </p:blipFill>
        <p:spPr>
          <a:xfrm>
            <a:off x="6903720" y="1755648"/>
            <a:ext cx="2263140" cy="1810512"/>
          </a:xfrm>
          <a:prstGeom prst="rect">
            <a:avLst/>
          </a:prstGeom>
          <a:noFill/>
          <a:ln>
            <a:noFill/>
          </a:ln>
        </p:spPr>
      </p:pic>
      <p:sp>
        <p:nvSpPr>
          <p:cNvPr id="829" name="Google Shape;829;p15"/>
          <p:cNvSpPr/>
          <p:nvPr/>
        </p:nvSpPr>
        <p:spPr>
          <a:xfrm>
            <a:off x="68854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Scatter plot: each dot is a district, x-axis = Chronic MAI, y-axis = Acute MAI, colored by archetype, sized by population. Districts in the top-right (both axes high) are full-portfolio priorities; bottom-left districts need an access-building approach, not deprioritization.</a:t>
            </a:r>
            <a:endParaRPr sz="630" b="0" i="0" u="none" strike="noStrike" cap="none">
              <a:solidFill>
                <a:schemeClr val="dk1"/>
              </a:solidFill>
              <a:latin typeface="Calibri"/>
              <a:ea typeface="Calibri"/>
              <a:cs typeface="Calibri"/>
              <a:sym typeface="Calibri"/>
            </a:endParaRPr>
          </a:p>
        </p:txBody>
      </p:sp>
      <p:sp>
        <p:nvSpPr>
          <p:cNvPr id="830" name="Google Shape;830;p15"/>
          <p:cNvSpPr/>
          <p:nvPr/>
        </p:nvSpPr>
        <p:spPr>
          <a:xfrm>
            <a:off x="9441180" y="1536192"/>
            <a:ext cx="2446020" cy="2468880"/>
          </a:xfrm>
          <a:prstGeom prst="rect">
            <a:avLst/>
          </a:prstGeom>
          <a:solidFill>
            <a:srgbClr val="160A6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5"/>
          <p:cNvSpPr/>
          <p:nvPr/>
        </p:nvSpPr>
        <p:spPr>
          <a:xfrm>
            <a:off x="95143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District Archetype Mix</a:t>
            </a:r>
            <a:endParaRPr sz="800" b="0" i="0" u="none" strike="noStrike" cap="none">
              <a:solidFill>
                <a:schemeClr val="dk1"/>
              </a:solidFill>
              <a:latin typeface="Calibri"/>
              <a:ea typeface="Calibri"/>
              <a:cs typeface="Calibri"/>
              <a:sym typeface="Calibri"/>
            </a:endParaRPr>
          </a:p>
        </p:txBody>
      </p:sp>
      <p:pic>
        <p:nvPicPr>
          <p:cNvPr id="832" name="Google Shape;832;p15" descr="charts/08_cluster_donut.png"/>
          <p:cNvPicPr preferRelativeResize="0"/>
          <p:nvPr/>
        </p:nvPicPr>
        <p:blipFill rotWithShape="1">
          <a:blip r:embed="rId6">
            <a:alphaModFix/>
          </a:blip>
          <a:srcRect/>
          <a:stretch/>
        </p:blipFill>
        <p:spPr>
          <a:xfrm>
            <a:off x="9532620" y="1755648"/>
            <a:ext cx="2263140" cy="1810512"/>
          </a:xfrm>
          <a:prstGeom prst="rect">
            <a:avLst/>
          </a:prstGeom>
          <a:noFill/>
          <a:ln>
            <a:noFill/>
          </a:ln>
        </p:spPr>
      </p:pic>
      <p:sp>
        <p:nvSpPr>
          <p:cNvPr id="833" name="Google Shape;833;p15"/>
          <p:cNvSpPr/>
          <p:nvPr/>
        </p:nvSpPr>
        <p:spPr>
          <a:xfrm>
            <a:off x="95143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Donut chart: Mainstream Mid-Tier is the largest archetype at 55% of all districts (391 of 706); Small Underserved Chronic-Leaning is 14% (99 districts) — a meaningful, not marginal, segment of the country.</a:t>
            </a:r>
            <a:endParaRPr sz="630" b="0" i="0" u="none" strike="noStrike" cap="none">
              <a:solidFill>
                <a:schemeClr val="dk1"/>
              </a:solidFill>
              <a:latin typeface="Calibri"/>
              <a:ea typeface="Calibri"/>
              <a:cs typeface="Calibri"/>
              <a:sym typeface="Calibri"/>
            </a:endParaRPr>
          </a:p>
        </p:txBody>
      </p:sp>
      <p:sp>
        <p:nvSpPr>
          <p:cNvPr id="834" name="Google Shape;834;p15"/>
          <p:cNvSpPr/>
          <p:nvPr/>
        </p:nvSpPr>
        <p:spPr>
          <a:xfrm>
            <a:off x="6812280" y="4187952"/>
            <a:ext cx="2446020" cy="2468880"/>
          </a:xfrm>
          <a:prstGeom prst="rect">
            <a:avLst/>
          </a:prstGeom>
          <a:solidFill>
            <a:srgbClr val="5F32F2"/>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5"/>
          <p:cNvSpPr/>
          <p:nvPr/>
        </p:nvSpPr>
        <p:spPr>
          <a:xfrm>
            <a:off x="68854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Chronic MAI Re-weighting</a:t>
            </a:r>
            <a:endParaRPr sz="800" b="0" i="0" u="none" strike="noStrike" cap="none">
              <a:solidFill>
                <a:schemeClr val="dk1"/>
              </a:solidFill>
              <a:latin typeface="Calibri"/>
              <a:ea typeface="Calibri"/>
              <a:cs typeface="Calibri"/>
              <a:sym typeface="Calibri"/>
            </a:endParaRPr>
          </a:p>
        </p:txBody>
      </p:sp>
      <p:sp>
        <p:nvSpPr>
          <p:cNvPr id="836" name="Google Shape;836;p15"/>
          <p:cNvSpPr/>
          <p:nvPr/>
        </p:nvSpPr>
        <p:spPr>
          <a:xfrm>
            <a:off x="69220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15"/>
          <p:cNvSpPr/>
          <p:nvPr/>
        </p:nvSpPr>
        <p:spPr>
          <a:xfrm>
            <a:off x="69585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Base 36-variable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entropy score</a:t>
            </a:r>
            <a:endParaRPr sz="760" b="0" i="0" u="none" strike="noStrike" cap="none">
              <a:solidFill>
                <a:schemeClr val="dk1"/>
              </a:solidFill>
              <a:latin typeface="Calibri"/>
              <a:ea typeface="Calibri"/>
              <a:cs typeface="Calibri"/>
              <a:sym typeface="Calibri"/>
            </a:endParaRPr>
          </a:p>
        </p:txBody>
      </p:sp>
      <p:sp>
        <p:nvSpPr>
          <p:cNvPr id="838" name="Google Shape;838;p15"/>
          <p:cNvSpPr/>
          <p:nvPr/>
        </p:nvSpPr>
        <p:spPr>
          <a:xfrm>
            <a:off x="79621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5"/>
          <p:cNvSpPr/>
          <p:nvPr/>
        </p:nvSpPr>
        <p:spPr>
          <a:xfrm>
            <a:off x="6922008" y="504291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15"/>
          <p:cNvSpPr/>
          <p:nvPr/>
        </p:nvSpPr>
        <p:spPr>
          <a:xfrm>
            <a:off x="69585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×3 Chronic pillar</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 insurance + momentum</a:t>
            </a:r>
            <a:endParaRPr sz="760" b="0" i="0" u="none" strike="noStrike" cap="none">
              <a:solidFill>
                <a:schemeClr val="dk1"/>
              </a:solidFill>
              <a:latin typeface="Calibri"/>
              <a:ea typeface="Calibri"/>
              <a:cs typeface="Calibri"/>
              <a:sym typeface="Calibri"/>
            </a:endParaRPr>
          </a:p>
        </p:txBody>
      </p:sp>
      <p:sp>
        <p:nvSpPr>
          <p:cNvPr id="841" name="Google Shape;841;p15"/>
          <p:cNvSpPr/>
          <p:nvPr/>
        </p:nvSpPr>
        <p:spPr>
          <a:xfrm>
            <a:off x="79621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15"/>
          <p:cNvSpPr/>
          <p:nvPr/>
        </p:nvSpPr>
        <p:spPr>
          <a:xfrm>
            <a:off x="69220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15"/>
          <p:cNvSpPr/>
          <p:nvPr/>
        </p:nvSpPr>
        <p:spPr>
          <a:xfrm>
            <a:off x="69585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×0.3 Acute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pillar</a:t>
            </a:r>
            <a:endParaRPr sz="760" b="0" i="0" u="none" strike="noStrike" cap="none">
              <a:solidFill>
                <a:schemeClr val="dk1"/>
              </a:solidFill>
              <a:latin typeface="Calibri"/>
              <a:ea typeface="Calibri"/>
              <a:cs typeface="Calibri"/>
              <a:sym typeface="Calibri"/>
            </a:endParaRPr>
          </a:p>
        </p:txBody>
      </p:sp>
      <p:sp>
        <p:nvSpPr>
          <p:cNvPr id="844" name="Google Shape;844;p15"/>
          <p:cNvSpPr/>
          <p:nvPr/>
        </p:nvSpPr>
        <p:spPr>
          <a:xfrm>
            <a:off x="79621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15"/>
          <p:cNvSpPr/>
          <p:nvPr/>
        </p:nvSpPr>
        <p:spPr>
          <a:xfrm>
            <a:off x="6922008" y="609447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15"/>
          <p:cNvSpPr/>
          <p:nvPr/>
        </p:nvSpPr>
        <p:spPr>
          <a:xfrm>
            <a:off x="69585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Renormalize →</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Chronic MAI</a:t>
            </a:r>
            <a:endParaRPr sz="760" b="0" i="0" u="none" strike="noStrike" cap="none">
              <a:solidFill>
                <a:schemeClr val="dk1"/>
              </a:solidFill>
              <a:latin typeface="Calibri"/>
              <a:ea typeface="Calibri"/>
              <a:cs typeface="Calibri"/>
              <a:sym typeface="Calibri"/>
            </a:endParaRPr>
          </a:p>
        </p:txBody>
      </p:sp>
      <p:sp>
        <p:nvSpPr>
          <p:cNvPr id="847" name="Google Shape;847;p15"/>
          <p:cNvSpPr/>
          <p:nvPr/>
        </p:nvSpPr>
        <p:spPr>
          <a:xfrm>
            <a:off x="9441180" y="4187952"/>
            <a:ext cx="2446020" cy="2468880"/>
          </a:xfrm>
          <a:prstGeom prst="rect">
            <a:avLst/>
          </a:prstGeom>
          <a:solidFill>
            <a:srgbClr val="38521F"/>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5"/>
          <p:cNvSpPr/>
          <p:nvPr/>
        </p:nvSpPr>
        <p:spPr>
          <a:xfrm>
            <a:off x="95143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Acute MAI Re-weighting</a:t>
            </a:r>
            <a:endParaRPr sz="800" b="0" i="0" u="none" strike="noStrike" cap="none">
              <a:solidFill>
                <a:schemeClr val="dk1"/>
              </a:solidFill>
              <a:latin typeface="Calibri"/>
              <a:ea typeface="Calibri"/>
              <a:cs typeface="Calibri"/>
              <a:sym typeface="Calibri"/>
            </a:endParaRPr>
          </a:p>
        </p:txBody>
      </p:sp>
      <p:sp>
        <p:nvSpPr>
          <p:cNvPr id="849" name="Google Shape;849;p15"/>
          <p:cNvSpPr/>
          <p:nvPr/>
        </p:nvSpPr>
        <p:spPr>
          <a:xfrm>
            <a:off x="95509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5"/>
          <p:cNvSpPr/>
          <p:nvPr/>
        </p:nvSpPr>
        <p:spPr>
          <a:xfrm>
            <a:off x="95874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Base 36-variable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entropy score</a:t>
            </a:r>
            <a:endParaRPr sz="760" b="0" i="0" u="none" strike="noStrike" cap="none">
              <a:solidFill>
                <a:schemeClr val="dk1"/>
              </a:solidFill>
              <a:latin typeface="Calibri"/>
              <a:ea typeface="Calibri"/>
              <a:cs typeface="Calibri"/>
              <a:sym typeface="Calibri"/>
            </a:endParaRPr>
          </a:p>
        </p:txBody>
      </p:sp>
      <p:sp>
        <p:nvSpPr>
          <p:cNvPr id="851" name="Google Shape;851;p15"/>
          <p:cNvSpPr/>
          <p:nvPr/>
        </p:nvSpPr>
        <p:spPr>
          <a:xfrm>
            <a:off x="105910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15"/>
          <p:cNvSpPr/>
          <p:nvPr/>
        </p:nvSpPr>
        <p:spPr>
          <a:xfrm>
            <a:off x="9550908" y="5042916"/>
            <a:ext cx="2226564" cy="466344"/>
          </a:xfrm>
          <a:prstGeom prst="roundRect">
            <a:avLst>
              <a:gd name="adj" fmla="val 9804"/>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5"/>
          <p:cNvSpPr/>
          <p:nvPr/>
        </p:nvSpPr>
        <p:spPr>
          <a:xfrm>
            <a:off x="95874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×3 Acute pillar</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 hospital access</a:t>
            </a:r>
            <a:endParaRPr sz="760" b="0" i="0" u="none" strike="noStrike" cap="none">
              <a:solidFill>
                <a:schemeClr val="dk1"/>
              </a:solidFill>
              <a:latin typeface="Calibri"/>
              <a:ea typeface="Calibri"/>
              <a:cs typeface="Calibri"/>
              <a:sym typeface="Calibri"/>
            </a:endParaRPr>
          </a:p>
        </p:txBody>
      </p:sp>
      <p:sp>
        <p:nvSpPr>
          <p:cNvPr id="854" name="Google Shape;854;p15"/>
          <p:cNvSpPr/>
          <p:nvPr/>
        </p:nvSpPr>
        <p:spPr>
          <a:xfrm>
            <a:off x="105910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5"/>
          <p:cNvSpPr/>
          <p:nvPr/>
        </p:nvSpPr>
        <p:spPr>
          <a:xfrm>
            <a:off x="95509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5"/>
          <p:cNvSpPr/>
          <p:nvPr/>
        </p:nvSpPr>
        <p:spPr>
          <a:xfrm>
            <a:off x="95874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×0.3</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Momentum</a:t>
            </a:r>
            <a:endParaRPr sz="760" b="0" i="0" u="none" strike="noStrike" cap="none">
              <a:solidFill>
                <a:schemeClr val="dk1"/>
              </a:solidFill>
              <a:latin typeface="Calibri"/>
              <a:ea typeface="Calibri"/>
              <a:cs typeface="Calibri"/>
              <a:sym typeface="Calibri"/>
            </a:endParaRPr>
          </a:p>
        </p:txBody>
      </p:sp>
      <p:sp>
        <p:nvSpPr>
          <p:cNvPr id="857" name="Google Shape;857;p15"/>
          <p:cNvSpPr/>
          <p:nvPr/>
        </p:nvSpPr>
        <p:spPr>
          <a:xfrm>
            <a:off x="105910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15"/>
          <p:cNvSpPr/>
          <p:nvPr/>
        </p:nvSpPr>
        <p:spPr>
          <a:xfrm>
            <a:off x="9550908" y="6094476"/>
            <a:ext cx="2226564" cy="466344"/>
          </a:xfrm>
          <a:prstGeom prst="roundRect">
            <a:avLst>
              <a:gd name="adj" fmla="val 9804"/>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15"/>
          <p:cNvSpPr/>
          <p:nvPr/>
        </p:nvSpPr>
        <p:spPr>
          <a:xfrm>
            <a:off x="95874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Renormalize →</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Acute MAI</a:t>
            </a:r>
            <a:endParaRPr sz="760" b="0" i="0" u="none" strike="noStrike" cap="none">
              <a:solidFill>
                <a:schemeClr val="dk1"/>
              </a:solidFill>
              <a:latin typeface="Calibri"/>
              <a:ea typeface="Calibri"/>
              <a:cs typeface="Calibri"/>
              <a:sym typeface="Calibri"/>
            </a:endParaRPr>
          </a:p>
        </p:txBody>
      </p:sp>
      <p:sp>
        <p:nvSpPr>
          <p:cNvPr id="860" name="Google Shape;860;p15"/>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5"/>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15"/>
          <p:cNvSpPr/>
          <p:nvPr/>
        </p:nvSpPr>
        <p:spPr>
          <a:xfrm>
            <a:off x="4648200" y="6565392"/>
            <a:ext cx="2895600" cy="292608"/>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15"/>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15"/>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5"/>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5"/>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867" name="Google Shape;867;p15"/>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15</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72"/>
        <p:cNvGrpSpPr/>
        <p:nvPr/>
      </p:nvGrpSpPr>
      <p:grpSpPr>
        <a:xfrm>
          <a:off x="0" y="0"/>
          <a:ext cx="0" cy="0"/>
          <a:chOff x="0" y="0"/>
          <a:chExt cx="0" cy="0"/>
        </a:xfrm>
      </p:grpSpPr>
      <p:sp>
        <p:nvSpPr>
          <p:cNvPr id="873" name="Google Shape;873;p16"/>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74" name="Google Shape;874;p16"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875" name="Google Shape;875;p16"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876" name="Google Shape;876;p16"/>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877" name="Google Shape;877;p16"/>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878" name="Google Shape;878;p16"/>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Is the Index Trustworthy? Validation &amp; Momentum</a:t>
            </a:r>
            <a:endParaRPr sz="2200" b="0" i="0" u="none" strike="noStrike" cap="none">
              <a:solidFill>
                <a:schemeClr val="dk1"/>
              </a:solidFill>
              <a:latin typeface="Calibri"/>
              <a:ea typeface="Calibri"/>
              <a:cs typeface="Calibri"/>
              <a:sym typeface="Calibri"/>
            </a:endParaRPr>
          </a:p>
        </p:txBody>
      </p:sp>
      <p:sp>
        <p:nvSpPr>
          <p:cNvPr id="879" name="Google Shape;879;p16"/>
          <p:cNvSpPr/>
          <p:nvPr/>
        </p:nvSpPr>
        <p:spPr>
          <a:xfrm>
            <a:off x="274320" y="1536192"/>
            <a:ext cx="6309360" cy="5120640"/>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16"/>
          <p:cNvSpPr/>
          <p:nvPr/>
        </p:nvSpPr>
        <p:spPr>
          <a:xfrm>
            <a:off x="457200" y="1645920"/>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Sensitivity Testing</a:t>
            </a:r>
            <a:endParaRPr sz="1150" b="0" i="0" u="none" strike="noStrike" cap="none">
              <a:solidFill>
                <a:schemeClr val="dk1"/>
              </a:solidFill>
              <a:latin typeface="Calibri"/>
              <a:ea typeface="Calibri"/>
              <a:cs typeface="Calibri"/>
              <a:sym typeface="Calibri"/>
            </a:endParaRPr>
          </a:p>
        </p:txBody>
      </p:sp>
      <p:sp>
        <p:nvSpPr>
          <p:cNvPr id="881" name="Google Shape;881;p16"/>
          <p:cNvSpPr/>
          <p:nvPr/>
        </p:nvSpPr>
        <p:spPr>
          <a:xfrm>
            <a:off x="457200" y="1865376"/>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Weight perturbations of ±10% on the top-3 entropy-weighted variables, and ±1.5 points on the 15% population floor itself, leave the district ranking almost completely untouched — Spearman ρ ≥ 0.999 throughout. This confirms the ranking is not fragile to small, reasonable changes in methodology.</a:t>
            </a:r>
            <a:endParaRPr sz="920" b="0" i="0" u="none" strike="noStrike" cap="none">
              <a:solidFill>
                <a:schemeClr val="dk1"/>
              </a:solidFill>
              <a:latin typeface="Calibri"/>
              <a:ea typeface="Calibri"/>
              <a:cs typeface="Calibri"/>
              <a:sym typeface="Calibri"/>
            </a:endParaRPr>
          </a:p>
        </p:txBody>
      </p:sp>
      <p:sp>
        <p:nvSpPr>
          <p:cNvPr id="882" name="Google Shape;882;p16"/>
          <p:cNvSpPr/>
          <p:nvPr/>
        </p:nvSpPr>
        <p:spPr>
          <a:xfrm>
            <a:off x="457200" y="2871216"/>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Cross-Method Agreement</a:t>
            </a:r>
            <a:endParaRPr sz="1150" b="0" i="0" u="none" strike="noStrike" cap="none">
              <a:solidFill>
                <a:schemeClr val="dk1"/>
              </a:solidFill>
              <a:latin typeface="Calibri"/>
              <a:ea typeface="Calibri"/>
              <a:cs typeface="Calibri"/>
              <a:sym typeface="Calibri"/>
            </a:endParaRPr>
          </a:p>
        </p:txBody>
      </p:sp>
      <p:sp>
        <p:nvSpPr>
          <p:cNvPr id="883" name="Google Shape;883;p16"/>
          <p:cNvSpPr/>
          <p:nvPr/>
        </p:nvSpPr>
        <p:spPr>
          <a:xfrm>
            <a:off x="457200" y="3090672"/>
            <a:ext cx="5943600" cy="969264"/>
          </a:xfrm>
          <a:prstGeom prst="rect">
            <a:avLst/>
          </a:prstGeom>
          <a:noFill/>
          <a:ln>
            <a:noFill/>
          </a:ln>
        </p:spPr>
        <p:txBody>
          <a:bodyPr spcFirstLastPara="1" wrap="square" lIns="0" tIns="0" rIns="0" bIns="0" anchor="ctr" anchorCtr="0">
            <a:noAutofit/>
          </a:bodyPr>
          <a:lstStyle/>
          <a:p>
            <a:pPr marL="0" lvl="0" indent="0" algn="just" rtl="0">
              <a:lnSpc>
                <a:spcPct val="116000"/>
              </a:lnSpc>
              <a:spcBef>
                <a:spcPts val="0"/>
              </a:spcBef>
              <a:spcAft>
                <a:spcPts val="0"/>
              </a:spcAft>
              <a:buClr>
                <a:srgbClr val="241B3D"/>
              </a:buClr>
              <a:buSzPts val="920"/>
              <a:buFont typeface="Arial"/>
              <a:buNone/>
            </a:pPr>
            <a:r>
              <a:rPr lang="en-US" sz="920">
                <a:solidFill>
                  <a:srgbClr val="241B3D"/>
                </a:solidFill>
              </a:rPr>
              <a:t>Entropy-weighted and judgment-weighted Overall MAI show strong agreement (ρ = 0.794), whereas an equal-weight baseline diverges significantly (ρ= 0.713). Together, these results confirm entropy weighting provides genuine analytical value rather than mirroring a flat average or serving as an arbitrary choice.</a:t>
            </a:r>
            <a:endParaRPr sz="920" b="0" i="0" u="none" strike="noStrike" cap="none">
              <a:solidFill>
                <a:schemeClr val="dk1"/>
              </a:solidFill>
              <a:latin typeface="Calibri"/>
              <a:ea typeface="Calibri"/>
              <a:cs typeface="Calibri"/>
              <a:sym typeface="Calibri"/>
            </a:endParaRPr>
          </a:p>
        </p:txBody>
      </p:sp>
      <p:sp>
        <p:nvSpPr>
          <p:cNvPr id="884" name="Google Shape;884;p16"/>
          <p:cNvSpPr/>
          <p:nvPr/>
        </p:nvSpPr>
        <p:spPr>
          <a:xfrm>
            <a:off x="457200" y="4096512"/>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Momentum: A Clean, Uncontaminated Signal</a:t>
            </a:r>
            <a:endParaRPr sz="1150" b="0" i="0" u="none" strike="noStrike" cap="none">
              <a:solidFill>
                <a:schemeClr val="dk1"/>
              </a:solidFill>
              <a:latin typeface="Calibri"/>
              <a:ea typeface="Calibri"/>
              <a:cs typeface="Calibri"/>
              <a:sym typeface="Calibri"/>
            </a:endParaRPr>
          </a:p>
        </p:txBody>
      </p:sp>
      <p:sp>
        <p:nvSpPr>
          <p:cNvPr id="885" name="Google Shape;885;p16"/>
          <p:cNvSpPr/>
          <p:nvPr/>
        </p:nvSpPr>
        <p:spPr>
          <a:xfrm>
            <a:off x="457200" y="4315968"/>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a:solidFill>
                  <a:srgbClr val="241B3D"/>
                </a:solidFill>
              </a:rPr>
              <a:t>Unlike Overall MAI, our Momentum Index and Rising Stars ranking showed zero small-district population artifacts from the start. Because Momentum relies on state-level GDP CAGR (an economic aggregate) rather than district-level survey percentages, it was never vulnerable to small-sample statistical noise.</a:t>
            </a:r>
            <a:endParaRPr sz="920" b="0" i="0" u="none" strike="noStrike" cap="none">
              <a:solidFill>
                <a:schemeClr val="dk1"/>
              </a:solidFill>
              <a:latin typeface="Calibri"/>
              <a:ea typeface="Calibri"/>
              <a:cs typeface="Calibri"/>
              <a:sym typeface="Calibri"/>
            </a:endParaRPr>
          </a:p>
        </p:txBody>
      </p:sp>
      <p:sp>
        <p:nvSpPr>
          <p:cNvPr id="886" name="Google Shape;886;p16"/>
          <p:cNvSpPr/>
          <p:nvPr/>
        </p:nvSpPr>
        <p:spPr>
          <a:xfrm>
            <a:off x="457200" y="5321808"/>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What Rising Stars Means for Deployment</a:t>
            </a:r>
            <a:endParaRPr sz="1150" b="0" i="0" u="none" strike="noStrike" cap="none">
              <a:solidFill>
                <a:schemeClr val="dk1"/>
              </a:solidFill>
              <a:latin typeface="Calibri"/>
              <a:ea typeface="Calibri"/>
              <a:cs typeface="Calibri"/>
              <a:sym typeface="Calibri"/>
            </a:endParaRPr>
          </a:p>
        </p:txBody>
      </p:sp>
      <p:sp>
        <p:nvSpPr>
          <p:cNvPr id="887" name="Google Shape;887;p16"/>
          <p:cNvSpPr/>
          <p:nvPr/>
        </p:nvSpPr>
        <p:spPr>
          <a:xfrm>
            <a:off x="457200" y="5541264"/>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a:solidFill>
                  <a:srgbClr val="241B3D"/>
                </a:solidFill>
              </a:rPr>
              <a:t>Districts climbing fastest toward their 3-year Future MAI offer a prime first-mover window for sales-force investment. This projection relies exclusively on real GDP growth and NFHS4-to-NFHS5 changes across 12 valid trend-capable indicators, entirely excluding the 20 single-timepoint indicators that lack historical trend data.</a:t>
            </a:r>
            <a:endParaRPr sz="920" b="0" i="0" u="none" strike="noStrike" cap="none">
              <a:solidFill>
                <a:schemeClr val="dk1"/>
              </a:solidFill>
              <a:latin typeface="Calibri"/>
              <a:ea typeface="Calibri"/>
              <a:cs typeface="Calibri"/>
              <a:sym typeface="Calibri"/>
            </a:endParaRPr>
          </a:p>
        </p:txBody>
      </p:sp>
      <p:sp>
        <p:nvSpPr>
          <p:cNvPr id="888" name="Google Shape;888;p16"/>
          <p:cNvSpPr/>
          <p:nvPr/>
        </p:nvSpPr>
        <p:spPr>
          <a:xfrm>
            <a:off x="68122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6"/>
          <p:cNvSpPr/>
          <p:nvPr/>
        </p:nvSpPr>
        <p:spPr>
          <a:xfrm>
            <a:off x="68854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Sensitivity &amp; Entropy Weights</a:t>
            </a:r>
            <a:endParaRPr sz="800" b="0" i="0" u="none" strike="noStrike" cap="none">
              <a:solidFill>
                <a:schemeClr val="dk1"/>
              </a:solidFill>
              <a:latin typeface="Calibri"/>
              <a:ea typeface="Calibri"/>
              <a:cs typeface="Calibri"/>
              <a:sym typeface="Calibri"/>
            </a:endParaRPr>
          </a:p>
        </p:txBody>
      </p:sp>
      <p:pic>
        <p:nvPicPr>
          <p:cNvPr id="890" name="Google Shape;890;p16" descr="charts/05_sensitivity.png"/>
          <p:cNvPicPr preferRelativeResize="0"/>
          <p:nvPr/>
        </p:nvPicPr>
        <p:blipFill rotWithShape="1">
          <a:blip r:embed="rId5">
            <a:alphaModFix/>
          </a:blip>
          <a:srcRect/>
          <a:stretch/>
        </p:blipFill>
        <p:spPr>
          <a:xfrm>
            <a:off x="6903720" y="1755648"/>
            <a:ext cx="2263140" cy="1810512"/>
          </a:xfrm>
          <a:prstGeom prst="rect">
            <a:avLst/>
          </a:prstGeom>
          <a:noFill/>
          <a:ln>
            <a:noFill/>
          </a:ln>
        </p:spPr>
      </p:pic>
      <p:sp>
        <p:nvSpPr>
          <p:cNvPr id="891" name="Google Shape;891;p16"/>
          <p:cNvSpPr/>
          <p:nvPr/>
        </p:nvSpPr>
        <p:spPr>
          <a:xfrm>
            <a:off x="68854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Left: Spearman ρ between the base ranking and each perturbation test (all ≥ 0.999). Right: entropy weight of the top-10 individual variables driving Overall MAI — hospital-count variables carry the single highest weights.</a:t>
            </a:r>
            <a:endParaRPr sz="630" b="0" i="0" u="none" strike="noStrike" cap="none">
              <a:solidFill>
                <a:schemeClr val="dk1"/>
              </a:solidFill>
              <a:latin typeface="Calibri"/>
              <a:ea typeface="Calibri"/>
              <a:cs typeface="Calibri"/>
              <a:sym typeface="Calibri"/>
            </a:endParaRPr>
          </a:p>
        </p:txBody>
      </p:sp>
      <p:sp>
        <p:nvSpPr>
          <p:cNvPr id="892" name="Google Shape;892;p16"/>
          <p:cNvSpPr/>
          <p:nvPr/>
        </p:nvSpPr>
        <p:spPr>
          <a:xfrm>
            <a:off x="94411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6"/>
          <p:cNvSpPr/>
          <p:nvPr/>
        </p:nvSpPr>
        <p:spPr>
          <a:xfrm>
            <a:off x="95143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Rising Stars (Rank Delta)</a:t>
            </a:r>
            <a:endParaRPr sz="800" b="0" i="0" u="none" strike="noStrike" cap="none">
              <a:solidFill>
                <a:schemeClr val="dk1"/>
              </a:solidFill>
              <a:latin typeface="Calibri"/>
              <a:ea typeface="Calibri"/>
              <a:cs typeface="Calibri"/>
              <a:sym typeface="Calibri"/>
            </a:endParaRPr>
          </a:p>
        </p:txBody>
      </p:sp>
      <p:pic>
        <p:nvPicPr>
          <p:cNvPr id="894" name="Google Shape;894;p16" descr="charts/06_rising_stars.png"/>
          <p:cNvPicPr preferRelativeResize="0"/>
          <p:nvPr/>
        </p:nvPicPr>
        <p:blipFill rotWithShape="1">
          <a:blip r:embed="rId6">
            <a:alphaModFix/>
          </a:blip>
          <a:srcRect/>
          <a:stretch/>
        </p:blipFill>
        <p:spPr>
          <a:xfrm>
            <a:off x="9532620" y="1755648"/>
            <a:ext cx="2263140" cy="1810512"/>
          </a:xfrm>
          <a:prstGeom prst="rect">
            <a:avLst/>
          </a:prstGeom>
          <a:noFill/>
          <a:ln>
            <a:noFill/>
          </a:ln>
        </p:spPr>
      </p:pic>
      <p:sp>
        <p:nvSpPr>
          <p:cNvPr id="895" name="Google Shape;895;p16"/>
          <p:cNvSpPr/>
          <p:nvPr/>
        </p:nvSpPr>
        <p:spPr>
          <a:xfrm>
            <a:off x="95143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Bar chart: districts with the largest positive Rank_Delta (climbing toward their projected 3-year Future MAI) versus the largest negative Rank_Delta (fading). Positive bars indicate the strongest forward-looking investment candidates.</a:t>
            </a:r>
            <a:endParaRPr sz="630" b="0" i="0" u="none" strike="noStrike" cap="none">
              <a:solidFill>
                <a:schemeClr val="dk1"/>
              </a:solidFill>
              <a:latin typeface="Calibri"/>
              <a:ea typeface="Calibri"/>
              <a:cs typeface="Calibri"/>
              <a:sym typeface="Calibri"/>
            </a:endParaRPr>
          </a:p>
        </p:txBody>
      </p:sp>
      <p:sp>
        <p:nvSpPr>
          <p:cNvPr id="896" name="Google Shape;896;p16"/>
          <p:cNvSpPr/>
          <p:nvPr/>
        </p:nvSpPr>
        <p:spPr>
          <a:xfrm>
            <a:off x="6812280" y="4187952"/>
            <a:ext cx="2446020" cy="2468880"/>
          </a:xfrm>
          <a:prstGeom prst="rect">
            <a:avLst/>
          </a:prstGeom>
          <a:solidFill>
            <a:srgbClr val="160A6E"/>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6"/>
          <p:cNvSpPr/>
          <p:nvPr/>
        </p:nvSpPr>
        <p:spPr>
          <a:xfrm>
            <a:off x="68854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Robustness Test Sequence</a:t>
            </a:r>
            <a:endParaRPr sz="800" b="0" i="0" u="none" strike="noStrike" cap="none">
              <a:solidFill>
                <a:schemeClr val="dk1"/>
              </a:solidFill>
              <a:latin typeface="Calibri"/>
              <a:ea typeface="Calibri"/>
              <a:cs typeface="Calibri"/>
              <a:sym typeface="Calibri"/>
            </a:endParaRPr>
          </a:p>
        </p:txBody>
      </p:sp>
      <p:sp>
        <p:nvSpPr>
          <p:cNvPr id="898" name="Google Shape;898;p16"/>
          <p:cNvSpPr/>
          <p:nvPr/>
        </p:nvSpPr>
        <p:spPr>
          <a:xfrm>
            <a:off x="69220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6"/>
          <p:cNvSpPr/>
          <p:nvPr/>
        </p:nvSpPr>
        <p:spPr>
          <a:xfrm>
            <a:off x="69585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±10% top-3</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weight perturbation</a:t>
            </a:r>
            <a:endParaRPr sz="760" b="0" i="0" u="none" strike="noStrike" cap="none">
              <a:solidFill>
                <a:schemeClr val="dk1"/>
              </a:solidFill>
              <a:latin typeface="Calibri"/>
              <a:ea typeface="Calibri"/>
              <a:cs typeface="Calibri"/>
              <a:sym typeface="Calibri"/>
            </a:endParaRPr>
          </a:p>
        </p:txBody>
      </p:sp>
      <p:sp>
        <p:nvSpPr>
          <p:cNvPr id="900" name="Google Shape;900;p16"/>
          <p:cNvSpPr/>
          <p:nvPr/>
        </p:nvSpPr>
        <p:spPr>
          <a:xfrm>
            <a:off x="79621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16"/>
          <p:cNvSpPr/>
          <p:nvPr/>
        </p:nvSpPr>
        <p:spPr>
          <a:xfrm>
            <a:off x="6922008" y="5042916"/>
            <a:ext cx="2226564" cy="466344"/>
          </a:xfrm>
          <a:prstGeom prst="roundRect">
            <a:avLst>
              <a:gd name="adj" fmla="val 9804"/>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6"/>
          <p:cNvSpPr/>
          <p:nvPr/>
        </p:nvSpPr>
        <p:spPr>
          <a:xfrm>
            <a:off x="69585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±1.5pt population</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floor perturbation</a:t>
            </a:r>
            <a:endParaRPr sz="760" b="0" i="0" u="none" strike="noStrike" cap="none">
              <a:solidFill>
                <a:schemeClr val="dk1"/>
              </a:solidFill>
              <a:latin typeface="Calibri"/>
              <a:ea typeface="Calibri"/>
              <a:cs typeface="Calibri"/>
              <a:sym typeface="Calibri"/>
            </a:endParaRPr>
          </a:p>
        </p:txBody>
      </p:sp>
      <p:sp>
        <p:nvSpPr>
          <p:cNvPr id="903" name="Google Shape;903;p16"/>
          <p:cNvSpPr/>
          <p:nvPr/>
        </p:nvSpPr>
        <p:spPr>
          <a:xfrm>
            <a:off x="79621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6"/>
          <p:cNvSpPr/>
          <p:nvPr/>
        </p:nvSpPr>
        <p:spPr>
          <a:xfrm>
            <a:off x="69220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6"/>
          <p:cNvSpPr/>
          <p:nvPr/>
        </p:nvSpPr>
        <p:spPr>
          <a:xfrm>
            <a:off x="69585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Equal-weight</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baseline (ρ=0.71)</a:t>
            </a:r>
            <a:endParaRPr sz="760" b="0" i="0" u="none" strike="noStrike" cap="none">
              <a:solidFill>
                <a:schemeClr val="dk1"/>
              </a:solidFill>
              <a:latin typeface="Calibri"/>
              <a:ea typeface="Calibri"/>
              <a:cs typeface="Calibri"/>
              <a:sym typeface="Calibri"/>
            </a:endParaRPr>
          </a:p>
        </p:txBody>
      </p:sp>
      <p:sp>
        <p:nvSpPr>
          <p:cNvPr id="906" name="Google Shape;906;p16"/>
          <p:cNvSpPr/>
          <p:nvPr/>
        </p:nvSpPr>
        <p:spPr>
          <a:xfrm>
            <a:off x="79621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16"/>
          <p:cNvSpPr/>
          <p:nvPr/>
        </p:nvSpPr>
        <p:spPr>
          <a:xfrm>
            <a:off x="6922008" y="6094476"/>
            <a:ext cx="2226564" cy="466344"/>
          </a:xfrm>
          <a:prstGeom prst="roundRect">
            <a:avLst>
              <a:gd name="adj" fmla="val 9804"/>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16"/>
          <p:cNvSpPr/>
          <p:nvPr/>
        </p:nvSpPr>
        <p:spPr>
          <a:xfrm>
            <a:off x="69585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All tests</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ρ≥0.999 or 0.71+</a:t>
            </a:r>
            <a:endParaRPr sz="760" b="0" i="0" u="none" strike="noStrike" cap="none">
              <a:solidFill>
                <a:schemeClr val="dk1"/>
              </a:solidFill>
              <a:latin typeface="Calibri"/>
              <a:ea typeface="Calibri"/>
              <a:cs typeface="Calibri"/>
              <a:sym typeface="Calibri"/>
            </a:endParaRPr>
          </a:p>
        </p:txBody>
      </p:sp>
      <p:sp>
        <p:nvSpPr>
          <p:cNvPr id="909" name="Google Shape;909;p16"/>
          <p:cNvSpPr/>
          <p:nvPr/>
        </p:nvSpPr>
        <p:spPr>
          <a:xfrm>
            <a:off x="9441180" y="4187952"/>
            <a:ext cx="2446020" cy="2468880"/>
          </a:xfrm>
          <a:prstGeom prst="rect">
            <a:avLst/>
          </a:prstGeom>
          <a:solidFill>
            <a:srgbClr val="38521F"/>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6"/>
          <p:cNvSpPr/>
          <p:nvPr/>
        </p:nvSpPr>
        <p:spPr>
          <a:xfrm>
            <a:off x="95143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Momentum Construction</a:t>
            </a:r>
            <a:endParaRPr sz="800" b="0" i="0" u="none" strike="noStrike" cap="none">
              <a:solidFill>
                <a:schemeClr val="dk1"/>
              </a:solidFill>
              <a:latin typeface="Calibri"/>
              <a:ea typeface="Calibri"/>
              <a:cs typeface="Calibri"/>
              <a:sym typeface="Calibri"/>
            </a:endParaRPr>
          </a:p>
        </p:txBody>
      </p:sp>
      <p:sp>
        <p:nvSpPr>
          <p:cNvPr id="911" name="Google Shape;911;p16"/>
          <p:cNvSpPr/>
          <p:nvPr/>
        </p:nvSpPr>
        <p:spPr>
          <a:xfrm>
            <a:off x="95509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16"/>
          <p:cNvSpPr/>
          <p:nvPr/>
        </p:nvSpPr>
        <p:spPr>
          <a:xfrm>
            <a:off x="95874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State GDP</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CAGR (real data)</a:t>
            </a:r>
            <a:endParaRPr sz="760" b="0" i="0" u="none" strike="noStrike" cap="none">
              <a:solidFill>
                <a:schemeClr val="dk1"/>
              </a:solidFill>
              <a:latin typeface="Calibri"/>
              <a:ea typeface="Calibri"/>
              <a:cs typeface="Calibri"/>
              <a:sym typeface="Calibri"/>
            </a:endParaRPr>
          </a:p>
        </p:txBody>
      </p:sp>
      <p:sp>
        <p:nvSpPr>
          <p:cNvPr id="913" name="Google Shape;913;p16"/>
          <p:cNvSpPr/>
          <p:nvPr/>
        </p:nvSpPr>
        <p:spPr>
          <a:xfrm>
            <a:off x="105910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16"/>
          <p:cNvSpPr/>
          <p:nvPr/>
        </p:nvSpPr>
        <p:spPr>
          <a:xfrm>
            <a:off x="9550908" y="5042916"/>
            <a:ext cx="2226564" cy="466344"/>
          </a:xfrm>
          <a:prstGeom prst="roundRect">
            <a:avLst>
              <a:gd name="adj" fmla="val 9804"/>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16"/>
          <p:cNvSpPr/>
          <p:nvPr/>
        </p:nvSpPr>
        <p:spPr>
          <a:xfrm>
            <a:off x="95874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 trend-capable</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NFHS4→5 change only</a:t>
            </a:r>
            <a:endParaRPr sz="760" b="0" i="0" u="none" strike="noStrike" cap="none">
              <a:solidFill>
                <a:schemeClr val="dk1"/>
              </a:solidFill>
              <a:latin typeface="Calibri"/>
              <a:ea typeface="Calibri"/>
              <a:cs typeface="Calibri"/>
              <a:sym typeface="Calibri"/>
            </a:endParaRPr>
          </a:p>
        </p:txBody>
      </p:sp>
      <p:sp>
        <p:nvSpPr>
          <p:cNvPr id="916" name="Google Shape;916;p16"/>
          <p:cNvSpPr/>
          <p:nvPr/>
        </p:nvSpPr>
        <p:spPr>
          <a:xfrm>
            <a:off x="105910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16"/>
          <p:cNvSpPr/>
          <p:nvPr/>
        </p:nvSpPr>
        <p:spPr>
          <a:xfrm>
            <a:off x="95509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16"/>
          <p:cNvSpPr/>
          <p:nvPr/>
        </p:nvSpPr>
        <p:spPr>
          <a:xfrm>
            <a:off x="95874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Blend into</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Future MAI (+3yr)</a:t>
            </a:r>
            <a:endParaRPr sz="760" b="0" i="0" u="none" strike="noStrike" cap="none">
              <a:solidFill>
                <a:schemeClr val="dk1"/>
              </a:solidFill>
              <a:latin typeface="Calibri"/>
              <a:ea typeface="Calibri"/>
              <a:cs typeface="Calibri"/>
              <a:sym typeface="Calibri"/>
            </a:endParaRPr>
          </a:p>
        </p:txBody>
      </p:sp>
      <p:sp>
        <p:nvSpPr>
          <p:cNvPr id="919" name="Google Shape;919;p16"/>
          <p:cNvSpPr/>
          <p:nvPr/>
        </p:nvSpPr>
        <p:spPr>
          <a:xfrm>
            <a:off x="105910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16"/>
          <p:cNvSpPr/>
          <p:nvPr/>
        </p:nvSpPr>
        <p:spPr>
          <a:xfrm>
            <a:off x="9550908" y="6094476"/>
            <a:ext cx="2226564" cy="466344"/>
          </a:xfrm>
          <a:prstGeom prst="roundRect">
            <a:avLst>
              <a:gd name="adj" fmla="val 9804"/>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6"/>
          <p:cNvSpPr/>
          <p:nvPr/>
        </p:nvSpPr>
        <p:spPr>
          <a:xfrm>
            <a:off x="95874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Rank_Delta =</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rising/fading signal</a:t>
            </a:r>
            <a:endParaRPr sz="760" b="0" i="0" u="none" strike="noStrike" cap="none">
              <a:solidFill>
                <a:schemeClr val="dk1"/>
              </a:solidFill>
              <a:latin typeface="Calibri"/>
              <a:ea typeface="Calibri"/>
              <a:cs typeface="Calibri"/>
              <a:sym typeface="Calibri"/>
            </a:endParaRPr>
          </a:p>
        </p:txBody>
      </p:sp>
      <p:sp>
        <p:nvSpPr>
          <p:cNvPr id="922" name="Google Shape;922;p16"/>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6"/>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6"/>
          <p:cNvSpPr/>
          <p:nvPr/>
        </p:nvSpPr>
        <p:spPr>
          <a:xfrm>
            <a:off x="4648200" y="6565392"/>
            <a:ext cx="2895600" cy="292608"/>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6"/>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16"/>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16"/>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6"/>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929" name="Google Shape;929;p16"/>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16</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34"/>
        <p:cNvGrpSpPr/>
        <p:nvPr/>
      </p:nvGrpSpPr>
      <p:grpSpPr>
        <a:xfrm>
          <a:off x="0" y="0"/>
          <a:ext cx="0" cy="0"/>
          <a:chOff x="0" y="0"/>
          <a:chExt cx="0" cy="0"/>
        </a:xfrm>
      </p:grpSpPr>
      <p:sp>
        <p:nvSpPr>
          <p:cNvPr id="935" name="Google Shape;935;p17"/>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36" name="Google Shape;936;p17"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937" name="Google Shape;937;p17"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938" name="Google Shape;938;p17"/>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939" name="Google Shape;939;p17"/>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940" name="Google Shape;940;p17"/>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From Score to Action — Explainability &amp; Deployment</a:t>
            </a:r>
            <a:endParaRPr sz="2200" b="0" i="0" u="none" strike="noStrike" cap="none">
              <a:solidFill>
                <a:schemeClr val="dk1"/>
              </a:solidFill>
              <a:latin typeface="Calibri"/>
              <a:ea typeface="Calibri"/>
              <a:cs typeface="Calibri"/>
              <a:sym typeface="Calibri"/>
            </a:endParaRPr>
          </a:p>
        </p:txBody>
      </p:sp>
      <p:sp>
        <p:nvSpPr>
          <p:cNvPr id="941" name="Google Shape;941;p17"/>
          <p:cNvSpPr/>
          <p:nvPr/>
        </p:nvSpPr>
        <p:spPr>
          <a:xfrm>
            <a:off x="274320" y="1536192"/>
            <a:ext cx="6309360" cy="5120640"/>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7"/>
          <p:cNvSpPr/>
          <p:nvPr/>
        </p:nvSpPr>
        <p:spPr>
          <a:xfrm>
            <a:off x="457200" y="1645920"/>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Why Explainability Matters</a:t>
            </a:r>
            <a:endParaRPr sz="1150" b="0" i="0" u="none" strike="noStrike" cap="none">
              <a:solidFill>
                <a:schemeClr val="dk1"/>
              </a:solidFill>
              <a:latin typeface="Calibri"/>
              <a:ea typeface="Calibri"/>
              <a:cs typeface="Calibri"/>
              <a:sym typeface="Calibri"/>
            </a:endParaRPr>
          </a:p>
        </p:txBody>
      </p:sp>
      <p:sp>
        <p:nvSpPr>
          <p:cNvPr id="943" name="Google Shape;943;p17"/>
          <p:cNvSpPr/>
          <p:nvPr/>
        </p:nvSpPr>
        <p:spPr>
          <a:xfrm>
            <a:off x="457200" y="1865376"/>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a:solidFill>
                  <a:srgbClr val="241B3D"/>
                </a:solidFill>
              </a:rPr>
              <a:t>Three exemplar districts yield identical headline scores through vastly different dynamics. Ahmedabad leads on Chronic strength and infrastructure, Kondagaon relies on Acute burden and Momentum, and Chennai balances both. Same tier, three distinct stories. Understanding these underlying drivers transforms a basic ranking into an actionable sales-force brief.</a:t>
            </a:r>
            <a:endParaRPr sz="920" b="0" i="0" u="none" strike="noStrike" cap="none">
              <a:solidFill>
                <a:schemeClr val="dk1"/>
              </a:solidFill>
              <a:latin typeface="Calibri"/>
              <a:ea typeface="Calibri"/>
              <a:cs typeface="Calibri"/>
              <a:sym typeface="Calibri"/>
            </a:endParaRPr>
          </a:p>
        </p:txBody>
      </p:sp>
      <p:sp>
        <p:nvSpPr>
          <p:cNvPr id="944" name="Google Shape;944;p17"/>
          <p:cNvSpPr/>
          <p:nvPr/>
        </p:nvSpPr>
        <p:spPr>
          <a:xfrm>
            <a:off x="457200" y="2871216"/>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District Tiering</a:t>
            </a:r>
            <a:endParaRPr sz="1150" b="0" i="0" u="none" strike="noStrike" cap="none">
              <a:solidFill>
                <a:schemeClr val="dk1"/>
              </a:solidFill>
              <a:latin typeface="Calibri"/>
              <a:ea typeface="Calibri"/>
              <a:cs typeface="Calibri"/>
              <a:sym typeface="Calibri"/>
            </a:endParaRPr>
          </a:p>
        </p:txBody>
      </p:sp>
      <p:sp>
        <p:nvSpPr>
          <p:cNvPr id="945" name="Google Shape;945;p17"/>
          <p:cNvSpPr/>
          <p:nvPr/>
        </p:nvSpPr>
        <p:spPr>
          <a:xfrm>
            <a:off x="457200" y="3090672"/>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Districts split into four tiers by Overall MAI quartile: Tier 1 (≥0.274, 177 districts) gets full sales-force strength and priority for new launches; Tier 2 gets standard growth-linked coverage; </a:t>
            </a:r>
            <a:r>
              <a:rPr lang="en-US" sz="920">
                <a:solidFill>
                  <a:srgbClr val="241B3D"/>
                </a:solidFill>
              </a:rPr>
              <a:t>Tier 3 receives lean, therapy-specific coverage. Tier 4 (177 districts) uses an access-building partnership model instead of standard deployment. It isn't deprioritized, it simply demands an entirely different go-to-market approach.</a:t>
            </a:r>
            <a:endParaRPr sz="920" b="0" i="0" u="none" strike="noStrike" cap="none">
              <a:solidFill>
                <a:schemeClr val="dk1"/>
              </a:solidFill>
              <a:latin typeface="Calibri"/>
              <a:ea typeface="Calibri"/>
              <a:cs typeface="Calibri"/>
              <a:sym typeface="Calibri"/>
            </a:endParaRPr>
          </a:p>
        </p:txBody>
      </p:sp>
      <p:sp>
        <p:nvSpPr>
          <p:cNvPr id="946" name="Google Shape;946;p17"/>
          <p:cNvSpPr/>
          <p:nvPr/>
        </p:nvSpPr>
        <p:spPr>
          <a:xfrm>
            <a:off x="457200" y="4096512"/>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The Sales-Force Allocation Formula</a:t>
            </a:r>
            <a:endParaRPr sz="1150" b="0" i="0" u="none" strike="noStrike" cap="none">
              <a:solidFill>
                <a:schemeClr val="dk1"/>
              </a:solidFill>
              <a:latin typeface="Calibri"/>
              <a:ea typeface="Calibri"/>
              <a:cs typeface="Calibri"/>
              <a:sym typeface="Calibri"/>
            </a:endParaRPr>
          </a:p>
        </p:txBody>
      </p:sp>
      <p:sp>
        <p:nvSpPr>
          <p:cNvPr id="947" name="Google Shape;947;p17"/>
          <p:cNvSpPr/>
          <p:nvPr/>
        </p:nvSpPr>
        <p:spPr>
          <a:xfrm>
            <a:off x="457200" y="4315968"/>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Reps(d) = TotalPool × [PatientPool(d) × MAI(d)] / Σ[PatientPool(i) × MAI(i)]</a:t>
            </a:r>
            <a:endParaRPr sz="920">
              <a:solidFill>
                <a:srgbClr val="241B3D"/>
              </a:solidFill>
            </a:endParaRPr>
          </a:p>
          <a:p>
            <a:pPr marL="0" marR="0" lvl="0" indent="0" algn="just" rtl="0">
              <a:lnSpc>
                <a:spcPct val="116000"/>
              </a:lnSpc>
              <a:spcBef>
                <a:spcPts val="0"/>
              </a:spcBef>
              <a:spcAft>
                <a:spcPts val="0"/>
              </a:spcAft>
              <a:buClr>
                <a:srgbClr val="241B3D"/>
              </a:buClr>
              <a:buSzPts val="920"/>
              <a:buFont typeface="Arial"/>
              <a:buNone/>
            </a:pPr>
            <a:endParaRPr sz="920">
              <a:solidFill>
                <a:srgbClr val="241B3D"/>
              </a:solidFill>
            </a:endParaRPr>
          </a:p>
          <a:p>
            <a:pPr marL="0" marR="0" lvl="0" indent="0" algn="just" rtl="0">
              <a:lnSpc>
                <a:spcPct val="116000"/>
              </a:lnSpc>
              <a:spcBef>
                <a:spcPts val="0"/>
              </a:spcBef>
              <a:spcAft>
                <a:spcPts val="0"/>
              </a:spcAft>
              <a:buClr>
                <a:srgbClr val="241B3D"/>
              </a:buClr>
              <a:buSzPts val="920"/>
              <a:buFont typeface="Arial"/>
              <a:buNone/>
            </a:pPr>
            <a:r>
              <a:rPr lang="en-US" sz="920">
                <a:solidFill>
                  <a:srgbClr val="241B3D"/>
                </a:solidFill>
              </a:rPr>
              <a:t>PatientPool uses 2011 Census population data scaled by district chronic and acute prevalence rates. Hospital counts are omitted to prevent over-allocating reps to facility-dense metropolitan areas.</a:t>
            </a:r>
            <a:endParaRPr sz="920" b="0" i="0" u="none" strike="noStrike" cap="none">
              <a:solidFill>
                <a:schemeClr val="dk1"/>
              </a:solidFill>
              <a:latin typeface="Calibri"/>
              <a:ea typeface="Calibri"/>
              <a:cs typeface="Calibri"/>
              <a:sym typeface="Calibri"/>
            </a:endParaRPr>
          </a:p>
        </p:txBody>
      </p:sp>
      <p:sp>
        <p:nvSpPr>
          <p:cNvPr id="948" name="Google Shape;948;p17"/>
          <p:cNvSpPr/>
          <p:nvPr/>
        </p:nvSpPr>
        <p:spPr>
          <a:xfrm>
            <a:off x="457200" y="5321808"/>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The Result, and Why It Matters</a:t>
            </a:r>
            <a:endParaRPr sz="1150" b="0" i="0" u="none" strike="noStrike" cap="none">
              <a:solidFill>
                <a:schemeClr val="dk1"/>
              </a:solidFill>
              <a:latin typeface="Calibri"/>
              <a:ea typeface="Calibri"/>
              <a:cs typeface="Calibri"/>
              <a:sym typeface="Calibri"/>
            </a:endParaRPr>
          </a:p>
        </p:txBody>
      </p:sp>
      <p:sp>
        <p:nvSpPr>
          <p:cNvPr id="949" name="Google Shape;949;p17"/>
          <p:cNvSpPr/>
          <p:nvPr/>
        </p:nvSpPr>
        <p:spPr>
          <a:xfrm>
            <a:off x="457200" y="5541264"/>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a:solidFill>
                  <a:srgbClr val="241B3D"/>
                </a:solidFill>
              </a:rPr>
              <a:t>The top 10 districts receive 12.02 reps out of a 100-rep pool under the population-based formula. This is significantly more balanced than the 41.0 reps allocated under the hospital-count model, which over-concentrated resources in saturated metro markets and completely overlooked large, facility-sparse districts like East Godavari and Murshidabad.</a:t>
            </a:r>
            <a:endParaRPr sz="920" b="0" i="0" u="none" strike="noStrike" cap="none">
              <a:solidFill>
                <a:schemeClr val="dk1"/>
              </a:solidFill>
              <a:latin typeface="Calibri"/>
              <a:ea typeface="Calibri"/>
              <a:cs typeface="Calibri"/>
              <a:sym typeface="Calibri"/>
            </a:endParaRPr>
          </a:p>
        </p:txBody>
      </p:sp>
      <p:sp>
        <p:nvSpPr>
          <p:cNvPr id="950" name="Google Shape;950;p17"/>
          <p:cNvSpPr/>
          <p:nvPr/>
        </p:nvSpPr>
        <p:spPr>
          <a:xfrm>
            <a:off x="68122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17"/>
          <p:cNvSpPr/>
          <p:nvPr/>
        </p:nvSpPr>
        <p:spPr>
          <a:xfrm>
            <a:off x="68854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Pillar Contribution by District</a:t>
            </a:r>
            <a:endParaRPr sz="800" b="0" i="0" u="none" strike="noStrike" cap="none">
              <a:solidFill>
                <a:schemeClr val="dk1"/>
              </a:solidFill>
              <a:latin typeface="Calibri"/>
              <a:ea typeface="Calibri"/>
              <a:cs typeface="Calibri"/>
              <a:sym typeface="Calibri"/>
            </a:endParaRPr>
          </a:p>
        </p:txBody>
      </p:sp>
      <p:pic>
        <p:nvPicPr>
          <p:cNvPr id="952" name="Google Shape;952;p17" descr="charts/04_pillar_exemplars.png"/>
          <p:cNvPicPr preferRelativeResize="0"/>
          <p:nvPr/>
        </p:nvPicPr>
        <p:blipFill rotWithShape="1">
          <a:blip r:embed="rId5">
            <a:alphaModFix/>
          </a:blip>
          <a:srcRect/>
          <a:stretch/>
        </p:blipFill>
        <p:spPr>
          <a:xfrm>
            <a:off x="6903720" y="1755648"/>
            <a:ext cx="2263140" cy="1810512"/>
          </a:xfrm>
          <a:prstGeom prst="rect">
            <a:avLst/>
          </a:prstGeom>
          <a:noFill/>
          <a:ln>
            <a:noFill/>
          </a:ln>
        </p:spPr>
      </p:pic>
      <p:sp>
        <p:nvSpPr>
          <p:cNvPr id="953" name="Google Shape;953;p17"/>
          <p:cNvSpPr/>
          <p:nvPr/>
        </p:nvSpPr>
        <p:spPr>
          <a:xfrm>
            <a:off x="68854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Stacked bar chart: Chronic, Acute, and Momentum scores for three exemplar districts (Ahmedabad, Kodagaon, Chennai) — shows visually how the same headline Overall MAI can be composed very differently underneath.</a:t>
            </a:r>
            <a:endParaRPr sz="630" b="0" i="0" u="none" strike="noStrike" cap="none">
              <a:solidFill>
                <a:schemeClr val="dk1"/>
              </a:solidFill>
              <a:latin typeface="Calibri"/>
              <a:ea typeface="Calibri"/>
              <a:cs typeface="Calibri"/>
              <a:sym typeface="Calibri"/>
            </a:endParaRPr>
          </a:p>
        </p:txBody>
      </p:sp>
      <p:sp>
        <p:nvSpPr>
          <p:cNvPr id="954" name="Google Shape;954;p17"/>
          <p:cNvSpPr/>
          <p:nvPr/>
        </p:nvSpPr>
        <p:spPr>
          <a:xfrm>
            <a:off x="94411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7"/>
          <p:cNvSpPr/>
          <p:nvPr/>
        </p:nvSpPr>
        <p:spPr>
          <a:xfrm>
            <a:off x="95143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District Tier Distribution</a:t>
            </a:r>
            <a:endParaRPr sz="800" b="0" i="0" u="none" strike="noStrike" cap="none">
              <a:solidFill>
                <a:schemeClr val="dk1"/>
              </a:solidFill>
              <a:latin typeface="Calibri"/>
              <a:ea typeface="Calibri"/>
              <a:cs typeface="Calibri"/>
              <a:sym typeface="Calibri"/>
            </a:endParaRPr>
          </a:p>
        </p:txBody>
      </p:sp>
      <p:pic>
        <p:nvPicPr>
          <p:cNvPr id="956" name="Google Shape;956;p17" descr="charts/15_tier_distribution.png"/>
          <p:cNvPicPr preferRelativeResize="0"/>
          <p:nvPr/>
        </p:nvPicPr>
        <p:blipFill rotWithShape="1">
          <a:blip r:embed="rId6">
            <a:alphaModFix/>
          </a:blip>
          <a:srcRect/>
          <a:stretch/>
        </p:blipFill>
        <p:spPr>
          <a:xfrm>
            <a:off x="9532620" y="1755648"/>
            <a:ext cx="2263140" cy="1810512"/>
          </a:xfrm>
          <a:prstGeom prst="rect">
            <a:avLst/>
          </a:prstGeom>
          <a:noFill/>
          <a:ln>
            <a:noFill/>
          </a:ln>
        </p:spPr>
      </p:pic>
      <p:sp>
        <p:nvSpPr>
          <p:cNvPr id="957" name="Google Shape;957;p17"/>
          <p:cNvSpPr/>
          <p:nvPr/>
        </p:nvSpPr>
        <p:spPr>
          <a:xfrm>
            <a:off x="95143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Bar chart: 177/176/176/177 districts per tier — confirms the four-tier quartile split is evenly balanced across the full 706-district universe.</a:t>
            </a:r>
            <a:endParaRPr sz="630" b="0" i="0" u="none" strike="noStrike" cap="none">
              <a:solidFill>
                <a:schemeClr val="dk1"/>
              </a:solidFill>
              <a:latin typeface="Calibri"/>
              <a:ea typeface="Calibri"/>
              <a:cs typeface="Calibri"/>
              <a:sym typeface="Calibri"/>
            </a:endParaRPr>
          </a:p>
        </p:txBody>
      </p:sp>
      <p:sp>
        <p:nvSpPr>
          <p:cNvPr id="958" name="Google Shape;958;p17"/>
          <p:cNvSpPr/>
          <p:nvPr/>
        </p:nvSpPr>
        <p:spPr>
          <a:xfrm>
            <a:off x="6812280" y="4187952"/>
            <a:ext cx="2446020" cy="2468880"/>
          </a:xfrm>
          <a:prstGeom prst="rect">
            <a:avLst/>
          </a:prstGeom>
          <a:solidFill>
            <a:srgbClr val="5F32F2"/>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7"/>
          <p:cNvSpPr/>
          <p:nvPr/>
        </p:nvSpPr>
        <p:spPr>
          <a:xfrm>
            <a:off x="68854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Score to Tier Decision</a:t>
            </a:r>
            <a:endParaRPr sz="800" b="0" i="0" u="none" strike="noStrike" cap="none">
              <a:solidFill>
                <a:schemeClr val="dk1"/>
              </a:solidFill>
              <a:latin typeface="Calibri"/>
              <a:ea typeface="Calibri"/>
              <a:cs typeface="Calibri"/>
              <a:sym typeface="Calibri"/>
            </a:endParaRPr>
          </a:p>
        </p:txBody>
      </p:sp>
      <p:sp>
        <p:nvSpPr>
          <p:cNvPr id="960" name="Google Shape;960;p17"/>
          <p:cNvSpPr/>
          <p:nvPr/>
        </p:nvSpPr>
        <p:spPr>
          <a:xfrm>
            <a:off x="69220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7"/>
          <p:cNvSpPr/>
          <p:nvPr/>
        </p:nvSpPr>
        <p:spPr>
          <a:xfrm>
            <a:off x="69585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Overall MAI</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quartile rank</a:t>
            </a:r>
            <a:endParaRPr sz="760" b="0" i="0" u="none" strike="noStrike" cap="none">
              <a:solidFill>
                <a:schemeClr val="dk1"/>
              </a:solidFill>
              <a:latin typeface="Calibri"/>
              <a:ea typeface="Calibri"/>
              <a:cs typeface="Calibri"/>
              <a:sym typeface="Calibri"/>
            </a:endParaRPr>
          </a:p>
        </p:txBody>
      </p:sp>
      <p:sp>
        <p:nvSpPr>
          <p:cNvPr id="962" name="Google Shape;962;p17"/>
          <p:cNvSpPr/>
          <p:nvPr/>
        </p:nvSpPr>
        <p:spPr>
          <a:xfrm>
            <a:off x="79621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17"/>
          <p:cNvSpPr/>
          <p:nvPr/>
        </p:nvSpPr>
        <p:spPr>
          <a:xfrm>
            <a:off x="6922008" y="504291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7"/>
          <p:cNvSpPr/>
          <p:nvPr/>
        </p:nvSpPr>
        <p:spPr>
          <a:xfrm>
            <a:off x="69585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Tier 1-4</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assignment</a:t>
            </a:r>
            <a:endParaRPr sz="760" b="0" i="0" u="none" strike="noStrike" cap="none">
              <a:solidFill>
                <a:schemeClr val="dk1"/>
              </a:solidFill>
              <a:latin typeface="Calibri"/>
              <a:ea typeface="Calibri"/>
              <a:cs typeface="Calibri"/>
              <a:sym typeface="Calibri"/>
            </a:endParaRPr>
          </a:p>
        </p:txBody>
      </p:sp>
      <p:sp>
        <p:nvSpPr>
          <p:cNvPr id="965" name="Google Shape;965;p17"/>
          <p:cNvSpPr/>
          <p:nvPr/>
        </p:nvSpPr>
        <p:spPr>
          <a:xfrm>
            <a:off x="79621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7"/>
          <p:cNvSpPr/>
          <p:nvPr/>
        </p:nvSpPr>
        <p:spPr>
          <a:xfrm>
            <a:off x="69220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17"/>
          <p:cNvSpPr/>
          <p:nvPr/>
        </p:nvSpPr>
        <p:spPr>
          <a:xfrm>
            <a:off x="69585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Deployment</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intensity set</a:t>
            </a:r>
            <a:endParaRPr sz="760" b="0" i="0" u="none" strike="noStrike" cap="none">
              <a:solidFill>
                <a:schemeClr val="dk1"/>
              </a:solidFill>
              <a:latin typeface="Calibri"/>
              <a:ea typeface="Calibri"/>
              <a:cs typeface="Calibri"/>
              <a:sym typeface="Calibri"/>
            </a:endParaRPr>
          </a:p>
        </p:txBody>
      </p:sp>
      <p:sp>
        <p:nvSpPr>
          <p:cNvPr id="968" name="Google Shape;968;p17"/>
          <p:cNvSpPr/>
          <p:nvPr/>
        </p:nvSpPr>
        <p:spPr>
          <a:xfrm>
            <a:off x="79621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7"/>
          <p:cNvSpPr/>
          <p:nvPr/>
        </p:nvSpPr>
        <p:spPr>
          <a:xfrm>
            <a:off x="6922008" y="609447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7"/>
          <p:cNvSpPr/>
          <p:nvPr/>
        </p:nvSpPr>
        <p:spPr>
          <a:xfrm>
            <a:off x="69585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Reviewed</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quarterly</a:t>
            </a:r>
            <a:endParaRPr sz="760" b="0" i="0" u="none" strike="noStrike" cap="none">
              <a:solidFill>
                <a:schemeClr val="dk1"/>
              </a:solidFill>
              <a:latin typeface="Calibri"/>
              <a:ea typeface="Calibri"/>
              <a:cs typeface="Calibri"/>
              <a:sym typeface="Calibri"/>
            </a:endParaRPr>
          </a:p>
        </p:txBody>
      </p:sp>
      <p:sp>
        <p:nvSpPr>
          <p:cNvPr id="971" name="Google Shape;971;p17"/>
          <p:cNvSpPr/>
          <p:nvPr/>
        </p:nvSpPr>
        <p:spPr>
          <a:xfrm>
            <a:off x="9441180" y="4187952"/>
            <a:ext cx="2446020" cy="2468880"/>
          </a:xfrm>
          <a:prstGeom prst="rect">
            <a:avLst/>
          </a:prstGeom>
          <a:solidFill>
            <a:srgbClr val="38521F"/>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7"/>
          <p:cNvSpPr/>
          <p:nvPr/>
        </p:nvSpPr>
        <p:spPr>
          <a:xfrm>
            <a:off x="95143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Sales-Force Formula</a:t>
            </a:r>
            <a:endParaRPr sz="800" b="0" i="0" u="none" strike="noStrike" cap="none">
              <a:solidFill>
                <a:schemeClr val="dk1"/>
              </a:solidFill>
              <a:latin typeface="Calibri"/>
              <a:ea typeface="Calibri"/>
              <a:cs typeface="Calibri"/>
              <a:sym typeface="Calibri"/>
            </a:endParaRPr>
          </a:p>
        </p:txBody>
      </p:sp>
      <p:sp>
        <p:nvSpPr>
          <p:cNvPr id="973" name="Google Shape;973;p17"/>
          <p:cNvSpPr/>
          <p:nvPr/>
        </p:nvSpPr>
        <p:spPr>
          <a:xfrm>
            <a:off x="95509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17"/>
          <p:cNvSpPr/>
          <p:nvPr/>
        </p:nvSpPr>
        <p:spPr>
          <a:xfrm>
            <a:off x="95874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PatientPool =</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Pop × Prevalence</a:t>
            </a:r>
            <a:endParaRPr sz="760" b="0" i="0" u="none" strike="noStrike" cap="none">
              <a:solidFill>
                <a:schemeClr val="dk1"/>
              </a:solidFill>
              <a:latin typeface="Calibri"/>
              <a:ea typeface="Calibri"/>
              <a:cs typeface="Calibri"/>
              <a:sym typeface="Calibri"/>
            </a:endParaRPr>
          </a:p>
        </p:txBody>
      </p:sp>
      <p:sp>
        <p:nvSpPr>
          <p:cNvPr id="975" name="Google Shape;975;p17"/>
          <p:cNvSpPr/>
          <p:nvPr/>
        </p:nvSpPr>
        <p:spPr>
          <a:xfrm>
            <a:off x="105910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7"/>
          <p:cNvSpPr/>
          <p:nvPr/>
        </p:nvSpPr>
        <p:spPr>
          <a:xfrm>
            <a:off x="9550908" y="5042916"/>
            <a:ext cx="2226564" cy="466344"/>
          </a:xfrm>
          <a:prstGeom prst="roundRect">
            <a:avLst>
              <a:gd name="adj" fmla="val 9804"/>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977;p17"/>
          <p:cNvSpPr/>
          <p:nvPr/>
        </p:nvSpPr>
        <p:spPr>
          <a:xfrm>
            <a:off x="95874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 District</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MAI score</a:t>
            </a:r>
            <a:endParaRPr sz="760" b="0" i="0" u="none" strike="noStrike" cap="none">
              <a:solidFill>
                <a:schemeClr val="dk1"/>
              </a:solidFill>
              <a:latin typeface="Calibri"/>
              <a:ea typeface="Calibri"/>
              <a:cs typeface="Calibri"/>
              <a:sym typeface="Calibri"/>
            </a:endParaRPr>
          </a:p>
        </p:txBody>
      </p:sp>
      <p:sp>
        <p:nvSpPr>
          <p:cNvPr id="978" name="Google Shape;978;p17"/>
          <p:cNvSpPr/>
          <p:nvPr/>
        </p:nvSpPr>
        <p:spPr>
          <a:xfrm>
            <a:off x="105910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7"/>
          <p:cNvSpPr/>
          <p:nvPr/>
        </p:nvSpPr>
        <p:spPr>
          <a:xfrm>
            <a:off x="95509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7"/>
          <p:cNvSpPr/>
          <p:nvPr/>
        </p:nvSpPr>
        <p:spPr>
          <a:xfrm>
            <a:off x="95874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 Sum across</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all 706 districts</a:t>
            </a:r>
            <a:endParaRPr sz="760" b="0" i="0" u="none" strike="noStrike" cap="none">
              <a:solidFill>
                <a:schemeClr val="dk1"/>
              </a:solidFill>
              <a:latin typeface="Calibri"/>
              <a:ea typeface="Calibri"/>
              <a:cs typeface="Calibri"/>
              <a:sym typeface="Calibri"/>
            </a:endParaRPr>
          </a:p>
        </p:txBody>
      </p:sp>
      <p:sp>
        <p:nvSpPr>
          <p:cNvPr id="981" name="Google Shape;981;p17"/>
          <p:cNvSpPr/>
          <p:nvPr/>
        </p:nvSpPr>
        <p:spPr>
          <a:xfrm>
            <a:off x="105910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982;p17"/>
          <p:cNvSpPr/>
          <p:nvPr/>
        </p:nvSpPr>
        <p:spPr>
          <a:xfrm>
            <a:off x="9550908" y="6094476"/>
            <a:ext cx="2226564" cy="466344"/>
          </a:xfrm>
          <a:prstGeom prst="roundRect">
            <a:avLst>
              <a:gd name="adj" fmla="val 9804"/>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7"/>
          <p:cNvSpPr/>
          <p:nvPr/>
        </p:nvSpPr>
        <p:spPr>
          <a:xfrm>
            <a:off x="95874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 Total rep</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pool (100)</a:t>
            </a:r>
            <a:endParaRPr sz="760" b="0" i="0" u="none" strike="noStrike" cap="none">
              <a:solidFill>
                <a:schemeClr val="dk1"/>
              </a:solidFill>
              <a:latin typeface="Calibri"/>
              <a:ea typeface="Calibri"/>
              <a:cs typeface="Calibri"/>
              <a:sym typeface="Calibri"/>
            </a:endParaRPr>
          </a:p>
        </p:txBody>
      </p:sp>
      <p:sp>
        <p:nvSpPr>
          <p:cNvPr id="984" name="Google Shape;984;p17"/>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17"/>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17"/>
          <p:cNvSpPr/>
          <p:nvPr/>
        </p:nvSpPr>
        <p:spPr>
          <a:xfrm>
            <a:off x="4648200" y="6565392"/>
            <a:ext cx="2895600" cy="292608"/>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17"/>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17"/>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17"/>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17"/>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991" name="Google Shape;991;p17"/>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17</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96"/>
        <p:cNvGrpSpPr/>
        <p:nvPr/>
      </p:nvGrpSpPr>
      <p:grpSpPr>
        <a:xfrm>
          <a:off x="0" y="0"/>
          <a:ext cx="0" cy="0"/>
          <a:chOff x="0" y="0"/>
          <a:chExt cx="0" cy="0"/>
        </a:xfrm>
      </p:grpSpPr>
      <p:sp>
        <p:nvSpPr>
          <p:cNvPr id="997" name="Google Shape;997;p18"/>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98" name="Google Shape;998;p18"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999" name="Google Shape;999;p18"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1000" name="Google Shape;1000;p18"/>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1001" name="Google Shape;1001;p18"/>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1002" name="Google Shape;1002;p18"/>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GE-McKinsey Nine-Box &amp; BCG Growth-Share Matrix</a:t>
            </a:r>
            <a:endParaRPr sz="2200" b="0" i="0" u="none" strike="noStrike" cap="none">
              <a:solidFill>
                <a:schemeClr val="dk1"/>
              </a:solidFill>
              <a:latin typeface="Calibri"/>
              <a:ea typeface="Calibri"/>
              <a:cs typeface="Calibri"/>
              <a:sym typeface="Calibri"/>
            </a:endParaRPr>
          </a:p>
        </p:txBody>
      </p:sp>
      <p:sp>
        <p:nvSpPr>
          <p:cNvPr id="1003" name="Google Shape;1003;p18"/>
          <p:cNvSpPr/>
          <p:nvPr/>
        </p:nvSpPr>
        <p:spPr>
          <a:xfrm>
            <a:off x="320040" y="1481328"/>
            <a:ext cx="1152144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280"/>
              </a:buClr>
              <a:buSzPts val="1050"/>
              <a:buFont typeface="Arial"/>
              <a:buNone/>
            </a:pPr>
            <a:r>
              <a:rPr lang="en-US" sz="1050" b="0" i="1" u="none" strike="noStrike" cap="none">
                <a:solidFill>
                  <a:srgbClr val="6B6280"/>
                </a:solidFill>
                <a:latin typeface="Arial"/>
                <a:ea typeface="Arial"/>
                <a:cs typeface="Arial"/>
                <a:sym typeface="Arial"/>
              </a:rPr>
              <a:t>Two classic strategy frameworks, populated with your actual model data — not described abstractly.</a:t>
            </a:r>
            <a:endParaRPr sz="1050" b="0" i="0" u="none" strike="noStrike" cap="none">
              <a:solidFill>
                <a:schemeClr val="dk1"/>
              </a:solidFill>
              <a:latin typeface="Calibri"/>
              <a:ea typeface="Calibri"/>
              <a:cs typeface="Calibri"/>
              <a:sym typeface="Calibri"/>
            </a:endParaRPr>
          </a:p>
        </p:txBody>
      </p:sp>
      <p:sp>
        <p:nvSpPr>
          <p:cNvPr id="1004" name="Google Shape;1004;p18"/>
          <p:cNvSpPr/>
          <p:nvPr/>
        </p:nvSpPr>
        <p:spPr>
          <a:xfrm>
            <a:off x="274320" y="1773936"/>
            <a:ext cx="6309360" cy="4882896"/>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18"/>
          <p:cNvSpPr/>
          <p:nvPr/>
        </p:nvSpPr>
        <p:spPr>
          <a:xfrm>
            <a:off x="457200" y="1883664"/>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Why These Frameworks, Applied to Real Data</a:t>
            </a:r>
            <a:endParaRPr sz="1150" b="0" i="0" u="none" strike="noStrike" cap="none">
              <a:solidFill>
                <a:schemeClr val="dk1"/>
              </a:solidFill>
              <a:latin typeface="Calibri"/>
              <a:ea typeface="Calibri"/>
              <a:cs typeface="Calibri"/>
              <a:sym typeface="Calibri"/>
            </a:endParaRPr>
          </a:p>
        </p:txBody>
      </p:sp>
      <p:sp>
        <p:nvSpPr>
          <p:cNvPr id="1006" name="Google Shape;1006;p18"/>
          <p:cNvSpPr/>
          <p:nvPr/>
        </p:nvSpPr>
        <p:spPr>
          <a:xfrm>
            <a:off x="457200" y="2103120"/>
            <a:ext cx="5943600" cy="909828"/>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a:solidFill>
                  <a:srgbClr val="241B3D"/>
                </a:solidFill>
              </a:rPr>
              <a:t>The term "Market Attractiveness" originates from the GE-McKinsey Nine-Box Matrix, which contrasts market attractiveness against business strength. All 706 districts are plotted directly with Overall MAI on the x-axis and a business strength proxy on the y-axis, using infrastructure readiness and patient-pool reach to substitute for unavailable competitor market-share data.</a:t>
            </a:r>
            <a:endParaRPr sz="920" b="0" i="0" u="none" strike="noStrike" cap="none">
              <a:solidFill>
                <a:schemeClr val="dk1"/>
              </a:solidFill>
              <a:latin typeface="Calibri"/>
              <a:ea typeface="Calibri"/>
              <a:cs typeface="Calibri"/>
              <a:sym typeface="Calibri"/>
            </a:endParaRPr>
          </a:p>
        </p:txBody>
      </p:sp>
      <p:sp>
        <p:nvSpPr>
          <p:cNvPr id="1007" name="Google Shape;1007;p18"/>
          <p:cNvSpPr/>
          <p:nvPr/>
        </p:nvSpPr>
        <p:spPr>
          <a:xfrm>
            <a:off x="457200" y="3049524"/>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Reading the Nine-Box Result</a:t>
            </a:r>
            <a:endParaRPr sz="1150" b="0" i="0" u="none" strike="noStrike" cap="none">
              <a:solidFill>
                <a:schemeClr val="dk1"/>
              </a:solidFill>
              <a:latin typeface="Calibri"/>
              <a:ea typeface="Calibri"/>
              <a:cs typeface="Calibri"/>
              <a:sym typeface="Calibri"/>
            </a:endParaRPr>
          </a:p>
        </p:txBody>
      </p:sp>
      <p:sp>
        <p:nvSpPr>
          <p:cNvPr id="1008" name="Google Shape;1008;p18"/>
          <p:cNvSpPr/>
          <p:nvPr/>
        </p:nvSpPr>
        <p:spPr>
          <a:xfrm>
            <a:off x="457200" y="3268980"/>
            <a:ext cx="5943600" cy="909828"/>
          </a:xfrm>
          <a:prstGeom prst="rect">
            <a:avLst/>
          </a:prstGeom>
          <a:noFill/>
          <a:ln>
            <a:noFill/>
          </a:ln>
        </p:spPr>
        <p:txBody>
          <a:bodyPr spcFirstLastPara="1" wrap="square" lIns="0" tIns="0" rIns="0" bIns="0" anchor="ctr" anchorCtr="0">
            <a:noAutofit/>
          </a:bodyPr>
          <a:lstStyle/>
          <a:p>
            <a:pPr marL="0" lvl="0" indent="0" algn="l" rtl="0">
              <a:lnSpc>
                <a:spcPct val="115000"/>
              </a:lnSpc>
              <a:spcBef>
                <a:spcPts val="1200"/>
              </a:spcBef>
              <a:spcAft>
                <a:spcPts val="0"/>
              </a:spcAft>
              <a:buClr>
                <a:schemeClr val="dk1"/>
              </a:buClr>
              <a:buSzPts val="1100"/>
              <a:buFont typeface="Arial"/>
              <a:buNone/>
            </a:pPr>
            <a:endParaRPr sz="920">
              <a:solidFill>
                <a:srgbClr val="241B3D"/>
              </a:solidFill>
            </a:endParaRPr>
          </a:p>
          <a:p>
            <a:pPr marL="0" lvl="0" indent="0" algn="l" rtl="0">
              <a:lnSpc>
                <a:spcPct val="115000"/>
              </a:lnSpc>
              <a:spcBef>
                <a:spcPts val="1200"/>
              </a:spcBef>
              <a:spcAft>
                <a:spcPts val="0"/>
              </a:spcAft>
              <a:buClr>
                <a:schemeClr val="dk1"/>
              </a:buClr>
              <a:buSzPts val="1100"/>
              <a:buFont typeface="Arial"/>
              <a:buNone/>
            </a:pPr>
            <a:r>
              <a:rPr lang="en-US" sz="920">
                <a:solidFill>
                  <a:srgbClr val="241B3D"/>
                </a:solidFill>
              </a:rPr>
              <a:t>The top-right "Invest/Grow" zone features Elite Metro Powerhouse and Established High-Value districts, independently validating the Tier 1–2 deployment logic through a separate framework. The bottom-left "Harvest/Divest" zone contains Small Underserved districts. Rather than divesting as the generic framework suggests, the strategy intentionally adopts an access-building approach, allowing business judgment to override standard defaults.</a:t>
            </a:r>
            <a:endParaRPr sz="920">
              <a:solidFill>
                <a:srgbClr val="241B3D"/>
              </a:solidFill>
            </a:endParaRPr>
          </a:p>
          <a:p>
            <a:pPr marL="0" marR="0" lvl="0" indent="0" algn="just" rtl="0">
              <a:lnSpc>
                <a:spcPct val="116000"/>
              </a:lnSpc>
              <a:spcBef>
                <a:spcPts val="1200"/>
              </a:spcBef>
              <a:spcAft>
                <a:spcPts val="0"/>
              </a:spcAft>
              <a:buClr>
                <a:srgbClr val="241B3D"/>
              </a:buClr>
              <a:buSzPts val="920"/>
              <a:buFont typeface="Arial"/>
              <a:buNone/>
            </a:pPr>
            <a:endParaRPr sz="920">
              <a:solidFill>
                <a:srgbClr val="241B3D"/>
              </a:solidFill>
            </a:endParaRPr>
          </a:p>
        </p:txBody>
      </p:sp>
      <p:sp>
        <p:nvSpPr>
          <p:cNvPr id="1009" name="Google Shape;1009;p18"/>
          <p:cNvSpPr/>
          <p:nvPr/>
        </p:nvSpPr>
        <p:spPr>
          <a:xfrm>
            <a:off x="457200" y="4215384"/>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BCG Growth-Share Matrix — A Natural Fit</a:t>
            </a:r>
            <a:endParaRPr sz="1150" b="0" i="0" u="none" strike="noStrike" cap="none">
              <a:solidFill>
                <a:schemeClr val="dk1"/>
              </a:solidFill>
              <a:latin typeface="Calibri"/>
              <a:ea typeface="Calibri"/>
              <a:cs typeface="Calibri"/>
              <a:sym typeface="Calibri"/>
            </a:endParaRPr>
          </a:p>
        </p:txBody>
      </p:sp>
      <p:sp>
        <p:nvSpPr>
          <p:cNvPr id="1010" name="Google Shape;1010;p18"/>
          <p:cNvSpPr/>
          <p:nvPr/>
        </p:nvSpPr>
        <p:spPr>
          <a:xfrm>
            <a:off x="457200" y="4434840"/>
            <a:ext cx="5943600" cy="909828"/>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Our Momentum Index is already a genuine growth-rate metric, making BCG a direct, non-forced application: mean Momentum (growth) against mean Overall MAI (value proxy) per archetype. Established High-Value districts (n=210, mean Momentum 0.431) land as Stars; Elite Metro Powerhouses (n=6, mean Momentum 0.546, the highest of any archetype) </a:t>
            </a:r>
            <a:r>
              <a:rPr lang="en-US" sz="920">
                <a:solidFill>
                  <a:srgbClr val="241B3D"/>
                </a:solidFill>
              </a:rPr>
              <a:t>as Cash Cows that form the mature core to defend.</a:t>
            </a:r>
            <a:endParaRPr sz="920" b="0" i="0" u="none" strike="noStrike" cap="none">
              <a:solidFill>
                <a:schemeClr val="dk1"/>
              </a:solidFill>
              <a:latin typeface="Calibri"/>
              <a:ea typeface="Calibri"/>
              <a:cs typeface="Calibri"/>
              <a:sym typeface="Calibri"/>
            </a:endParaRPr>
          </a:p>
        </p:txBody>
      </p:sp>
      <p:sp>
        <p:nvSpPr>
          <p:cNvPr id="1011" name="Google Shape;1011;p18"/>
          <p:cNvSpPr/>
          <p:nvPr/>
        </p:nvSpPr>
        <p:spPr>
          <a:xfrm>
            <a:off x="457200" y="5381244"/>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Where We Deliberately Reframe the Classic Model</a:t>
            </a:r>
            <a:endParaRPr sz="1150" b="0" i="0" u="none" strike="noStrike" cap="none">
              <a:solidFill>
                <a:schemeClr val="dk1"/>
              </a:solidFill>
              <a:latin typeface="Calibri"/>
              <a:ea typeface="Calibri"/>
              <a:cs typeface="Calibri"/>
              <a:sym typeface="Calibri"/>
            </a:endParaRPr>
          </a:p>
        </p:txBody>
      </p:sp>
      <p:sp>
        <p:nvSpPr>
          <p:cNvPr id="1012" name="Google Shape;1012;p18"/>
          <p:cNvSpPr/>
          <p:nvPr/>
        </p:nvSpPr>
        <p:spPr>
          <a:xfrm>
            <a:off x="457200" y="5600700"/>
            <a:ext cx="5943600" cy="909828"/>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Mainstream Mid-Tier (n=391, the largest group) sits as a genuine Question Mark. Small Underserved districts, classically labeled 'Dogs' for divestment, we explicitly re-cast as Latent Opportunity:</a:t>
            </a:r>
            <a:r>
              <a:rPr lang="en-US" sz="920">
                <a:solidFill>
                  <a:srgbClr val="241B3D"/>
                </a:solidFill>
              </a:rPr>
              <a:t> their low current share reflects access gaps rather than low demand. National disease-burden data (101 million diabetics) confirms substantial addressable need beneath current low volumes.</a:t>
            </a:r>
            <a:endParaRPr sz="920" b="0" i="0" u="none" strike="noStrike" cap="none">
              <a:solidFill>
                <a:schemeClr val="dk1"/>
              </a:solidFill>
              <a:latin typeface="Calibri"/>
              <a:ea typeface="Calibri"/>
              <a:cs typeface="Calibri"/>
              <a:sym typeface="Calibri"/>
            </a:endParaRPr>
          </a:p>
        </p:txBody>
      </p:sp>
      <p:sp>
        <p:nvSpPr>
          <p:cNvPr id="1013" name="Google Shape;1013;p18"/>
          <p:cNvSpPr/>
          <p:nvPr/>
        </p:nvSpPr>
        <p:spPr>
          <a:xfrm>
            <a:off x="6812280" y="1773936"/>
            <a:ext cx="2446020" cy="2350008"/>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1014;p18"/>
          <p:cNvSpPr/>
          <p:nvPr/>
        </p:nvSpPr>
        <p:spPr>
          <a:xfrm>
            <a:off x="6885432" y="1810512"/>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GE-McKinsey Nine-Box (706 Districts)</a:t>
            </a:r>
            <a:endParaRPr sz="800" b="0" i="0" u="none" strike="noStrike" cap="none">
              <a:solidFill>
                <a:schemeClr val="dk1"/>
              </a:solidFill>
              <a:latin typeface="Calibri"/>
              <a:ea typeface="Calibri"/>
              <a:cs typeface="Calibri"/>
              <a:sym typeface="Calibri"/>
            </a:endParaRPr>
          </a:p>
        </p:txBody>
      </p:sp>
      <p:pic>
        <p:nvPicPr>
          <p:cNvPr id="1015" name="Google Shape;1015;p18" descr="charts/20_ge_mckinsey.png"/>
          <p:cNvPicPr preferRelativeResize="0"/>
          <p:nvPr/>
        </p:nvPicPr>
        <p:blipFill rotWithShape="1">
          <a:blip r:embed="rId5">
            <a:alphaModFix/>
          </a:blip>
          <a:srcRect/>
          <a:stretch/>
        </p:blipFill>
        <p:spPr>
          <a:xfrm>
            <a:off x="6903720" y="1993392"/>
            <a:ext cx="2263140" cy="1691640"/>
          </a:xfrm>
          <a:prstGeom prst="rect">
            <a:avLst/>
          </a:prstGeom>
          <a:noFill/>
          <a:ln>
            <a:noFill/>
          </a:ln>
        </p:spPr>
      </p:pic>
      <p:sp>
        <p:nvSpPr>
          <p:cNvPr id="1016" name="Google Shape;1016;p18"/>
          <p:cNvSpPr/>
          <p:nvPr/>
        </p:nvSpPr>
        <p:spPr>
          <a:xfrm>
            <a:off x="6885432" y="3721608"/>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Scatter plot on a 3x3 shaded grid: x-axis = Market Attractiveness (Overall MAI, normalized), y-axis = Business Strength proxy. Each dot is one district, colored by archetype. Top-right (green) = invest zone; bottom-left (also shaded) = harvest zone.</a:t>
            </a:r>
            <a:endParaRPr sz="630" b="0" i="0" u="none" strike="noStrike" cap="none">
              <a:solidFill>
                <a:schemeClr val="dk1"/>
              </a:solidFill>
              <a:latin typeface="Calibri"/>
              <a:ea typeface="Calibri"/>
              <a:cs typeface="Calibri"/>
              <a:sym typeface="Calibri"/>
            </a:endParaRPr>
          </a:p>
        </p:txBody>
      </p:sp>
      <p:sp>
        <p:nvSpPr>
          <p:cNvPr id="1017" name="Google Shape;1017;p18"/>
          <p:cNvSpPr/>
          <p:nvPr/>
        </p:nvSpPr>
        <p:spPr>
          <a:xfrm>
            <a:off x="9441180" y="1773936"/>
            <a:ext cx="2446020" cy="2350008"/>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18"/>
          <p:cNvSpPr/>
          <p:nvPr/>
        </p:nvSpPr>
        <p:spPr>
          <a:xfrm>
            <a:off x="9514332" y="1810512"/>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BCG Growth-Share (by Archetype)</a:t>
            </a:r>
            <a:endParaRPr sz="800" b="0" i="0" u="none" strike="noStrike" cap="none">
              <a:solidFill>
                <a:schemeClr val="dk1"/>
              </a:solidFill>
              <a:latin typeface="Calibri"/>
              <a:ea typeface="Calibri"/>
              <a:cs typeface="Calibri"/>
              <a:sym typeface="Calibri"/>
            </a:endParaRPr>
          </a:p>
        </p:txBody>
      </p:sp>
      <p:pic>
        <p:nvPicPr>
          <p:cNvPr id="1019" name="Google Shape;1019;p18" descr="charts/21_bcg_matrix.png"/>
          <p:cNvPicPr preferRelativeResize="0"/>
          <p:nvPr/>
        </p:nvPicPr>
        <p:blipFill rotWithShape="1">
          <a:blip r:embed="rId6">
            <a:alphaModFix/>
          </a:blip>
          <a:srcRect/>
          <a:stretch/>
        </p:blipFill>
        <p:spPr>
          <a:xfrm>
            <a:off x="9532620" y="1993392"/>
            <a:ext cx="2263140" cy="1691640"/>
          </a:xfrm>
          <a:prstGeom prst="rect">
            <a:avLst/>
          </a:prstGeom>
          <a:noFill/>
          <a:ln>
            <a:noFill/>
          </a:ln>
        </p:spPr>
      </p:pic>
      <p:sp>
        <p:nvSpPr>
          <p:cNvPr id="1020" name="Google Shape;1020;p18"/>
          <p:cNvSpPr/>
          <p:nvPr/>
        </p:nvSpPr>
        <p:spPr>
          <a:xfrm>
            <a:off x="9514332" y="3721608"/>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Bubble chart: x-axis = mean Overall MAI (share proxy), y-axis = mean Momentum (real growth rate), bubble size = number of districts in that archetype. Dashed lines mark the median split into four BCG quadrants.</a:t>
            </a:r>
            <a:endParaRPr sz="630" b="0" i="0" u="none" strike="noStrike" cap="none">
              <a:solidFill>
                <a:schemeClr val="dk1"/>
              </a:solidFill>
              <a:latin typeface="Calibri"/>
              <a:ea typeface="Calibri"/>
              <a:cs typeface="Calibri"/>
              <a:sym typeface="Calibri"/>
            </a:endParaRPr>
          </a:p>
        </p:txBody>
      </p:sp>
      <p:sp>
        <p:nvSpPr>
          <p:cNvPr id="1021" name="Google Shape;1021;p18"/>
          <p:cNvSpPr/>
          <p:nvPr/>
        </p:nvSpPr>
        <p:spPr>
          <a:xfrm>
            <a:off x="6812280" y="4306824"/>
            <a:ext cx="2446020" cy="2350008"/>
          </a:xfrm>
          <a:prstGeom prst="rect">
            <a:avLst/>
          </a:prstGeom>
          <a:solidFill>
            <a:srgbClr val="160A6E"/>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18"/>
          <p:cNvSpPr/>
          <p:nvPr/>
        </p:nvSpPr>
        <p:spPr>
          <a:xfrm>
            <a:off x="6885432" y="4343400"/>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Reading the GE-McKinsey Zones</a:t>
            </a:r>
            <a:endParaRPr sz="800" b="0" i="0" u="none" strike="noStrike" cap="none">
              <a:solidFill>
                <a:schemeClr val="dk1"/>
              </a:solidFill>
              <a:latin typeface="Calibri"/>
              <a:ea typeface="Calibri"/>
              <a:cs typeface="Calibri"/>
              <a:sym typeface="Calibri"/>
            </a:endParaRPr>
          </a:p>
        </p:txBody>
      </p:sp>
      <p:sp>
        <p:nvSpPr>
          <p:cNvPr id="1023" name="Google Shape;1023;p18"/>
          <p:cNvSpPr/>
          <p:nvPr/>
        </p:nvSpPr>
        <p:spPr>
          <a:xfrm>
            <a:off x="6922008" y="4636008"/>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18"/>
          <p:cNvSpPr/>
          <p:nvPr/>
        </p:nvSpPr>
        <p:spPr>
          <a:xfrm>
            <a:off x="6958584" y="4636008"/>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High attract. +</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high strength = Invest</a:t>
            </a:r>
            <a:endParaRPr sz="760" b="0" i="0" u="none" strike="noStrike" cap="none">
              <a:solidFill>
                <a:schemeClr val="dk1"/>
              </a:solidFill>
              <a:latin typeface="Calibri"/>
              <a:ea typeface="Calibri"/>
              <a:cs typeface="Calibri"/>
              <a:sym typeface="Calibri"/>
            </a:endParaRPr>
          </a:p>
        </p:txBody>
      </p:sp>
      <p:sp>
        <p:nvSpPr>
          <p:cNvPr id="1025" name="Google Shape;1025;p18"/>
          <p:cNvSpPr/>
          <p:nvPr/>
        </p:nvSpPr>
        <p:spPr>
          <a:xfrm>
            <a:off x="7962138" y="5077206"/>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18"/>
          <p:cNvSpPr/>
          <p:nvPr/>
        </p:nvSpPr>
        <p:spPr>
          <a:xfrm>
            <a:off x="6922008" y="5132070"/>
            <a:ext cx="2226564" cy="436626"/>
          </a:xfrm>
          <a:prstGeom prst="roundRect">
            <a:avLst>
              <a:gd name="adj" fmla="val 10471"/>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18"/>
          <p:cNvSpPr/>
          <p:nvPr/>
        </p:nvSpPr>
        <p:spPr>
          <a:xfrm>
            <a:off x="6958584" y="5132070"/>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Mixed scores =</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Selective growth</a:t>
            </a:r>
            <a:endParaRPr sz="760" b="0" i="0" u="none" strike="noStrike" cap="none">
              <a:solidFill>
                <a:schemeClr val="dk1"/>
              </a:solidFill>
              <a:latin typeface="Calibri"/>
              <a:ea typeface="Calibri"/>
              <a:cs typeface="Calibri"/>
              <a:sym typeface="Calibri"/>
            </a:endParaRPr>
          </a:p>
        </p:txBody>
      </p:sp>
      <p:sp>
        <p:nvSpPr>
          <p:cNvPr id="1028" name="Google Shape;1028;p18"/>
          <p:cNvSpPr/>
          <p:nvPr/>
        </p:nvSpPr>
        <p:spPr>
          <a:xfrm>
            <a:off x="7962138" y="5573268"/>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18"/>
          <p:cNvSpPr/>
          <p:nvPr/>
        </p:nvSpPr>
        <p:spPr>
          <a:xfrm>
            <a:off x="6922008" y="5628132"/>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18"/>
          <p:cNvSpPr/>
          <p:nvPr/>
        </p:nvSpPr>
        <p:spPr>
          <a:xfrm>
            <a:off x="6958584" y="5628132"/>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Low attract. +</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low strength = Harvest</a:t>
            </a:r>
            <a:endParaRPr sz="760" b="0" i="0" u="none" strike="noStrike" cap="none">
              <a:solidFill>
                <a:schemeClr val="dk1"/>
              </a:solidFill>
              <a:latin typeface="Calibri"/>
              <a:ea typeface="Calibri"/>
              <a:cs typeface="Calibri"/>
              <a:sym typeface="Calibri"/>
            </a:endParaRPr>
          </a:p>
        </p:txBody>
      </p:sp>
      <p:sp>
        <p:nvSpPr>
          <p:cNvPr id="1031" name="Google Shape;1031;p18"/>
          <p:cNvSpPr/>
          <p:nvPr/>
        </p:nvSpPr>
        <p:spPr>
          <a:xfrm>
            <a:off x="7962138" y="6069330"/>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18"/>
          <p:cNvSpPr/>
          <p:nvPr/>
        </p:nvSpPr>
        <p:spPr>
          <a:xfrm>
            <a:off x="6922008" y="6124194"/>
            <a:ext cx="2226564" cy="436626"/>
          </a:xfrm>
          <a:prstGeom prst="roundRect">
            <a:avLst>
              <a:gd name="adj" fmla="val 10471"/>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18"/>
          <p:cNvSpPr/>
          <p:nvPr/>
        </p:nvSpPr>
        <p:spPr>
          <a:xfrm>
            <a:off x="6958584" y="6124194"/>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Cross-checked</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against our Tiers</a:t>
            </a:r>
            <a:endParaRPr sz="760" b="0" i="0" u="none" strike="noStrike" cap="none">
              <a:solidFill>
                <a:schemeClr val="dk1"/>
              </a:solidFill>
              <a:latin typeface="Calibri"/>
              <a:ea typeface="Calibri"/>
              <a:cs typeface="Calibri"/>
              <a:sym typeface="Calibri"/>
            </a:endParaRPr>
          </a:p>
        </p:txBody>
      </p:sp>
      <p:sp>
        <p:nvSpPr>
          <p:cNvPr id="1034" name="Google Shape;1034;p18"/>
          <p:cNvSpPr/>
          <p:nvPr/>
        </p:nvSpPr>
        <p:spPr>
          <a:xfrm>
            <a:off x="9441180" y="4306824"/>
            <a:ext cx="2446020" cy="2350008"/>
          </a:xfrm>
          <a:prstGeom prst="rect">
            <a:avLst/>
          </a:prstGeom>
          <a:solidFill>
            <a:srgbClr val="38521F"/>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18"/>
          <p:cNvSpPr/>
          <p:nvPr/>
        </p:nvSpPr>
        <p:spPr>
          <a:xfrm>
            <a:off x="9514332" y="4343400"/>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BCG Strategic Actions</a:t>
            </a:r>
            <a:endParaRPr sz="800" b="0" i="0" u="none" strike="noStrike" cap="none">
              <a:solidFill>
                <a:schemeClr val="dk1"/>
              </a:solidFill>
              <a:latin typeface="Calibri"/>
              <a:ea typeface="Calibri"/>
              <a:cs typeface="Calibri"/>
              <a:sym typeface="Calibri"/>
            </a:endParaRPr>
          </a:p>
        </p:txBody>
      </p:sp>
      <p:sp>
        <p:nvSpPr>
          <p:cNvPr id="1036" name="Google Shape;1036;p18"/>
          <p:cNvSpPr/>
          <p:nvPr/>
        </p:nvSpPr>
        <p:spPr>
          <a:xfrm>
            <a:off x="9550908" y="4636008"/>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18"/>
          <p:cNvSpPr/>
          <p:nvPr/>
        </p:nvSpPr>
        <p:spPr>
          <a:xfrm>
            <a:off x="9587484" y="4636008"/>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Stars: sustain</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investment</a:t>
            </a:r>
            <a:endParaRPr sz="760" b="0" i="0" u="none" strike="noStrike" cap="none">
              <a:solidFill>
                <a:schemeClr val="dk1"/>
              </a:solidFill>
              <a:latin typeface="Calibri"/>
              <a:ea typeface="Calibri"/>
              <a:cs typeface="Calibri"/>
              <a:sym typeface="Calibri"/>
            </a:endParaRPr>
          </a:p>
        </p:txBody>
      </p:sp>
      <p:sp>
        <p:nvSpPr>
          <p:cNvPr id="1038" name="Google Shape;1038;p18"/>
          <p:cNvSpPr/>
          <p:nvPr/>
        </p:nvSpPr>
        <p:spPr>
          <a:xfrm>
            <a:off x="10591038" y="5077206"/>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18"/>
          <p:cNvSpPr/>
          <p:nvPr/>
        </p:nvSpPr>
        <p:spPr>
          <a:xfrm>
            <a:off x="9550908" y="5132070"/>
            <a:ext cx="2226564" cy="436626"/>
          </a:xfrm>
          <a:prstGeom prst="roundRect">
            <a:avLst>
              <a:gd name="adj" fmla="val 10471"/>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18"/>
          <p:cNvSpPr/>
          <p:nvPr/>
        </p:nvSpPr>
        <p:spPr>
          <a:xfrm>
            <a:off x="9587484" y="5132070"/>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Cash Cows: defend,</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harvest cash</a:t>
            </a:r>
            <a:endParaRPr sz="760" b="0" i="0" u="none" strike="noStrike" cap="none">
              <a:solidFill>
                <a:schemeClr val="dk1"/>
              </a:solidFill>
              <a:latin typeface="Calibri"/>
              <a:ea typeface="Calibri"/>
              <a:cs typeface="Calibri"/>
              <a:sym typeface="Calibri"/>
            </a:endParaRPr>
          </a:p>
        </p:txBody>
      </p:sp>
      <p:sp>
        <p:nvSpPr>
          <p:cNvPr id="1041" name="Google Shape;1041;p18"/>
          <p:cNvSpPr/>
          <p:nvPr/>
        </p:nvSpPr>
        <p:spPr>
          <a:xfrm>
            <a:off x="10591038" y="5573268"/>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18"/>
          <p:cNvSpPr/>
          <p:nvPr/>
        </p:nvSpPr>
        <p:spPr>
          <a:xfrm>
            <a:off x="9550908" y="5628132"/>
            <a:ext cx="2226564" cy="436626"/>
          </a:xfrm>
          <a:prstGeom prst="roundRect">
            <a:avLst>
              <a:gd name="adj" fmla="val 10471"/>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18"/>
          <p:cNvSpPr/>
          <p:nvPr/>
        </p:nvSpPr>
        <p:spPr>
          <a:xfrm>
            <a:off x="9587484" y="5628132"/>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Question Marks:</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selective bets</a:t>
            </a:r>
            <a:endParaRPr sz="760" b="0" i="0" u="none" strike="noStrike" cap="none">
              <a:solidFill>
                <a:schemeClr val="dk1"/>
              </a:solidFill>
              <a:latin typeface="Calibri"/>
              <a:ea typeface="Calibri"/>
              <a:cs typeface="Calibri"/>
              <a:sym typeface="Calibri"/>
            </a:endParaRPr>
          </a:p>
        </p:txBody>
      </p:sp>
      <p:sp>
        <p:nvSpPr>
          <p:cNvPr id="1044" name="Google Shape;1044;p18"/>
          <p:cNvSpPr/>
          <p:nvPr/>
        </p:nvSpPr>
        <p:spPr>
          <a:xfrm>
            <a:off x="10591038" y="6069330"/>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18"/>
          <p:cNvSpPr/>
          <p:nvPr/>
        </p:nvSpPr>
        <p:spPr>
          <a:xfrm>
            <a:off x="9550908" y="6124194"/>
            <a:ext cx="2226564" cy="436626"/>
          </a:xfrm>
          <a:prstGeom prst="roundRect">
            <a:avLst>
              <a:gd name="adj" fmla="val 10471"/>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18"/>
          <p:cNvSpPr/>
          <p:nvPr/>
        </p:nvSpPr>
        <p:spPr>
          <a:xfrm>
            <a:off x="9587484" y="6124194"/>
            <a:ext cx="2153412" cy="436626"/>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Latent Opportunity:</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access-build, don't exit</a:t>
            </a:r>
            <a:endParaRPr sz="760" b="0" i="0" u="none" strike="noStrike" cap="none">
              <a:solidFill>
                <a:schemeClr val="dk1"/>
              </a:solidFill>
              <a:latin typeface="Calibri"/>
              <a:ea typeface="Calibri"/>
              <a:cs typeface="Calibri"/>
              <a:sym typeface="Calibri"/>
            </a:endParaRPr>
          </a:p>
        </p:txBody>
      </p:sp>
      <p:sp>
        <p:nvSpPr>
          <p:cNvPr id="1047" name="Google Shape;1047;p18"/>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18"/>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18"/>
          <p:cNvSpPr/>
          <p:nvPr/>
        </p:nvSpPr>
        <p:spPr>
          <a:xfrm>
            <a:off x="4648200" y="6565392"/>
            <a:ext cx="2895600" cy="292608"/>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18"/>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1051;p18"/>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18"/>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18"/>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1054" name="Google Shape;1054;p18"/>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18</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F4EEFB"/>
          </a:solidFill>
          <a:ln/>
        </p:spPr>
        <p:txBody>
          <a:bodyPr/>
          <a:lstStyle/>
          <a:p>
            <a:endParaRPr lang="en-IN"/>
          </a:p>
        </p:txBody>
      </p:sp>
      <p:pic>
        <p:nvPicPr>
          <p:cNvPr id="3" name="Image 0" descr="logo/trilytics_logo_clean.png"/>
          <p:cNvPicPr>
            <a:picLocks noChangeAspect="1"/>
          </p:cNvPicPr>
          <p:nvPr/>
        </p:nvPicPr>
        <p:blipFill>
          <a:blip r:embed="rId3"/>
          <a:stretch>
            <a:fillRect/>
          </a:stretch>
        </p:blipFill>
        <p:spPr>
          <a:xfrm>
            <a:off x="274320" y="128016"/>
            <a:ext cx="1417938" cy="777240"/>
          </a:xfrm>
          <a:prstGeom prst="rect">
            <a:avLst/>
          </a:prstGeom>
        </p:spPr>
      </p:pic>
      <p:pic>
        <p:nvPicPr>
          <p:cNvPr id="4" name="Image 1" descr="logo/iimu_logo_clean.png"/>
          <p:cNvPicPr>
            <a:picLocks noChangeAspect="1"/>
          </p:cNvPicPr>
          <p:nvPr/>
        </p:nvPicPr>
        <p:blipFill>
          <a:blip r:embed="rId4"/>
          <a:stretch>
            <a:fillRect/>
          </a:stretch>
        </p:blipFill>
        <p:spPr>
          <a:xfrm>
            <a:off x="11064240" y="109728"/>
            <a:ext cx="822960" cy="822960"/>
          </a:xfrm>
          <a:prstGeom prst="rect">
            <a:avLst/>
          </a:prstGeom>
        </p:spPr>
      </p:pic>
      <p:sp>
        <p:nvSpPr>
          <p:cNvPr id="5" name="Text 1"/>
          <p:cNvSpPr/>
          <p:nvPr/>
        </p:nvSpPr>
        <p:spPr>
          <a:xfrm>
            <a:off x="274320" y="914400"/>
            <a:ext cx="2332338" cy="128016"/>
          </a:xfrm>
          <a:prstGeom prst="rect">
            <a:avLst/>
          </a:prstGeom>
          <a:noFill/>
          <a:ln/>
        </p:spPr>
        <p:txBody>
          <a:bodyPr wrap="square" lIns="0" tIns="0" rIns="0" bIns="0" rtlCol="0" anchor="ctr"/>
          <a:lstStyle/>
          <a:p>
            <a:pPr marL="0" indent="0">
              <a:buNone/>
            </a:pPr>
            <a:r>
              <a:rPr lang="en-US" sz="650" b="1" kern="0" spc="80" dirty="0">
                <a:solidFill>
                  <a:srgbClr val="B4143C"/>
                </a:solidFill>
                <a:latin typeface="Arial" pitchFamily="34" charset="0"/>
                <a:ea typeface="Arial" pitchFamily="34" charset="-122"/>
                <a:cs typeface="Arial" pitchFamily="34" charset="-120"/>
              </a:rPr>
              <a:t>WHITESPACE ANALYSIS</a:t>
            </a:r>
            <a:endParaRPr lang="en-US" sz="650" dirty="0"/>
          </a:p>
        </p:txBody>
      </p:sp>
      <p:sp>
        <p:nvSpPr>
          <p:cNvPr id="6" name="Shape 2"/>
          <p:cNvSpPr/>
          <p:nvPr/>
        </p:nvSpPr>
        <p:spPr>
          <a:xfrm>
            <a:off x="0" y="1051560"/>
            <a:ext cx="6080760" cy="0"/>
          </a:xfrm>
          <a:prstGeom prst="line">
            <a:avLst/>
          </a:prstGeom>
          <a:noFill/>
          <a:ln w="25400">
            <a:solidFill>
              <a:srgbClr val="5F32F2"/>
            </a:solidFill>
            <a:prstDash val="solid"/>
          </a:ln>
        </p:spPr>
        <p:txBody>
          <a:bodyPr/>
          <a:lstStyle/>
          <a:p>
            <a:endParaRPr lang="en-IN"/>
          </a:p>
        </p:txBody>
      </p:sp>
      <p:sp>
        <p:nvSpPr>
          <p:cNvPr id="7" name="Shape 3"/>
          <p:cNvSpPr/>
          <p:nvPr/>
        </p:nvSpPr>
        <p:spPr>
          <a:xfrm>
            <a:off x="6080760" y="1051560"/>
            <a:ext cx="6080760" cy="0"/>
          </a:xfrm>
          <a:prstGeom prst="line">
            <a:avLst/>
          </a:prstGeom>
          <a:noFill/>
          <a:ln w="25400">
            <a:solidFill>
              <a:srgbClr val="4B6E32"/>
            </a:solidFill>
            <a:prstDash val="solid"/>
          </a:ln>
        </p:spPr>
        <p:txBody>
          <a:bodyPr/>
          <a:lstStyle/>
          <a:p>
            <a:endParaRPr lang="en-IN"/>
          </a:p>
        </p:txBody>
      </p:sp>
      <p:sp>
        <p:nvSpPr>
          <p:cNvPr id="8" name="Text 4"/>
          <p:cNvSpPr/>
          <p:nvPr/>
        </p:nvSpPr>
        <p:spPr>
          <a:xfrm>
            <a:off x="320040" y="1097280"/>
            <a:ext cx="11521440" cy="384048"/>
          </a:xfrm>
          <a:prstGeom prst="rect">
            <a:avLst/>
          </a:prstGeom>
          <a:noFill/>
          <a:ln/>
        </p:spPr>
        <p:txBody>
          <a:bodyPr wrap="square" lIns="0" tIns="0" rIns="0" bIns="0" rtlCol="0" anchor="ctr"/>
          <a:lstStyle/>
          <a:p>
            <a:pPr marL="0" indent="0">
              <a:buNone/>
            </a:pPr>
            <a:r>
              <a:rPr lang="en-US" sz="2200" b="1" dirty="0">
                <a:solidFill>
                  <a:srgbClr val="160A6E"/>
                </a:solidFill>
                <a:latin typeface="Arial" pitchFamily="34" charset="0"/>
                <a:ea typeface="Arial" pitchFamily="34" charset="-122"/>
                <a:cs typeface="Arial" pitchFamily="34" charset="-120"/>
              </a:rPr>
              <a:t>Where Is the Market Big vs. Where Are We Under-Indexed?</a:t>
            </a:r>
            <a:endParaRPr lang="en-US" sz="2200" dirty="0"/>
          </a:p>
        </p:txBody>
      </p:sp>
      <p:sp>
        <p:nvSpPr>
          <p:cNvPr id="9" name="Text 5"/>
          <p:cNvSpPr/>
          <p:nvPr/>
        </p:nvSpPr>
        <p:spPr>
          <a:xfrm>
            <a:off x="320040" y="1481328"/>
            <a:ext cx="11521440" cy="256032"/>
          </a:xfrm>
          <a:prstGeom prst="rect">
            <a:avLst/>
          </a:prstGeom>
          <a:noFill/>
          <a:ln/>
        </p:spPr>
        <p:txBody>
          <a:bodyPr wrap="square" lIns="0" tIns="0" rIns="0" bIns="0" rtlCol="0" anchor="ctr"/>
          <a:lstStyle/>
          <a:p>
            <a:pPr marL="0" indent="0">
              <a:buNone/>
            </a:pPr>
            <a:r>
              <a:rPr lang="en-US" sz="1050" i="1" dirty="0">
                <a:solidFill>
                  <a:srgbClr val="6B6280"/>
                </a:solidFill>
                <a:latin typeface="Arial" pitchFamily="34" charset="0"/>
                <a:ea typeface="Arial" pitchFamily="34" charset="-122"/>
                <a:cs typeface="Arial" pitchFamily="34" charset="-120"/>
              </a:rPr>
              <a:t>The single most important addition an internal Sun Pharma reviewer would demand: MAI alone can't tell "big and won" from "big and open."</a:t>
            </a:r>
            <a:endParaRPr lang="en-US" sz="1050" dirty="0"/>
          </a:p>
        </p:txBody>
      </p:sp>
      <p:sp>
        <p:nvSpPr>
          <p:cNvPr id="10" name="Shape 6"/>
          <p:cNvSpPr/>
          <p:nvPr/>
        </p:nvSpPr>
        <p:spPr>
          <a:xfrm>
            <a:off x="274320" y="1773936"/>
            <a:ext cx="6309360" cy="4882896"/>
          </a:xfrm>
          <a:prstGeom prst="rect">
            <a:avLst/>
          </a:prstGeom>
          <a:solidFill>
            <a:srgbClr val="FBF8FE"/>
          </a:solidFill>
          <a:ln w="12700">
            <a:solidFill>
              <a:srgbClr val="D9D0EC"/>
            </a:solidFill>
            <a:prstDash val="solid"/>
          </a:ln>
          <a:effectLst>
            <a:outerShdw blurRad="63500" dist="15240" dir="5400000" algn="bl" rotWithShape="0">
              <a:srgbClr val="000000">
                <a:alpha val="10000"/>
              </a:srgbClr>
            </a:outerShdw>
          </a:effectLst>
        </p:spPr>
        <p:txBody>
          <a:bodyPr/>
          <a:lstStyle/>
          <a:p>
            <a:endParaRPr lang="en-IN"/>
          </a:p>
        </p:txBody>
      </p:sp>
      <p:sp>
        <p:nvSpPr>
          <p:cNvPr id="11" name="Text 7"/>
          <p:cNvSpPr/>
          <p:nvPr/>
        </p:nvSpPr>
        <p:spPr>
          <a:xfrm>
            <a:off x="457200" y="1883664"/>
            <a:ext cx="5943600" cy="201168"/>
          </a:xfrm>
          <a:prstGeom prst="rect">
            <a:avLst/>
          </a:prstGeom>
          <a:noFill/>
          <a:ln/>
        </p:spPr>
        <p:txBody>
          <a:bodyPr wrap="square" lIns="0" tIns="0" rIns="0" bIns="0" rtlCol="0" anchor="ctr"/>
          <a:lstStyle/>
          <a:p>
            <a:pPr marL="0" indent="0">
              <a:buNone/>
            </a:pPr>
            <a:r>
              <a:rPr lang="en-US" sz="1150" b="1" dirty="0">
                <a:solidFill>
                  <a:srgbClr val="5F32F2"/>
                </a:solidFill>
                <a:latin typeface="Arial" pitchFamily="34" charset="0"/>
                <a:ea typeface="Arial" pitchFamily="34" charset="-122"/>
                <a:cs typeface="Arial" pitchFamily="34" charset="-120"/>
              </a:rPr>
              <a:t>The Gap This Slide Closes</a:t>
            </a:r>
            <a:endParaRPr lang="en-US" sz="1150" dirty="0"/>
          </a:p>
        </p:txBody>
      </p:sp>
      <p:sp>
        <p:nvSpPr>
          <p:cNvPr id="12" name="Text 8"/>
          <p:cNvSpPr/>
          <p:nvPr/>
        </p:nvSpPr>
        <p:spPr>
          <a:xfrm>
            <a:off x="457200" y="2103120"/>
            <a:ext cx="5943600" cy="909828"/>
          </a:xfrm>
          <a:prstGeom prst="rect">
            <a:avLst/>
          </a:prstGeom>
          <a:noFill/>
          <a:ln/>
        </p:spPr>
        <p:txBody>
          <a:bodyPr wrap="square" lIns="0" tIns="0" rIns="0" bIns="0" rtlCol="0" anchor="ctr"/>
          <a:lstStyle/>
          <a:p>
            <a:pPr marL="0" indent="0" algn="just">
              <a:lnSpc>
                <a:spcPct val="116000"/>
              </a:lnSpc>
              <a:buNone/>
            </a:pPr>
            <a:r>
              <a:rPr lang="en-US" sz="920" dirty="0">
                <a:solidFill>
                  <a:srgbClr val="241B3D"/>
                </a:solidFill>
                <a:latin typeface="Arial" pitchFamily="34" charset="0"/>
                <a:ea typeface="Arial" pitchFamily="34" charset="-122"/>
                <a:cs typeface="Arial" pitchFamily="34" charset="-120"/>
              </a:rPr>
              <a:t>Overall MAI tells you where the market is attractive, it does not tell you where Sun Pharma specifically is under-indexed relative to that opportunity. Two districts can share an identical MAI, but if we already hold 80% share in one and 10% in the other, the marginal ROI of an additional rep is completely different. Without real prescriber/sales share data (not publicly available), we cannot fully close this gap — but we can build a disclosed, honest proxy rather than leave it unaddressed.</a:t>
            </a:r>
            <a:endParaRPr lang="en-US" sz="920" dirty="0"/>
          </a:p>
        </p:txBody>
      </p:sp>
      <p:sp>
        <p:nvSpPr>
          <p:cNvPr id="13" name="Text 9"/>
          <p:cNvSpPr/>
          <p:nvPr/>
        </p:nvSpPr>
        <p:spPr>
          <a:xfrm>
            <a:off x="457200" y="3049524"/>
            <a:ext cx="5943600" cy="201168"/>
          </a:xfrm>
          <a:prstGeom prst="rect">
            <a:avLst/>
          </a:prstGeom>
          <a:noFill/>
          <a:ln/>
        </p:spPr>
        <p:txBody>
          <a:bodyPr wrap="square" lIns="0" tIns="0" rIns="0" bIns="0" rtlCol="0" anchor="ctr"/>
          <a:lstStyle/>
          <a:p>
            <a:pPr marL="0" indent="0">
              <a:buNone/>
            </a:pPr>
            <a:r>
              <a:rPr lang="en-US" sz="1150" b="1" dirty="0">
                <a:solidFill>
                  <a:srgbClr val="5F32F2"/>
                </a:solidFill>
                <a:latin typeface="Arial" pitchFamily="34" charset="0"/>
                <a:ea typeface="Arial" pitchFamily="34" charset="-122"/>
                <a:cs typeface="Arial" pitchFamily="34" charset="-120"/>
              </a:rPr>
              <a:t>Our Disclosed Proxy — What It Is and Isn't</a:t>
            </a:r>
            <a:endParaRPr lang="en-US" sz="1150" dirty="0"/>
          </a:p>
        </p:txBody>
      </p:sp>
      <p:sp>
        <p:nvSpPr>
          <p:cNvPr id="14" name="Text 10"/>
          <p:cNvSpPr/>
          <p:nvPr/>
        </p:nvSpPr>
        <p:spPr>
          <a:xfrm>
            <a:off x="457200" y="3268980"/>
            <a:ext cx="5943600" cy="909828"/>
          </a:xfrm>
          <a:prstGeom prst="rect">
            <a:avLst/>
          </a:prstGeom>
          <a:noFill/>
          <a:ln/>
        </p:spPr>
        <p:txBody>
          <a:bodyPr wrap="square" lIns="0" tIns="0" rIns="0" bIns="0" rtlCol="0" anchor="ctr"/>
          <a:lstStyle/>
          <a:p>
            <a:pPr marL="0" indent="0" algn="just">
              <a:lnSpc>
                <a:spcPct val="116000"/>
              </a:lnSpc>
              <a:buNone/>
            </a:pPr>
            <a:r>
              <a:rPr lang="en-US" sz="920" dirty="0">
                <a:solidFill>
                  <a:srgbClr val="241B3D"/>
                </a:solidFill>
                <a:latin typeface="Arial" pitchFamily="34" charset="0"/>
                <a:ea typeface="Arial" pitchFamily="34" charset="-122"/>
                <a:cs typeface="Arial" pitchFamily="34" charset="-120"/>
              </a:rPr>
              <a:t>We plot Overall MAI against a Current Commercial Reach proxy (infrastructure/access-based, the same construction used for GE-McKinsey's Business Strength axis). This is explicitly NOT real market share — it is a reasonable stand-in using existing infrastructure and patient-pool-reach data. High-MAI, low-reach districts are flagged as Whitespace Priority: places the market data says are attractive, but our access/infrastructure footprint there is comparatively thin.</a:t>
            </a:r>
            <a:endParaRPr lang="en-US" sz="920" dirty="0"/>
          </a:p>
        </p:txBody>
      </p:sp>
      <p:sp>
        <p:nvSpPr>
          <p:cNvPr id="15" name="Text 11"/>
          <p:cNvSpPr/>
          <p:nvPr/>
        </p:nvSpPr>
        <p:spPr>
          <a:xfrm>
            <a:off x="457200" y="4215384"/>
            <a:ext cx="5943600" cy="201168"/>
          </a:xfrm>
          <a:prstGeom prst="rect">
            <a:avLst/>
          </a:prstGeom>
          <a:noFill/>
          <a:ln/>
        </p:spPr>
        <p:txBody>
          <a:bodyPr wrap="square" lIns="0" tIns="0" rIns="0" bIns="0" rtlCol="0" anchor="ctr"/>
          <a:lstStyle/>
          <a:p>
            <a:pPr marL="0" indent="0">
              <a:buNone/>
            </a:pPr>
            <a:r>
              <a:rPr lang="en-US" sz="1150" b="1" dirty="0">
                <a:solidFill>
                  <a:srgbClr val="5F32F2"/>
                </a:solidFill>
                <a:latin typeface="Arial" pitchFamily="34" charset="0"/>
                <a:ea typeface="Arial" pitchFamily="34" charset="-122"/>
                <a:cs typeface="Arial" pitchFamily="34" charset="-120"/>
              </a:rPr>
              <a:t>What the Result Shows</a:t>
            </a:r>
            <a:endParaRPr lang="en-US" sz="1150" dirty="0"/>
          </a:p>
        </p:txBody>
      </p:sp>
      <p:sp>
        <p:nvSpPr>
          <p:cNvPr id="16" name="Text 12"/>
          <p:cNvSpPr/>
          <p:nvPr/>
        </p:nvSpPr>
        <p:spPr>
          <a:xfrm>
            <a:off x="457200" y="4434840"/>
            <a:ext cx="5943600" cy="909828"/>
          </a:xfrm>
          <a:prstGeom prst="rect">
            <a:avLst/>
          </a:prstGeom>
          <a:noFill/>
          <a:ln/>
        </p:spPr>
        <p:txBody>
          <a:bodyPr wrap="square" lIns="0" tIns="0" rIns="0" bIns="0" rtlCol="0" anchor="ctr"/>
          <a:lstStyle/>
          <a:p>
            <a:pPr marL="0" indent="0" algn="just">
              <a:lnSpc>
                <a:spcPct val="116000"/>
              </a:lnSpc>
              <a:buNone/>
            </a:pPr>
            <a:r>
              <a:rPr lang="en-US" sz="920" dirty="0">
                <a:solidFill>
                  <a:srgbClr val="241B3D"/>
                </a:solidFill>
                <a:latin typeface="Arial" pitchFamily="34" charset="0"/>
                <a:ea typeface="Arial" pitchFamily="34" charset="-122"/>
                <a:cs typeface="Arial" pitchFamily="34" charset="-120"/>
              </a:rPr>
              <a:t>19 districts land in the Whitespace Priority quadrant — high market attractiveness, low current reach — including Dhubri and Dhemaji (Assam), Aizawl (Mizoram), Solan and Una (Himachal Pradesh), and several Telangana districts (Wanaparthy, Jangoan, Jogulamba Gadwal). None of these are the metros dominating the Top 20 ranking  exactly the kind of district a pure attractiveness ranking surfaces but a reach-blind sales plan would miss.</a:t>
            </a:r>
            <a:endParaRPr lang="en-US" sz="920" dirty="0"/>
          </a:p>
        </p:txBody>
      </p:sp>
      <p:sp>
        <p:nvSpPr>
          <p:cNvPr id="17" name="Text 13"/>
          <p:cNvSpPr/>
          <p:nvPr/>
        </p:nvSpPr>
        <p:spPr>
          <a:xfrm>
            <a:off x="457200" y="5381244"/>
            <a:ext cx="5943600" cy="201168"/>
          </a:xfrm>
          <a:prstGeom prst="rect">
            <a:avLst/>
          </a:prstGeom>
          <a:noFill/>
          <a:ln/>
        </p:spPr>
        <p:txBody>
          <a:bodyPr wrap="square" lIns="0" tIns="0" rIns="0" bIns="0" rtlCol="0" anchor="ctr"/>
          <a:lstStyle/>
          <a:p>
            <a:pPr marL="0" indent="0">
              <a:buNone/>
            </a:pPr>
            <a:r>
              <a:rPr lang="en-US" sz="1150" b="1" dirty="0">
                <a:solidFill>
                  <a:srgbClr val="5F32F2"/>
                </a:solidFill>
                <a:latin typeface="Arial" pitchFamily="34" charset="0"/>
                <a:ea typeface="Arial" pitchFamily="34" charset="-122"/>
                <a:cs typeface="Arial" pitchFamily="34" charset="-120"/>
              </a:rPr>
              <a:t>The Honest Limitation</a:t>
            </a:r>
            <a:endParaRPr lang="en-US" sz="1150" dirty="0"/>
          </a:p>
        </p:txBody>
      </p:sp>
      <p:sp>
        <p:nvSpPr>
          <p:cNvPr id="18" name="Text 14"/>
          <p:cNvSpPr/>
          <p:nvPr/>
        </p:nvSpPr>
        <p:spPr>
          <a:xfrm>
            <a:off x="457200" y="5600700"/>
            <a:ext cx="5943600" cy="909828"/>
          </a:xfrm>
          <a:prstGeom prst="rect">
            <a:avLst/>
          </a:prstGeom>
          <a:noFill/>
          <a:ln/>
        </p:spPr>
        <p:txBody>
          <a:bodyPr wrap="square" lIns="0" tIns="0" rIns="0" bIns="0" rtlCol="0" anchor="ctr"/>
          <a:lstStyle/>
          <a:p>
            <a:pPr marL="0" indent="0" algn="just">
              <a:lnSpc>
                <a:spcPct val="116000"/>
              </a:lnSpc>
              <a:buNone/>
            </a:pPr>
            <a:r>
              <a:rPr lang="en-US" sz="920" dirty="0">
                <a:solidFill>
                  <a:srgbClr val="241B3D"/>
                </a:solidFill>
                <a:latin typeface="Arial" pitchFamily="34" charset="0"/>
                <a:ea typeface="Arial" pitchFamily="34" charset="-122"/>
                <a:cs typeface="Arial" pitchFamily="34" charset="-120"/>
              </a:rPr>
              <a:t>Because our reach proxy is partly built from the same infrastructure/access inputs that feed Overall MAI itself, this quadrant split is not fully independent — the same caveat disclosed on the GE-McKinsey slide applies here. The real fix is overlaying Sun Pharma's own prescriber/sales data once available; until then, this proxy converts an unaddressed gap into a disclosed, directionally-useful starting point rather than leaving "where are we under-indexed" unanswered entirely.</a:t>
            </a:r>
            <a:endParaRPr lang="en-US" sz="920" dirty="0"/>
          </a:p>
        </p:txBody>
      </p:sp>
      <p:sp>
        <p:nvSpPr>
          <p:cNvPr id="19" name="Shape 15"/>
          <p:cNvSpPr/>
          <p:nvPr/>
        </p:nvSpPr>
        <p:spPr>
          <a:xfrm>
            <a:off x="6812280" y="1773936"/>
            <a:ext cx="2446020" cy="2350008"/>
          </a:xfrm>
          <a:prstGeom prst="rect">
            <a:avLst/>
          </a:prstGeom>
          <a:solidFill>
            <a:srgbClr val="FFFFFF"/>
          </a:solidFill>
          <a:ln w="12700">
            <a:solidFill>
              <a:srgbClr val="D9D0EC"/>
            </a:solidFill>
            <a:prstDash val="solid"/>
          </a:ln>
          <a:effectLst>
            <a:outerShdw blurRad="63500" dist="15240" dir="5400000" algn="bl" rotWithShape="0">
              <a:srgbClr val="000000">
                <a:alpha val="10000"/>
              </a:srgbClr>
            </a:outerShdw>
          </a:effectLst>
        </p:spPr>
        <p:txBody>
          <a:bodyPr/>
          <a:lstStyle/>
          <a:p>
            <a:endParaRPr lang="en-IN"/>
          </a:p>
        </p:txBody>
      </p:sp>
      <p:sp>
        <p:nvSpPr>
          <p:cNvPr id="20" name="Text 16"/>
          <p:cNvSpPr/>
          <p:nvPr/>
        </p:nvSpPr>
        <p:spPr>
          <a:xfrm>
            <a:off x="6885432" y="1810512"/>
            <a:ext cx="2299716" cy="164592"/>
          </a:xfrm>
          <a:prstGeom prst="rect">
            <a:avLst/>
          </a:prstGeom>
          <a:noFill/>
          <a:ln/>
        </p:spPr>
        <p:txBody>
          <a:bodyPr wrap="square" lIns="0" tIns="0" rIns="0" bIns="0" rtlCol="0" anchor="ctr"/>
          <a:lstStyle/>
          <a:p>
            <a:pPr marL="0" indent="0">
              <a:buNone/>
            </a:pPr>
            <a:r>
              <a:rPr lang="en-US" sz="800" b="1" dirty="0">
                <a:solidFill>
                  <a:srgbClr val="160A6E"/>
                </a:solidFill>
                <a:latin typeface="Arial" pitchFamily="34" charset="0"/>
                <a:ea typeface="Arial" pitchFamily="34" charset="-122"/>
                <a:cs typeface="Arial" pitchFamily="34" charset="-120"/>
              </a:rPr>
              <a:t>Whitespace Quadrant (706 Districts)</a:t>
            </a:r>
            <a:endParaRPr lang="en-US" sz="800" dirty="0"/>
          </a:p>
        </p:txBody>
      </p:sp>
      <p:pic>
        <p:nvPicPr>
          <p:cNvPr id="21" name="Image 2" descr="charts/25_whitespace_quadrant.png"/>
          <p:cNvPicPr>
            <a:picLocks noChangeAspect="1"/>
          </p:cNvPicPr>
          <p:nvPr/>
        </p:nvPicPr>
        <p:blipFill>
          <a:blip r:embed="rId5"/>
          <a:stretch>
            <a:fillRect/>
          </a:stretch>
        </p:blipFill>
        <p:spPr>
          <a:xfrm>
            <a:off x="6903720" y="1993392"/>
            <a:ext cx="2263140" cy="1691640"/>
          </a:xfrm>
          <a:prstGeom prst="rect">
            <a:avLst/>
          </a:prstGeom>
        </p:spPr>
      </p:pic>
      <p:sp>
        <p:nvSpPr>
          <p:cNvPr id="22" name="Text 17"/>
          <p:cNvSpPr/>
          <p:nvPr/>
        </p:nvSpPr>
        <p:spPr>
          <a:xfrm>
            <a:off x="6885432" y="3721608"/>
            <a:ext cx="2299716" cy="384048"/>
          </a:xfrm>
          <a:prstGeom prst="rect">
            <a:avLst/>
          </a:prstGeom>
          <a:noFill/>
          <a:ln/>
        </p:spPr>
        <p:txBody>
          <a:bodyPr wrap="square" lIns="0" tIns="0" rIns="0" bIns="0" rtlCol="0" anchor="t"/>
          <a:lstStyle/>
          <a:p>
            <a:pPr marL="0" indent="0">
              <a:lnSpc>
                <a:spcPct val="105000"/>
              </a:lnSpc>
              <a:buNone/>
            </a:pPr>
            <a:r>
              <a:rPr lang="en-US" sz="630" i="1" dirty="0">
                <a:solidFill>
                  <a:srgbClr val="6B6280"/>
                </a:solidFill>
                <a:latin typeface="Arial" pitchFamily="34" charset="0"/>
                <a:ea typeface="Arial" pitchFamily="34" charset="-122"/>
                <a:cs typeface="Arial" pitchFamily="34" charset="-120"/>
              </a:rPr>
              <a:t>Scatter plot: x-axis = Overall MAI (normalized), y-axis = disclosed Current Reach proxy. Top-right = well-served, defend; bottom-right (shaded) = Whitespace Priority — high attractiveness, low current reach.</a:t>
            </a:r>
            <a:endParaRPr lang="en-US" sz="630" dirty="0"/>
          </a:p>
        </p:txBody>
      </p:sp>
      <p:sp>
        <p:nvSpPr>
          <p:cNvPr id="23" name="Shape 18"/>
          <p:cNvSpPr/>
          <p:nvPr/>
        </p:nvSpPr>
        <p:spPr>
          <a:xfrm>
            <a:off x="9441180" y="1773936"/>
            <a:ext cx="2446020" cy="2350008"/>
          </a:xfrm>
          <a:prstGeom prst="rect">
            <a:avLst/>
          </a:prstGeom>
          <a:solidFill>
            <a:srgbClr val="B4143C"/>
          </a:solidFill>
          <a:ln/>
          <a:effectLst>
            <a:outerShdw blurRad="63500" dist="15240" dir="5400000" algn="bl" rotWithShape="0">
              <a:srgbClr val="000000">
                <a:alpha val="10000"/>
              </a:srgbClr>
            </a:outerShdw>
          </a:effectLst>
        </p:spPr>
        <p:txBody>
          <a:bodyPr/>
          <a:lstStyle/>
          <a:p>
            <a:endParaRPr lang="en-IN"/>
          </a:p>
        </p:txBody>
      </p:sp>
      <p:sp>
        <p:nvSpPr>
          <p:cNvPr id="24" name="Text 19"/>
          <p:cNvSpPr/>
          <p:nvPr/>
        </p:nvSpPr>
        <p:spPr>
          <a:xfrm>
            <a:off x="9514332" y="1810512"/>
            <a:ext cx="2299716" cy="292608"/>
          </a:xfrm>
          <a:prstGeom prst="rect">
            <a:avLst/>
          </a:prstGeom>
          <a:noFill/>
          <a:ln/>
        </p:spPr>
        <p:txBody>
          <a:bodyPr wrap="square" lIns="0" tIns="0" rIns="0" bIns="0" rtlCol="0" anchor="ctr"/>
          <a:lstStyle/>
          <a:p>
            <a:pPr marL="0" indent="0">
              <a:lnSpc>
                <a:spcPct val="100000"/>
              </a:lnSpc>
              <a:buNone/>
            </a:pPr>
            <a:r>
              <a:rPr lang="en-US" sz="800" b="1" dirty="0">
                <a:solidFill>
                  <a:srgbClr val="F0DC3C"/>
                </a:solidFill>
                <a:latin typeface="Arial" pitchFamily="34" charset="0"/>
                <a:ea typeface="Arial" pitchFamily="34" charset="-122"/>
                <a:cs typeface="Arial" pitchFamily="34" charset="-120"/>
              </a:rPr>
              <a:t>Building the Whitespace Lens</a:t>
            </a:r>
            <a:endParaRPr lang="en-US" sz="800" dirty="0"/>
          </a:p>
        </p:txBody>
      </p:sp>
      <p:sp>
        <p:nvSpPr>
          <p:cNvPr id="25" name="Shape 20"/>
          <p:cNvSpPr/>
          <p:nvPr/>
        </p:nvSpPr>
        <p:spPr>
          <a:xfrm>
            <a:off x="9550908" y="2103120"/>
            <a:ext cx="2226564" cy="436626"/>
          </a:xfrm>
          <a:prstGeom prst="roundRect">
            <a:avLst>
              <a:gd name="adj" fmla="val 10471"/>
            </a:avLst>
          </a:prstGeom>
          <a:solidFill>
            <a:srgbClr val="160A6E"/>
          </a:solidFill>
          <a:ln/>
        </p:spPr>
        <p:txBody>
          <a:bodyPr/>
          <a:lstStyle/>
          <a:p>
            <a:endParaRPr lang="en-IN"/>
          </a:p>
        </p:txBody>
      </p:sp>
      <p:sp>
        <p:nvSpPr>
          <p:cNvPr id="26" name="Text 21"/>
          <p:cNvSpPr/>
          <p:nvPr/>
        </p:nvSpPr>
        <p:spPr>
          <a:xfrm>
            <a:off x="9587484" y="2103120"/>
            <a:ext cx="2153412" cy="436626"/>
          </a:xfrm>
          <a:prstGeom prst="rect">
            <a:avLst/>
          </a:prstGeom>
          <a:noFill/>
          <a:ln/>
        </p:spPr>
        <p:txBody>
          <a:bodyPr wrap="square" lIns="0" tIns="0" rIns="0" bIns="0" rtlCol="0" anchor="ctr"/>
          <a:lstStyle/>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Overall MAI</a:t>
            </a:r>
            <a:endParaRPr lang="en-US" sz="760" dirty="0"/>
          </a:p>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(market attractiveness)</a:t>
            </a:r>
            <a:endParaRPr lang="en-US" sz="760" dirty="0"/>
          </a:p>
        </p:txBody>
      </p:sp>
      <p:sp>
        <p:nvSpPr>
          <p:cNvPr id="27" name="Shape 22"/>
          <p:cNvSpPr/>
          <p:nvPr/>
        </p:nvSpPr>
        <p:spPr>
          <a:xfrm>
            <a:off x="10591038" y="2544318"/>
            <a:ext cx="146304" cy="128016"/>
          </a:xfrm>
          <a:prstGeom prst="downArrow">
            <a:avLst/>
          </a:prstGeom>
          <a:solidFill>
            <a:srgbClr val="C9BEE8"/>
          </a:solidFill>
          <a:ln/>
        </p:spPr>
        <p:txBody>
          <a:bodyPr/>
          <a:lstStyle/>
          <a:p>
            <a:endParaRPr lang="en-IN"/>
          </a:p>
        </p:txBody>
      </p:sp>
      <p:sp>
        <p:nvSpPr>
          <p:cNvPr id="28" name="Shape 23"/>
          <p:cNvSpPr/>
          <p:nvPr/>
        </p:nvSpPr>
        <p:spPr>
          <a:xfrm>
            <a:off x="9550908" y="2599182"/>
            <a:ext cx="2226564" cy="436626"/>
          </a:xfrm>
          <a:prstGeom prst="roundRect">
            <a:avLst>
              <a:gd name="adj" fmla="val 10471"/>
            </a:avLst>
          </a:prstGeom>
          <a:solidFill>
            <a:srgbClr val="160A6E"/>
          </a:solidFill>
          <a:ln/>
        </p:spPr>
        <p:txBody>
          <a:bodyPr/>
          <a:lstStyle/>
          <a:p>
            <a:endParaRPr lang="en-IN"/>
          </a:p>
        </p:txBody>
      </p:sp>
      <p:sp>
        <p:nvSpPr>
          <p:cNvPr id="29" name="Text 24"/>
          <p:cNvSpPr/>
          <p:nvPr/>
        </p:nvSpPr>
        <p:spPr>
          <a:xfrm>
            <a:off x="9587484" y="2599182"/>
            <a:ext cx="2153412" cy="436626"/>
          </a:xfrm>
          <a:prstGeom prst="rect">
            <a:avLst/>
          </a:prstGeom>
          <a:noFill/>
          <a:ln/>
        </p:spPr>
        <p:txBody>
          <a:bodyPr wrap="square" lIns="0" tIns="0" rIns="0" bIns="0" rtlCol="0" anchor="ctr"/>
          <a:lstStyle/>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 disclosed Reach</a:t>
            </a:r>
            <a:endParaRPr lang="en-US" sz="760" dirty="0"/>
          </a:p>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proxy (2nd axis)</a:t>
            </a:r>
            <a:endParaRPr lang="en-US" sz="760" dirty="0"/>
          </a:p>
        </p:txBody>
      </p:sp>
      <p:sp>
        <p:nvSpPr>
          <p:cNvPr id="30" name="Shape 25"/>
          <p:cNvSpPr/>
          <p:nvPr/>
        </p:nvSpPr>
        <p:spPr>
          <a:xfrm>
            <a:off x="10591038" y="3040380"/>
            <a:ext cx="146304" cy="128016"/>
          </a:xfrm>
          <a:prstGeom prst="downArrow">
            <a:avLst/>
          </a:prstGeom>
          <a:solidFill>
            <a:srgbClr val="C9BEE8"/>
          </a:solidFill>
          <a:ln/>
        </p:spPr>
        <p:txBody>
          <a:bodyPr/>
          <a:lstStyle/>
          <a:p>
            <a:endParaRPr lang="en-IN"/>
          </a:p>
        </p:txBody>
      </p:sp>
      <p:sp>
        <p:nvSpPr>
          <p:cNvPr id="31" name="Shape 26"/>
          <p:cNvSpPr/>
          <p:nvPr/>
        </p:nvSpPr>
        <p:spPr>
          <a:xfrm>
            <a:off x="9550908" y="3095244"/>
            <a:ext cx="2226564" cy="436626"/>
          </a:xfrm>
          <a:prstGeom prst="roundRect">
            <a:avLst>
              <a:gd name="adj" fmla="val 10471"/>
            </a:avLst>
          </a:prstGeom>
          <a:solidFill>
            <a:srgbClr val="160A6E"/>
          </a:solidFill>
          <a:ln/>
        </p:spPr>
        <p:txBody>
          <a:bodyPr/>
          <a:lstStyle/>
          <a:p>
            <a:endParaRPr lang="en-IN"/>
          </a:p>
        </p:txBody>
      </p:sp>
      <p:sp>
        <p:nvSpPr>
          <p:cNvPr id="32" name="Text 27"/>
          <p:cNvSpPr/>
          <p:nvPr/>
        </p:nvSpPr>
        <p:spPr>
          <a:xfrm>
            <a:off x="9587484" y="3095244"/>
            <a:ext cx="2153412" cy="436626"/>
          </a:xfrm>
          <a:prstGeom prst="rect">
            <a:avLst/>
          </a:prstGeom>
          <a:noFill/>
          <a:ln/>
        </p:spPr>
        <p:txBody>
          <a:bodyPr wrap="square" lIns="0" tIns="0" rIns="0" bIns="0" rtlCol="0" anchor="ctr"/>
          <a:lstStyle/>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High MAI + Low</a:t>
            </a:r>
            <a:endParaRPr lang="en-US" sz="760" dirty="0"/>
          </a:p>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Reach = Whitespace</a:t>
            </a:r>
            <a:endParaRPr lang="en-US" sz="760" dirty="0"/>
          </a:p>
        </p:txBody>
      </p:sp>
      <p:sp>
        <p:nvSpPr>
          <p:cNvPr id="33" name="Shape 28"/>
          <p:cNvSpPr/>
          <p:nvPr/>
        </p:nvSpPr>
        <p:spPr>
          <a:xfrm>
            <a:off x="10591038" y="3536442"/>
            <a:ext cx="146304" cy="128016"/>
          </a:xfrm>
          <a:prstGeom prst="downArrow">
            <a:avLst/>
          </a:prstGeom>
          <a:solidFill>
            <a:srgbClr val="C9BEE8"/>
          </a:solidFill>
          <a:ln/>
        </p:spPr>
        <p:txBody>
          <a:bodyPr/>
          <a:lstStyle/>
          <a:p>
            <a:endParaRPr lang="en-IN"/>
          </a:p>
        </p:txBody>
      </p:sp>
      <p:sp>
        <p:nvSpPr>
          <p:cNvPr id="34" name="Shape 29"/>
          <p:cNvSpPr/>
          <p:nvPr/>
        </p:nvSpPr>
        <p:spPr>
          <a:xfrm>
            <a:off x="9550908" y="3591306"/>
            <a:ext cx="2226564" cy="436626"/>
          </a:xfrm>
          <a:prstGeom prst="roundRect">
            <a:avLst>
              <a:gd name="adj" fmla="val 10471"/>
            </a:avLst>
          </a:prstGeom>
          <a:solidFill>
            <a:srgbClr val="160A6E"/>
          </a:solidFill>
          <a:ln/>
        </p:spPr>
        <p:txBody>
          <a:bodyPr/>
          <a:lstStyle/>
          <a:p>
            <a:endParaRPr lang="en-IN"/>
          </a:p>
        </p:txBody>
      </p:sp>
      <p:sp>
        <p:nvSpPr>
          <p:cNvPr id="35" name="Text 30"/>
          <p:cNvSpPr/>
          <p:nvPr/>
        </p:nvSpPr>
        <p:spPr>
          <a:xfrm>
            <a:off x="9587484" y="3591306"/>
            <a:ext cx="2153412" cy="436626"/>
          </a:xfrm>
          <a:prstGeom prst="rect">
            <a:avLst/>
          </a:prstGeom>
          <a:noFill/>
          <a:ln/>
        </p:spPr>
        <p:txBody>
          <a:bodyPr wrap="square" lIns="0" tIns="0" rIns="0" bIns="0" rtlCol="0" anchor="ctr"/>
          <a:lstStyle/>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19 districts</a:t>
            </a:r>
            <a:endParaRPr lang="en-US" sz="760" dirty="0"/>
          </a:p>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flagged, named</a:t>
            </a:r>
            <a:endParaRPr lang="en-US" sz="760" dirty="0"/>
          </a:p>
        </p:txBody>
      </p:sp>
      <p:sp>
        <p:nvSpPr>
          <p:cNvPr id="36" name="Shape 31"/>
          <p:cNvSpPr/>
          <p:nvPr/>
        </p:nvSpPr>
        <p:spPr>
          <a:xfrm>
            <a:off x="6812280" y="4306824"/>
            <a:ext cx="2446020" cy="2350008"/>
          </a:xfrm>
          <a:prstGeom prst="rect">
            <a:avLst/>
          </a:prstGeom>
          <a:solidFill>
            <a:srgbClr val="38521F"/>
          </a:solidFill>
          <a:ln/>
          <a:effectLst>
            <a:outerShdw blurRad="63500" dist="15240" dir="5400000" algn="bl" rotWithShape="0">
              <a:srgbClr val="000000">
                <a:alpha val="10000"/>
              </a:srgbClr>
            </a:outerShdw>
          </a:effectLst>
        </p:spPr>
        <p:txBody>
          <a:bodyPr/>
          <a:lstStyle/>
          <a:p>
            <a:endParaRPr lang="en-IN"/>
          </a:p>
        </p:txBody>
      </p:sp>
      <p:sp>
        <p:nvSpPr>
          <p:cNvPr id="37" name="Text 32"/>
          <p:cNvSpPr/>
          <p:nvPr/>
        </p:nvSpPr>
        <p:spPr>
          <a:xfrm>
            <a:off x="6885432" y="4343400"/>
            <a:ext cx="2299716" cy="292608"/>
          </a:xfrm>
          <a:prstGeom prst="rect">
            <a:avLst/>
          </a:prstGeom>
          <a:noFill/>
          <a:ln/>
        </p:spPr>
        <p:txBody>
          <a:bodyPr wrap="square" lIns="0" tIns="0" rIns="0" bIns="0" rtlCol="0" anchor="ctr"/>
          <a:lstStyle/>
          <a:p>
            <a:pPr marL="0" indent="0">
              <a:lnSpc>
                <a:spcPct val="100000"/>
              </a:lnSpc>
              <a:buNone/>
            </a:pPr>
            <a:r>
              <a:rPr lang="en-US" sz="800" b="1" dirty="0">
                <a:solidFill>
                  <a:srgbClr val="F0DC3C"/>
                </a:solidFill>
                <a:latin typeface="Arial" pitchFamily="34" charset="0"/>
                <a:ea typeface="Arial" pitchFamily="34" charset="-122"/>
                <a:cs typeface="Arial" pitchFamily="34" charset="-120"/>
              </a:rPr>
              <a:t>What To Do With This</a:t>
            </a:r>
            <a:endParaRPr lang="en-US" sz="800" dirty="0"/>
          </a:p>
        </p:txBody>
      </p:sp>
      <p:sp>
        <p:nvSpPr>
          <p:cNvPr id="38" name="Shape 33"/>
          <p:cNvSpPr/>
          <p:nvPr/>
        </p:nvSpPr>
        <p:spPr>
          <a:xfrm>
            <a:off x="6922008" y="4636008"/>
            <a:ext cx="2226564" cy="436626"/>
          </a:xfrm>
          <a:prstGeom prst="roundRect">
            <a:avLst>
              <a:gd name="adj" fmla="val 10471"/>
            </a:avLst>
          </a:prstGeom>
          <a:solidFill>
            <a:srgbClr val="160A6E"/>
          </a:solidFill>
          <a:ln/>
        </p:spPr>
        <p:txBody>
          <a:bodyPr/>
          <a:lstStyle/>
          <a:p>
            <a:endParaRPr lang="en-IN"/>
          </a:p>
        </p:txBody>
      </p:sp>
      <p:sp>
        <p:nvSpPr>
          <p:cNvPr id="39" name="Text 34"/>
          <p:cNvSpPr/>
          <p:nvPr/>
        </p:nvSpPr>
        <p:spPr>
          <a:xfrm>
            <a:off x="6958584" y="4636008"/>
            <a:ext cx="2153412" cy="436626"/>
          </a:xfrm>
          <a:prstGeom prst="rect">
            <a:avLst/>
          </a:prstGeom>
          <a:noFill/>
          <a:ln/>
        </p:spPr>
        <p:txBody>
          <a:bodyPr wrap="square" lIns="0" tIns="0" rIns="0" bIns="0" rtlCol="0" anchor="ctr"/>
          <a:lstStyle/>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Whitespace districts →</a:t>
            </a:r>
            <a:endParaRPr lang="en-US" sz="760" dirty="0"/>
          </a:p>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net-new headcount case</a:t>
            </a:r>
            <a:endParaRPr lang="en-US" sz="760" dirty="0"/>
          </a:p>
        </p:txBody>
      </p:sp>
      <p:sp>
        <p:nvSpPr>
          <p:cNvPr id="40" name="Shape 35"/>
          <p:cNvSpPr/>
          <p:nvPr/>
        </p:nvSpPr>
        <p:spPr>
          <a:xfrm>
            <a:off x="7962138" y="5077206"/>
            <a:ext cx="146304" cy="128016"/>
          </a:xfrm>
          <a:prstGeom prst="downArrow">
            <a:avLst/>
          </a:prstGeom>
          <a:solidFill>
            <a:srgbClr val="C9BEE8"/>
          </a:solidFill>
          <a:ln/>
        </p:spPr>
        <p:txBody>
          <a:bodyPr/>
          <a:lstStyle/>
          <a:p>
            <a:endParaRPr lang="en-IN"/>
          </a:p>
        </p:txBody>
      </p:sp>
      <p:sp>
        <p:nvSpPr>
          <p:cNvPr id="41" name="Shape 36"/>
          <p:cNvSpPr/>
          <p:nvPr/>
        </p:nvSpPr>
        <p:spPr>
          <a:xfrm>
            <a:off x="6922008" y="5132070"/>
            <a:ext cx="2226564" cy="436626"/>
          </a:xfrm>
          <a:prstGeom prst="roundRect">
            <a:avLst>
              <a:gd name="adj" fmla="val 10471"/>
            </a:avLst>
          </a:prstGeom>
          <a:solidFill>
            <a:srgbClr val="5F32F2"/>
          </a:solidFill>
          <a:ln/>
        </p:spPr>
        <p:txBody>
          <a:bodyPr/>
          <a:lstStyle/>
          <a:p>
            <a:endParaRPr lang="en-IN"/>
          </a:p>
        </p:txBody>
      </p:sp>
      <p:sp>
        <p:nvSpPr>
          <p:cNvPr id="42" name="Text 37"/>
          <p:cNvSpPr/>
          <p:nvPr/>
        </p:nvSpPr>
        <p:spPr>
          <a:xfrm>
            <a:off x="6958584" y="5132070"/>
            <a:ext cx="2153412" cy="436626"/>
          </a:xfrm>
          <a:prstGeom prst="rect">
            <a:avLst/>
          </a:prstGeom>
          <a:noFill/>
          <a:ln/>
        </p:spPr>
        <p:txBody>
          <a:bodyPr wrap="square" lIns="0" tIns="0" rIns="0" bIns="0" rtlCol="0" anchor="ctr"/>
          <a:lstStyle/>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Well-served districts →</a:t>
            </a:r>
            <a:endParaRPr lang="en-US" sz="760" dirty="0"/>
          </a:p>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defend, don't over-invest</a:t>
            </a:r>
            <a:endParaRPr lang="en-US" sz="760" dirty="0"/>
          </a:p>
        </p:txBody>
      </p:sp>
      <p:sp>
        <p:nvSpPr>
          <p:cNvPr id="43" name="Shape 38"/>
          <p:cNvSpPr/>
          <p:nvPr/>
        </p:nvSpPr>
        <p:spPr>
          <a:xfrm>
            <a:off x="7962138" y="5573268"/>
            <a:ext cx="146304" cy="128016"/>
          </a:xfrm>
          <a:prstGeom prst="downArrow">
            <a:avLst/>
          </a:prstGeom>
          <a:solidFill>
            <a:srgbClr val="C9BEE8"/>
          </a:solidFill>
          <a:ln/>
        </p:spPr>
        <p:txBody>
          <a:bodyPr/>
          <a:lstStyle/>
          <a:p>
            <a:endParaRPr lang="en-IN"/>
          </a:p>
        </p:txBody>
      </p:sp>
      <p:sp>
        <p:nvSpPr>
          <p:cNvPr id="44" name="Shape 39"/>
          <p:cNvSpPr/>
          <p:nvPr/>
        </p:nvSpPr>
        <p:spPr>
          <a:xfrm>
            <a:off x="6922008" y="5628132"/>
            <a:ext cx="2226564" cy="436626"/>
          </a:xfrm>
          <a:prstGeom prst="roundRect">
            <a:avLst>
              <a:gd name="adj" fmla="val 10471"/>
            </a:avLst>
          </a:prstGeom>
          <a:solidFill>
            <a:srgbClr val="160A6E"/>
          </a:solidFill>
          <a:ln/>
        </p:spPr>
        <p:txBody>
          <a:bodyPr/>
          <a:lstStyle/>
          <a:p>
            <a:endParaRPr lang="en-IN"/>
          </a:p>
        </p:txBody>
      </p:sp>
      <p:sp>
        <p:nvSpPr>
          <p:cNvPr id="45" name="Text 40"/>
          <p:cNvSpPr/>
          <p:nvPr/>
        </p:nvSpPr>
        <p:spPr>
          <a:xfrm>
            <a:off x="6958584" y="5628132"/>
            <a:ext cx="2153412" cy="436626"/>
          </a:xfrm>
          <a:prstGeom prst="rect">
            <a:avLst/>
          </a:prstGeom>
          <a:noFill/>
          <a:ln/>
        </p:spPr>
        <p:txBody>
          <a:bodyPr wrap="square" lIns="0" tIns="0" rIns="0" bIns="0" rtlCol="0" anchor="ctr"/>
          <a:lstStyle/>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Overlay real prescriber</a:t>
            </a:r>
            <a:endParaRPr lang="en-US" sz="760" dirty="0"/>
          </a:p>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data when available</a:t>
            </a:r>
            <a:endParaRPr lang="en-US" sz="760" dirty="0"/>
          </a:p>
        </p:txBody>
      </p:sp>
      <p:sp>
        <p:nvSpPr>
          <p:cNvPr id="46" name="Shape 41"/>
          <p:cNvSpPr/>
          <p:nvPr/>
        </p:nvSpPr>
        <p:spPr>
          <a:xfrm>
            <a:off x="7962138" y="6069330"/>
            <a:ext cx="146304" cy="128016"/>
          </a:xfrm>
          <a:prstGeom prst="downArrow">
            <a:avLst/>
          </a:prstGeom>
          <a:solidFill>
            <a:srgbClr val="C9BEE8"/>
          </a:solidFill>
          <a:ln/>
        </p:spPr>
        <p:txBody>
          <a:bodyPr/>
          <a:lstStyle/>
          <a:p>
            <a:endParaRPr lang="en-IN"/>
          </a:p>
        </p:txBody>
      </p:sp>
      <p:sp>
        <p:nvSpPr>
          <p:cNvPr id="47" name="Shape 42"/>
          <p:cNvSpPr/>
          <p:nvPr/>
        </p:nvSpPr>
        <p:spPr>
          <a:xfrm>
            <a:off x="6922008" y="6124194"/>
            <a:ext cx="2226564" cy="436626"/>
          </a:xfrm>
          <a:prstGeom prst="roundRect">
            <a:avLst>
              <a:gd name="adj" fmla="val 10471"/>
            </a:avLst>
          </a:prstGeom>
          <a:solidFill>
            <a:srgbClr val="5F32F2"/>
          </a:solidFill>
          <a:ln/>
        </p:spPr>
        <p:txBody>
          <a:bodyPr/>
          <a:lstStyle/>
          <a:p>
            <a:endParaRPr lang="en-IN"/>
          </a:p>
        </p:txBody>
      </p:sp>
      <p:sp>
        <p:nvSpPr>
          <p:cNvPr id="48" name="Text 43"/>
          <p:cNvSpPr/>
          <p:nvPr/>
        </p:nvSpPr>
        <p:spPr>
          <a:xfrm>
            <a:off x="6958584" y="6124194"/>
            <a:ext cx="2153412" cy="436626"/>
          </a:xfrm>
          <a:prstGeom prst="rect">
            <a:avLst/>
          </a:prstGeom>
          <a:noFill/>
          <a:ln/>
        </p:spPr>
        <p:txBody>
          <a:bodyPr wrap="square" lIns="0" tIns="0" rIns="0" bIns="0" rtlCol="0" anchor="ctr"/>
          <a:lstStyle/>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Refine proxy each</a:t>
            </a:r>
            <a:endParaRPr lang="en-US" sz="760" dirty="0"/>
          </a:p>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quarterly refresh</a:t>
            </a:r>
            <a:endParaRPr lang="en-US" sz="760" dirty="0"/>
          </a:p>
        </p:txBody>
      </p:sp>
      <p:sp>
        <p:nvSpPr>
          <p:cNvPr id="49" name="Shape 44"/>
          <p:cNvSpPr/>
          <p:nvPr/>
        </p:nvSpPr>
        <p:spPr>
          <a:xfrm>
            <a:off x="9441180" y="4306824"/>
            <a:ext cx="2446020" cy="2350008"/>
          </a:xfrm>
          <a:prstGeom prst="rect">
            <a:avLst/>
          </a:prstGeom>
          <a:solidFill>
            <a:srgbClr val="FFFFFF"/>
          </a:solidFill>
          <a:ln w="12700">
            <a:solidFill>
              <a:srgbClr val="D9D0EC"/>
            </a:solidFill>
            <a:prstDash val="solid"/>
          </a:ln>
          <a:effectLst>
            <a:outerShdw blurRad="63500" dist="15240" dir="5400000" algn="bl" rotWithShape="0">
              <a:srgbClr val="000000">
                <a:alpha val="10000"/>
              </a:srgbClr>
            </a:outerShdw>
          </a:effectLst>
        </p:spPr>
        <p:txBody>
          <a:bodyPr/>
          <a:lstStyle/>
          <a:p>
            <a:endParaRPr lang="en-IN"/>
          </a:p>
        </p:txBody>
      </p:sp>
      <p:sp>
        <p:nvSpPr>
          <p:cNvPr id="50" name="Text 45"/>
          <p:cNvSpPr/>
          <p:nvPr/>
        </p:nvSpPr>
        <p:spPr>
          <a:xfrm>
            <a:off x="9514332" y="4343400"/>
            <a:ext cx="2299716" cy="164592"/>
          </a:xfrm>
          <a:prstGeom prst="rect">
            <a:avLst/>
          </a:prstGeom>
          <a:noFill/>
          <a:ln/>
        </p:spPr>
        <p:txBody>
          <a:bodyPr wrap="square" lIns="0" tIns="0" rIns="0" bIns="0" rtlCol="0" anchor="ctr"/>
          <a:lstStyle/>
          <a:p>
            <a:pPr marL="0" indent="0">
              <a:buNone/>
            </a:pPr>
            <a:r>
              <a:rPr lang="en-US" sz="800" b="1" dirty="0">
                <a:solidFill>
                  <a:srgbClr val="160A6E"/>
                </a:solidFill>
                <a:latin typeface="Arial" pitchFamily="34" charset="0"/>
                <a:ea typeface="Arial" pitchFamily="34" charset="-122"/>
                <a:cs typeface="Arial" pitchFamily="34" charset="-120"/>
              </a:rPr>
              <a:t>Four Whitespace Zones</a:t>
            </a:r>
            <a:endParaRPr lang="en-US" sz="800" dirty="0"/>
          </a:p>
        </p:txBody>
      </p:sp>
      <p:sp>
        <p:nvSpPr>
          <p:cNvPr id="51" name="Shape 46"/>
          <p:cNvSpPr/>
          <p:nvPr/>
        </p:nvSpPr>
        <p:spPr>
          <a:xfrm>
            <a:off x="9532620" y="4562856"/>
            <a:ext cx="1113282" cy="1010412"/>
          </a:xfrm>
          <a:prstGeom prst="rect">
            <a:avLst/>
          </a:prstGeom>
          <a:solidFill>
            <a:srgbClr val="8A5FE0"/>
          </a:solidFill>
          <a:ln/>
        </p:spPr>
        <p:txBody>
          <a:bodyPr/>
          <a:lstStyle/>
          <a:p>
            <a:endParaRPr lang="en-IN"/>
          </a:p>
        </p:txBody>
      </p:sp>
      <p:sp>
        <p:nvSpPr>
          <p:cNvPr id="52" name="Text 47"/>
          <p:cNvSpPr/>
          <p:nvPr/>
        </p:nvSpPr>
        <p:spPr>
          <a:xfrm>
            <a:off x="9578340" y="4581144"/>
            <a:ext cx="1021842" cy="973836"/>
          </a:xfrm>
          <a:prstGeom prst="rect">
            <a:avLst/>
          </a:prstGeom>
          <a:noFill/>
          <a:ln/>
        </p:spPr>
        <p:txBody>
          <a:bodyPr wrap="square" lIns="0" tIns="0" rIns="0" bIns="0" rtlCol="0" anchor="t"/>
          <a:lstStyle/>
          <a:p>
            <a:pPr marL="0" indent="0">
              <a:lnSpc>
                <a:spcPct val="105000"/>
              </a:lnSpc>
              <a:buNone/>
            </a:pPr>
            <a:r>
              <a:rPr lang="en-US" sz="630" dirty="0">
                <a:solidFill>
                  <a:srgbClr val="FFFFFF"/>
                </a:solidFill>
                <a:latin typeface="Arial" pitchFamily="34" charset="0"/>
                <a:ea typeface="Arial" pitchFamily="34" charset="-122"/>
                <a:cs typeface="Arial" pitchFamily="34" charset="-120"/>
              </a:rPr>
              <a:t>MONITOR/OVER-SERVED</a:t>
            </a:r>
            <a:endParaRPr lang="en-US" sz="630" dirty="0"/>
          </a:p>
          <a:p>
            <a:pPr marL="0" indent="0">
              <a:lnSpc>
                <a:spcPct val="105000"/>
              </a:lnSpc>
              <a:buNone/>
            </a:pPr>
            <a:r>
              <a:rPr lang="en-US" sz="630" dirty="0">
                <a:solidFill>
                  <a:srgbClr val="FFFFFF"/>
                </a:solidFill>
                <a:latin typeface="Arial" pitchFamily="34" charset="0"/>
                <a:ea typeface="Arial" pitchFamily="34" charset="-122"/>
                <a:cs typeface="Arial" pitchFamily="34" charset="-120"/>
              </a:rPr>
              <a:t>Low MAI, high reach — don't over-invest</a:t>
            </a:r>
            <a:endParaRPr lang="en-US" sz="630" dirty="0"/>
          </a:p>
        </p:txBody>
      </p:sp>
      <p:sp>
        <p:nvSpPr>
          <p:cNvPr id="53" name="Shape 48"/>
          <p:cNvSpPr/>
          <p:nvPr/>
        </p:nvSpPr>
        <p:spPr>
          <a:xfrm>
            <a:off x="10682478" y="4562856"/>
            <a:ext cx="1113282" cy="1010412"/>
          </a:xfrm>
          <a:prstGeom prst="rect">
            <a:avLst/>
          </a:prstGeom>
          <a:solidFill>
            <a:srgbClr val="38521F"/>
          </a:solidFill>
          <a:ln/>
        </p:spPr>
        <p:txBody>
          <a:bodyPr/>
          <a:lstStyle/>
          <a:p>
            <a:endParaRPr lang="en-IN"/>
          </a:p>
        </p:txBody>
      </p:sp>
      <p:sp>
        <p:nvSpPr>
          <p:cNvPr id="54" name="Text 49"/>
          <p:cNvSpPr/>
          <p:nvPr/>
        </p:nvSpPr>
        <p:spPr>
          <a:xfrm>
            <a:off x="10728198" y="4581144"/>
            <a:ext cx="1021842" cy="973836"/>
          </a:xfrm>
          <a:prstGeom prst="rect">
            <a:avLst/>
          </a:prstGeom>
          <a:noFill/>
          <a:ln/>
        </p:spPr>
        <p:txBody>
          <a:bodyPr wrap="square" lIns="0" tIns="0" rIns="0" bIns="0" rtlCol="0" anchor="t"/>
          <a:lstStyle/>
          <a:p>
            <a:pPr marL="0" indent="0">
              <a:lnSpc>
                <a:spcPct val="105000"/>
              </a:lnSpc>
              <a:buNone/>
            </a:pPr>
            <a:r>
              <a:rPr lang="en-US" sz="630" dirty="0">
                <a:solidFill>
                  <a:srgbClr val="FFFFFF"/>
                </a:solidFill>
                <a:latin typeface="Arial" pitchFamily="34" charset="0"/>
                <a:ea typeface="Arial" pitchFamily="34" charset="-122"/>
                <a:cs typeface="Arial" pitchFamily="34" charset="-120"/>
              </a:rPr>
              <a:t>WELL-SERVED</a:t>
            </a:r>
            <a:endParaRPr lang="en-US" sz="630" dirty="0"/>
          </a:p>
          <a:p>
            <a:pPr marL="0" indent="0">
              <a:lnSpc>
                <a:spcPct val="105000"/>
              </a:lnSpc>
              <a:buNone/>
            </a:pPr>
            <a:r>
              <a:rPr lang="en-US" sz="630" dirty="0">
                <a:solidFill>
                  <a:srgbClr val="FFFFFF"/>
                </a:solidFill>
                <a:latin typeface="Arial" pitchFamily="34" charset="0"/>
                <a:ea typeface="Arial" pitchFamily="34" charset="-122"/>
                <a:cs typeface="Arial" pitchFamily="34" charset="-120"/>
              </a:rPr>
              <a:t>High MAI, high reach — defend position</a:t>
            </a:r>
            <a:endParaRPr lang="en-US" sz="630" dirty="0"/>
          </a:p>
        </p:txBody>
      </p:sp>
      <p:sp>
        <p:nvSpPr>
          <p:cNvPr id="55" name="Shape 50"/>
          <p:cNvSpPr/>
          <p:nvPr/>
        </p:nvSpPr>
        <p:spPr>
          <a:xfrm>
            <a:off x="9532620" y="5609844"/>
            <a:ext cx="1113282" cy="1010412"/>
          </a:xfrm>
          <a:prstGeom prst="rect">
            <a:avLst/>
          </a:prstGeom>
          <a:solidFill>
            <a:srgbClr val="B6C4C8"/>
          </a:solidFill>
          <a:ln/>
        </p:spPr>
        <p:txBody>
          <a:bodyPr/>
          <a:lstStyle/>
          <a:p>
            <a:endParaRPr lang="en-IN"/>
          </a:p>
        </p:txBody>
      </p:sp>
      <p:sp>
        <p:nvSpPr>
          <p:cNvPr id="56" name="Text 51"/>
          <p:cNvSpPr/>
          <p:nvPr/>
        </p:nvSpPr>
        <p:spPr>
          <a:xfrm>
            <a:off x="9578340" y="5628132"/>
            <a:ext cx="1021842" cy="973836"/>
          </a:xfrm>
          <a:prstGeom prst="rect">
            <a:avLst/>
          </a:prstGeom>
          <a:noFill/>
          <a:ln/>
        </p:spPr>
        <p:txBody>
          <a:bodyPr wrap="square" lIns="0" tIns="0" rIns="0" bIns="0" rtlCol="0" anchor="t"/>
          <a:lstStyle/>
          <a:p>
            <a:pPr marL="0" indent="0">
              <a:lnSpc>
                <a:spcPct val="105000"/>
              </a:lnSpc>
              <a:buNone/>
            </a:pPr>
            <a:r>
              <a:rPr lang="en-US" sz="630" dirty="0">
                <a:solidFill>
                  <a:srgbClr val="FFFFFF"/>
                </a:solidFill>
                <a:latin typeface="Arial" pitchFamily="34" charset="0"/>
                <a:ea typeface="Arial" pitchFamily="34" charset="-122"/>
                <a:cs typeface="Arial" pitchFamily="34" charset="-120"/>
              </a:rPr>
              <a:t>LOW PRIORITY</a:t>
            </a:r>
            <a:endParaRPr lang="en-US" sz="630" dirty="0"/>
          </a:p>
          <a:p>
            <a:pPr marL="0" indent="0">
              <a:lnSpc>
                <a:spcPct val="105000"/>
              </a:lnSpc>
              <a:buNone/>
            </a:pPr>
            <a:r>
              <a:rPr lang="en-US" sz="630" dirty="0">
                <a:solidFill>
                  <a:srgbClr val="FFFFFF"/>
                </a:solidFill>
                <a:latin typeface="Arial" pitchFamily="34" charset="0"/>
                <a:ea typeface="Arial" pitchFamily="34" charset="-122"/>
                <a:cs typeface="Arial" pitchFamily="34" charset="-120"/>
              </a:rPr>
              <a:t>Low MAI, low reach — deprioritize</a:t>
            </a:r>
            <a:endParaRPr lang="en-US" sz="630" dirty="0"/>
          </a:p>
        </p:txBody>
      </p:sp>
      <p:sp>
        <p:nvSpPr>
          <p:cNvPr id="57" name="Shape 52"/>
          <p:cNvSpPr/>
          <p:nvPr/>
        </p:nvSpPr>
        <p:spPr>
          <a:xfrm>
            <a:off x="10682478" y="5609844"/>
            <a:ext cx="1113282" cy="1010412"/>
          </a:xfrm>
          <a:prstGeom prst="rect">
            <a:avLst/>
          </a:prstGeom>
          <a:solidFill>
            <a:srgbClr val="B4143C"/>
          </a:solidFill>
          <a:ln/>
        </p:spPr>
        <p:txBody>
          <a:bodyPr/>
          <a:lstStyle/>
          <a:p>
            <a:endParaRPr lang="en-IN"/>
          </a:p>
        </p:txBody>
      </p:sp>
      <p:sp>
        <p:nvSpPr>
          <p:cNvPr id="58" name="Text 53"/>
          <p:cNvSpPr/>
          <p:nvPr/>
        </p:nvSpPr>
        <p:spPr>
          <a:xfrm>
            <a:off x="10728198" y="5628132"/>
            <a:ext cx="1021842" cy="973836"/>
          </a:xfrm>
          <a:prstGeom prst="rect">
            <a:avLst/>
          </a:prstGeom>
          <a:noFill/>
          <a:ln/>
        </p:spPr>
        <p:txBody>
          <a:bodyPr wrap="square" lIns="0" tIns="0" rIns="0" bIns="0" rtlCol="0" anchor="t"/>
          <a:lstStyle/>
          <a:p>
            <a:pPr marL="0" indent="0">
              <a:lnSpc>
                <a:spcPct val="105000"/>
              </a:lnSpc>
              <a:buNone/>
            </a:pPr>
            <a:r>
              <a:rPr lang="en-US" sz="630" dirty="0">
                <a:solidFill>
                  <a:srgbClr val="FFFFFF"/>
                </a:solidFill>
                <a:latin typeface="Arial" pitchFamily="34" charset="0"/>
                <a:ea typeface="Arial" pitchFamily="34" charset="-122"/>
                <a:cs typeface="Arial" pitchFamily="34" charset="-120"/>
              </a:rPr>
              <a:t>WHITESPACE PRIORITY</a:t>
            </a:r>
            <a:endParaRPr lang="en-US" sz="630" dirty="0"/>
          </a:p>
          <a:p>
            <a:pPr marL="0" indent="0">
              <a:lnSpc>
                <a:spcPct val="105000"/>
              </a:lnSpc>
              <a:buNone/>
            </a:pPr>
            <a:r>
              <a:rPr lang="en-US" sz="630" dirty="0">
                <a:solidFill>
                  <a:srgbClr val="FFFFFF"/>
                </a:solidFill>
                <a:latin typeface="Arial" pitchFamily="34" charset="0"/>
                <a:ea typeface="Arial" pitchFamily="34" charset="-122"/>
                <a:cs typeface="Arial" pitchFamily="34" charset="-120"/>
              </a:rPr>
              <a:t>High MAI, low reach — expand here</a:t>
            </a:r>
            <a:endParaRPr lang="en-US" sz="630" dirty="0"/>
          </a:p>
        </p:txBody>
      </p:sp>
      <p:sp>
        <p:nvSpPr>
          <p:cNvPr id="59" name="Shape 54"/>
          <p:cNvSpPr/>
          <p:nvPr/>
        </p:nvSpPr>
        <p:spPr>
          <a:xfrm>
            <a:off x="-274320" y="6656832"/>
            <a:ext cx="2895600" cy="201168"/>
          </a:xfrm>
          <a:prstGeom prst="triangle">
            <a:avLst/>
          </a:prstGeom>
          <a:solidFill>
            <a:srgbClr val="D8C9F7">
              <a:alpha val="85000"/>
            </a:srgbClr>
          </a:solidFill>
          <a:ln/>
        </p:spPr>
        <p:txBody>
          <a:bodyPr/>
          <a:lstStyle/>
          <a:p>
            <a:endParaRPr lang="en-IN"/>
          </a:p>
        </p:txBody>
      </p:sp>
      <p:sp>
        <p:nvSpPr>
          <p:cNvPr id="60" name="Shape 55"/>
          <p:cNvSpPr/>
          <p:nvPr/>
        </p:nvSpPr>
        <p:spPr>
          <a:xfrm>
            <a:off x="2186940" y="6611112"/>
            <a:ext cx="2895600" cy="246888"/>
          </a:xfrm>
          <a:prstGeom prst="triangle">
            <a:avLst/>
          </a:prstGeom>
          <a:solidFill>
            <a:srgbClr val="5F32F2">
              <a:alpha val="85000"/>
            </a:srgbClr>
          </a:solidFill>
          <a:ln/>
        </p:spPr>
        <p:txBody>
          <a:bodyPr/>
          <a:lstStyle/>
          <a:p>
            <a:endParaRPr lang="en-IN"/>
          </a:p>
        </p:txBody>
      </p:sp>
      <p:sp>
        <p:nvSpPr>
          <p:cNvPr id="61" name="Shape 56"/>
          <p:cNvSpPr/>
          <p:nvPr/>
        </p:nvSpPr>
        <p:spPr>
          <a:xfrm>
            <a:off x="4648200" y="6565392"/>
            <a:ext cx="2895600" cy="292608"/>
          </a:xfrm>
          <a:prstGeom prst="triangle">
            <a:avLst/>
          </a:prstGeom>
          <a:solidFill>
            <a:srgbClr val="8AAE6E">
              <a:alpha val="85000"/>
            </a:srgbClr>
          </a:solidFill>
          <a:ln/>
        </p:spPr>
        <p:txBody>
          <a:bodyPr/>
          <a:lstStyle/>
          <a:p>
            <a:endParaRPr lang="en-IN"/>
          </a:p>
        </p:txBody>
      </p:sp>
      <p:sp>
        <p:nvSpPr>
          <p:cNvPr id="62" name="Shape 57"/>
          <p:cNvSpPr/>
          <p:nvPr/>
        </p:nvSpPr>
        <p:spPr>
          <a:xfrm>
            <a:off x="7109460" y="6656832"/>
            <a:ext cx="2895600" cy="201168"/>
          </a:xfrm>
          <a:prstGeom prst="triangle">
            <a:avLst/>
          </a:prstGeom>
          <a:solidFill>
            <a:srgbClr val="4B6E32">
              <a:alpha val="85000"/>
            </a:srgbClr>
          </a:solidFill>
          <a:ln/>
        </p:spPr>
        <p:txBody>
          <a:bodyPr/>
          <a:lstStyle/>
          <a:p>
            <a:endParaRPr lang="en-IN"/>
          </a:p>
        </p:txBody>
      </p:sp>
      <p:sp>
        <p:nvSpPr>
          <p:cNvPr id="63" name="Shape 58"/>
          <p:cNvSpPr/>
          <p:nvPr/>
        </p:nvSpPr>
        <p:spPr>
          <a:xfrm>
            <a:off x="9570720" y="6611112"/>
            <a:ext cx="2895600" cy="246888"/>
          </a:xfrm>
          <a:prstGeom prst="triangle">
            <a:avLst/>
          </a:prstGeom>
          <a:solidFill>
            <a:srgbClr val="D8C9F7">
              <a:alpha val="85000"/>
            </a:srgbClr>
          </a:solidFill>
          <a:ln/>
        </p:spPr>
        <p:txBody>
          <a:bodyPr/>
          <a:lstStyle/>
          <a:p>
            <a:endParaRPr lang="en-IN"/>
          </a:p>
        </p:txBody>
      </p:sp>
      <p:sp>
        <p:nvSpPr>
          <p:cNvPr id="64" name="Shape 59"/>
          <p:cNvSpPr/>
          <p:nvPr/>
        </p:nvSpPr>
        <p:spPr>
          <a:xfrm>
            <a:off x="0" y="6729984"/>
            <a:ext cx="12161520" cy="128016"/>
          </a:xfrm>
          <a:prstGeom prst="rect">
            <a:avLst/>
          </a:prstGeom>
          <a:solidFill>
            <a:srgbClr val="160A6E"/>
          </a:solidFill>
          <a:ln/>
        </p:spPr>
        <p:txBody>
          <a:bodyPr/>
          <a:lstStyle/>
          <a:p>
            <a:endParaRPr lang="en-IN"/>
          </a:p>
        </p:txBody>
      </p:sp>
      <p:sp>
        <p:nvSpPr>
          <p:cNvPr id="65" name="Text 60"/>
          <p:cNvSpPr/>
          <p:nvPr/>
        </p:nvSpPr>
        <p:spPr>
          <a:xfrm>
            <a:off x="274320" y="6729984"/>
            <a:ext cx="7315200" cy="128016"/>
          </a:xfrm>
          <a:prstGeom prst="rect">
            <a:avLst/>
          </a:prstGeom>
          <a:noFill/>
          <a:ln/>
        </p:spPr>
        <p:txBody>
          <a:bodyPr wrap="square" lIns="0" tIns="0" rIns="0" bIns="0" rtlCol="0" anchor="ctr"/>
          <a:lstStyle/>
          <a:p>
            <a:pPr marL="0" indent="0">
              <a:buNone/>
            </a:pPr>
            <a:r>
              <a:rPr lang="en-US" sz="600" b="1" dirty="0">
                <a:solidFill>
                  <a:srgbClr val="FFFFFF"/>
                </a:solidFill>
                <a:latin typeface="Arial" pitchFamily="34" charset="0"/>
                <a:ea typeface="Arial" pitchFamily="34" charset="-122"/>
                <a:cs typeface="Arial" pitchFamily="34" charset="-120"/>
              </a:rPr>
              <a:t>TRILYTICS 2026  ·  IIM UDAIPUR  ·  SUN PHARMA CASE CHALLENGE</a:t>
            </a:r>
            <a:endParaRPr lang="en-US" sz="600" dirty="0"/>
          </a:p>
        </p:txBody>
      </p:sp>
      <p:sp>
        <p:nvSpPr>
          <p:cNvPr id="66" name="Text 61"/>
          <p:cNvSpPr/>
          <p:nvPr/>
        </p:nvSpPr>
        <p:spPr>
          <a:xfrm>
            <a:off x="11612880" y="6729984"/>
            <a:ext cx="365760" cy="128016"/>
          </a:xfrm>
          <a:prstGeom prst="rect">
            <a:avLst/>
          </a:prstGeom>
          <a:noFill/>
          <a:ln/>
        </p:spPr>
        <p:txBody>
          <a:bodyPr wrap="square" lIns="0" tIns="0" rIns="0" bIns="0" rtlCol="0" anchor="ctr"/>
          <a:lstStyle/>
          <a:p>
            <a:pPr marL="0" indent="0" algn="r">
              <a:buNone/>
            </a:pPr>
            <a:r>
              <a:rPr lang="en-US" sz="600" b="1" dirty="0">
                <a:solidFill>
                  <a:srgbClr val="FFFFFF"/>
                </a:solidFill>
                <a:latin typeface="Arial" pitchFamily="34" charset="0"/>
                <a:ea typeface="Arial" pitchFamily="34" charset="-122"/>
                <a:cs typeface="Arial" pitchFamily="34" charset="-120"/>
              </a:rPr>
              <a:t>19</a:t>
            </a:r>
            <a:endParaRPr lang="en-US" sz="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59"/>
        <p:cNvGrpSpPr/>
        <p:nvPr/>
      </p:nvGrpSpPr>
      <p:grpSpPr>
        <a:xfrm>
          <a:off x="0" y="0"/>
          <a:ext cx="0" cy="0"/>
          <a:chOff x="0" y="0"/>
          <a:chExt cx="0" cy="0"/>
        </a:xfrm>
      </p:grpSpPr>
      <p:sp>
        <p:nvSpPr>
          <p:cNvPr id="1060" name="Google Shape;1060;p19"/>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61" name="Google Shape;1061;p19"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1062" name="Google Shape;1062;p19"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1063" name="Google Shape;1063;p19"/>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1064" name="Google Shape;1064;p19"/>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1065" name="Google Shape;1065;p19"/>
          <p:cNvSpPr/>
          <p:nvPr/>
        </p:nvSpPr>
        <p:spPr>
          <a:xfrm>
            <a:off x="320040" y="1097280"/>
            <a:ext cx="1152144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000"/>
              <a:buFont typeface="Arial"/>
              <a:buNone/>
            </a:pPr>
            <a:r>
              <a:rPr lang="en-US" sz="2000" b="1" i="0" u="none" strike="noStrike" cap="none">
                <a:solidFill>
                  <a:srgbClr val="160A6E"/>
                </a:solidFill>
                <a:latin typeface="Arial"/>
                <a:ea typeface="Arial"/>
                <a:cs typeface="Arial"/>
                <a:sym typeface="Arial"/>
              </a:rPr>
              <a:t>Where India's Pharma Opportunity Actually Concentrates</a:t>
            </a:r>
            <a:endParaRPr sz="2000" b="0" i="0" u="none" strike="noStrike" cap="none">
              <a:solidFill>
                <a:schemeClr val="dk1"/>
              </a:solidFill>
              <a:latin typeface="Calibri"/>
              <a:ea typeface="Calibri"/>
              <a:cs typeface="Calibri"/>
              <a:sym typeface="Calibri"/>
            </a:endParaRPr>
          </a:p>
        </p:txBody>
      </p:sp>
      <p:sp>
        <p:nvSpPr>
          <p:cNvPr id="1066" name="Google Shape;1066;p19"/>
          <p:cNvSpPr/>
          <p:nvPr/>
        </p:nvSpPr>
        <p:spPr>
          <a:xfrm>
            <a:off x="320040" y="1426464"/>
            <a:ext cx="1152144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B6280"/>
              </a:buClr>
              <a:buSzPts val="1050"/>
              <a:buFont typeface="Arial"/>
              <a:buNone/>
            </a:pPr>
            <a:r>
              <a:rPr lang="en-US" sz="1050" b="0" i="1" u="none" strike="noStrike" cap="none">
                <a:solidFill>
                  <a:srgbClr val="6B6280"/>
                </a:solidFill>
                <a:latin typeface="Arial"/>
                <a:ea typeface="Arial"/>
                <a:cs typeface="Arial"/>
                <a:sym typeface="Arial"/>
              </a:rPr>
              <a:t>A district-level view of Overall Market Attractiveness across all of India — read the legend carefully before drawing conclusions.</a:t>
            </a:r>
            <a:endParaRPr sz="1050" b="0" i="0" u="none" strike="noStrike" cap="none">
              <a:solidFill>
                <a:schemeClr val="dk1"/>
              </a:solidFill>
              <a:latin typeface="Calibri"/>
              <a:ea typeface="Calibri"/>
              <a:cs typeface="Calibri"/>
              <a:sym typeface="Calibri"/>
            </a:endParaRPr>
          </a:p>
        </p:txBody>
      </p:sp>
      <p:sp>
        <p:nvSpPr>
          <p:cNvPr id="1067" name="Google Shape;1067;p19"/>
          <p:cNvSpPr/>
          <p:nvPr/>
        </p:nvSpPr>
        <p:spPr>
          <a:xfrm>
            <a:off x="274320" y="1737360"/>
            <a:ext cx="5943600" cy="4919472"/>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68" name="Google Shape;1068;p19" descr="charts/india_choropleth_v5.png"/>
          <p:cNvPicPr preferRelativeResize="0"/>
          <p:nvPr/>
        </p:nvPicPr>
        <p:blipFill rotWithShape="1">
          <a:blip r:embed="rId5">
            <a:alphaModFix/>
          </a:blip>
          <a:srcRect/>
          <a:stretch/>
        </p:blipFill>
        <p:spPr>
          <a:xfrm>
            <a:off x="384048" y="1810512"/>
            <a:ext cx="5724144" cy="4773168"/>
          </a:xfrm>
          <a:prstGeom prst="rect">
            <a:avLst/>
          </a:prstGeom>
          <a:noFill/>
          <a:ln>
            <a:noFill/>
          </a:ln>
        </p:spPr>
      </p:pic>
      <p:sp>
        <p:nvSpPr>
          <p:cNvPr id="1069" name="Google Shape;1069;p19"/>
          <p:cNvSpPr/>
          <p:nvPr/>
        </p:nvSpPr>
        <p:spPr>
          <a:xfrm>
            <a:off x="6400800" y="1737360"/>
            <a:ext cx="5486400" cy="2148840"/>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19"/>
          <p:cNvSpPr/>
          <p:nvPr/>
        </p:nvSpPr>
        <p:spPr>
          <a:xfrm>
            <a:off x="6537960" y="1773583"/>
            <a:ext cx="5212200" cy="2013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200"/>
              <a:buFont typeface="Arial"/>
              <a:buNone/>
            </a:pPr>
            <a:r>
              <a:rPr lang="en-US" sz="1200" b="1" i="0" u="none" strike="noStrike" cap="none">
                <a:solidFill>
                  <a:srgbClr val="5F32F2"/>
                </a:solidFill>
                <a:latin typeface="Arial"/>
                <a:ea typeface="Arial"/>
                <a:cs typeface="Arial"/>
                <a:sym typeface="Arial"/>
              </a:rPr>
              <a:t>How to Read This Map</a:t>
            </a:r>
            <a:endParaRPr sz="1200" b="0" i="0" u="none" strike="noStrike" cap="none">
              <a:solidFill>
                <a:schemeClr val="dk1"/>
              </a:solidFill>
              <a:latin typeface="Calibri"/>
              <a:ea typeface="Calibri"/>
              <a:cs typeface="Calibri"/>
              <a:sym typeface="Calibri"/>
            </a:endParaRPr>
          </a:p>
        </p:txBody>
      </p:sp>
      <p:sp>
        <p:nvSpPr>
          <p:cNvPr id="1071" name="Google Shape;1071;p19"/>
          <p:cNvSpPr/>
          <p:nvPr/>
        </p:nvSpPr>
        <p:spPr>
          <a:xfrm>
            <a:off x="6400750" y="1960953"/>
            <a:ext cx="5486400" cy="1856100"/>
          </a:xfrm>
          <a:prstGeom prst="rect">
            <a:avLst/>
          </a:prstGeom>
          <a:noFill/>
          <a:ln>
            <a:noFill/>
          </a:ln>
        </p:spPr>
        <p:txBody>
          <a:bodyPr spcFirstLastPara="1" wrap="square" lIns="25400" tIns="25400" rIns="25400" bIns="25400" anchor="t" anchorCtr="0">
            <a:noAutofit/>
          </a:bodyPr>
          <a:lstStyle/>
          <a:p>
            <a:pPr marL="457200" lvl="0" indent="-285750" algn="l" rtl="0">
              <a:lnSpc>
                <a:spcPct val="115000"/>
              </a:lnSpc>
              <a:spcBef>
                <a:spcPts val="1200"/>
              </a:spcBef>
              <a:spcAft>
                <a:spcPts val="0"/>
              </a:spcAft>
              <a:buClr>
                <a:srgbClr val="241B3D"/>
              </a:buClr>
              <a:buSzPts val="900"/>
              <a:buChar char="•"/>
            </a:pPr>
            <a:r>
              <a:rPr lang="en-US" sz="900">
                <a:solidFill>
                  <a:srgbClr val="241B3D"/>
                </a:solidFill>
              </a:rPr>
              <a:t>Darker red indicates higher Overall Market Attractiveness, while lighter yellow denotes lower attractiveness, as shown by the HIGH, MEDIUM, and LOW bands next to the color bar.</a:t>
            </a:r>
            <a:endParaRPr sz="900">
              <a:solidFill>
                <a:srgbClr val="241B3D"/>
              </a:solidFill>
            </a:endParaRPr>
          </a:p>
          <a:p>
            <a:pPr marL="457200" lvl="0" indent="-285750" algn="l" rtl="0">
              <a:lnSpc>
                <a:spcPct val="115000"/>
              </a:lnSpc>
              <a:spcBef>
                <a:spcPts val="0"/>
              </a:spcBef>
              <a:spcAft>
                <a:spcPts val="0"/>
              </a:spcAft>
              <a:buClr>
                <a:srgbClr val="241B3D"/>
              </a:buClr>
              <a:buSzPts val="900"/>
              <a:buChar char="•"/>
            </a:pPr>
            <a:r>
              <a:rPr lang="en-US" sz="900">
                <a:solidFill>
                  <a:srgbClr val="241B3D"/>
                </a:solidFill>
              </a:rPr>
              <a:t>Scores are population-weighted where multiple modern districts share a single legacy boundary prior to 2016, such as Telangana's post-split districts aggregating onto undivided Andhra Pradesh boundaries.</a:t>
            </a:r>
            <a:endParaRPr sz="900">
              <a:solidFill>
                <a:srgbClr val="241B3D"/>
              </a:solidFill>
            </a:endParaRPr>
          </a:p>
          <a:p>
            <a:pPr marL="457200" lvl="0" indent="-285750" algn="l" rtl="0">
              <a:lnSpc>
                <a:spcPct val="115000"/>
              </a:lnSpc>
              <a:spcBef>
                <a:spcPts val="0"/>
              </a:spcBef>
              <a:spcAft>
                <a:spcPts val="0"/>
              </a:spcAft>
              <a:buClr>
                <a:srgbClr val="241B3D"/>
              </a:buClr>
              <a:buSzPts val="900"/>
              <a:buChar char="•"/>
            </a:pPr>
            <a:r>
              <a:rPr lang="en-US" sz="900">
                <a:solidFill>
                  <a:srgbClr val="241B3D"/>
                </a:solidFill>
              </a:rPr>
              <a:t>Hatched grey regions represent a disclosed mapping gap affecting roughly 4.2 percent of legacy boundaries rather than a true zero score, with complete underlying district data available in the results table.</a:t>
            </a:r>
            <a:endParaRPr sz="900">
              <a:solidFill>
                <a:srgbClr val="241B3D"/>
              </a:solidFill>
            </a:endParaRPr>
          </a:p>
          <a:p>
            <a:pPr marL="457200" lvl="0" indent="-285750" algn="l" rtl="0">
              <a:lnSpc>
                <a:spcPct val="115000"/>
              </a:lnSpc>
              <a:spcBef>
                <a:spcPts val="0"/>
              </a:spcBef>
              <a:spcAft>
                <a:spcPts val="0"/>
              </a:spcAft>
              <a:buClr>
                <a:srgbClr val="241B3D"/>
              </a:buClr>
              <a:buSzPts val="900"/>
              <a:buChar char="•"/>
            </a:pPr>
            <a:r>
              <a:rPr lang="en-US" sz="900">
                <a:solidFill>
                  <a:srgbClr val="241B3D"/>
                </a:solidFill>
              </a:rPr>
              <a:t>Kashmir and Ladakh data is unavailable because they were established as separate union territories in 2019, postdating the boundary, GDP, and Census data sources.</a:t>
            </a:r>
            <a:endParaRPr sz="900">
              <a:solidFill>
                <a:srgbClr val="241B3D"/>
              </a:solidFill>
            </a:endParaRPr>
          </a:p>
          <a:p>
            <a:pPr marL="457200" lvl="0" indent="-285750" algn="l" rtl="0">
              <a:lnSpc>
                <a:spcPct val="115000"/>
              </a:lnSpc>
              <a:spcBef>
                <a:spcPts val="0"/>
              </a:spcBef>
              <a:spcAft>
                <a:spcPts val="0"/>
              </a:spcAft>
              <a:buClr>
                <a:srgbClr val="241B3D"/>
              </a:buClr>
              <a:buSzPts val="900"/>
              <a:buChar char="•"/>
            </a:pPr>
            <a:r>
              <a:rPr lang="en-US" sz="900">
                <a:solidFill>
                  <a:srgbClr val="241B3D"/>
                </a:solidFill>
              </a:rPr>
              <a:t>Lakshadweep is included with a real score of 0.11, but called out separately because its islands are too small to visualize at the full India scale.</a:t>
            </a:r>
            <a:endParaRPr sz="900">
              <a:solidFill>
                <a:srgbClr val="241B3D"/>
              </a:solidFill>
            </a:endParaRPr>
          </a:p>
        </p:txBody>
      </p:sp>
      <p:sp>
        <p:nvSpPr>
          <p:cNvPr id="1072" name="Google Shape;1072;p19"/>
          <p:cNvSpPr/>
          <p:nvPr/>
        </p:nvSpPr>
        <p:spPr>
          <a:xfrm>
            <a:off x="6400800" y="4069080"/>
            <a:ext cx="5486400" cy="2587752"/>
          </a:xfrm>
          <a:prstGeom prst="rect">
            <a:avLst/>
          </a:prstGeom>
          <a:solidFill>
            <a:srgbClr val="160A6E"/>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1073;p19"/>
          <p:cNvSpPr/>
          <p:nvPr/>
        </p:nvSpPr>
        <p:spPr>
          <a:xfrm>
            <a:off x="6473952" y="4105656"/>
            <a:ext cx="534009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How This Map Was Built</a:t>
            </a:r>
            <a:endParaRPr sz="800" b="0" i="0" u="none" strike="noStrike" cap="none">
              <a:solidFill>
                <a:schemeClr val="dk1"/>
              </a:solidFill>
              <a:latin typeface="Calibri"/>
              <a:ea typeface="Calibri"/>
              <a:cs typeface="Calibri"/>
              <a:sym typeface="Calibri"/>
            </a:endParaRPr>
          </a:p>
        </p:txBody>
      </p:sp>
      <p:sp>
        <p:nvSpPr>
          <p:cNvPr id="1074" name="Google Shape;1074;p19"/>
          <p:cNvSpPr/>
          <p:nvPr/>
        </p:nvSpPr>
        <p:spPr>
          <a:xfrm>
            <a:off x="6510528" y="4398264"/>
            <a:ext cx="5266944" cy="496062"/>
          </a:xfrm>
          <a:prstGeom prst="roundRect">
            <a:avLst>
              <a:gd name="adj" fmla="val 9217"/>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19"/>
          <p:cNvSpPr/>
          <p:nvPr/>
        </p:nvSpPr>
        <p:spPr>
          <a:xfrm>
            <a:off x="6547104" y="4398264"/>
            <a:ext cx="5193792" cy="49606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706 district scores +</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legacy boundary geometry</a:t>
            </a:r>
            <a:endParaRPr sz="760" b="0" i="0" u="none" strike="noStrike" cap="none">
              <a:solidFill>
                <a:schemeClr val="dk1"/>
              </a:solidFill>
              <a:latin typeface="Calibri"/>
              <a:ea typeface="Calibri"/>
              <a:cs typeface="Calibri"/>
              <a:sym typeface="Calibri"/>
            </a:endParaRPr>
          </a:p>
        </p:txBody>
      </p:sp>
      <p:sp>
        <p:nvSpPr>
          <p:cNvPr id="1076" name="Google Shape;1076;p19"/>
          <p:cNvSpPr/>
          <p:nvPr/>
        </p:nvSpPr>
        <p:spPr>
          <a:xfrm>
            <a:off x="9070848" y="4898898"/>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19"/>
          <p:cNvSpPr/>
          <p:nvPr/>
        </p:nvSpPr>
        <p:spPr>
          <a:xfrm>
            <a:off x="6510528" y="4953762"/>
            <a:ext cx="5266944" cy="496062"/>
          </a:xfrm>
          <a:prstGeom prst="roundRect">
            <a:avLst>
              <a:gd name="adj" fmla="val 9217"/>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19"/>
          <p:cNvSpPr/>
          <p:nvPr/>
        </p:nvSpPr>
        <p:spPr>
          <a:xfrm>
            <a:off x="6547104" y="4953762"/>
            <a:ext cx="5193792" cy="49606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State-gated fuzzy</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name crosswalk</a:t>
            </a:r>
            <a:endParaRPr sz="760" b="0" i="0" u="none" strike="noStrike" cap="none">
              <a:solidFill>
                <a:schemeClr val="dk1"/>
              </a:solidFill>
              <a:latin typeface="Calibri"/>
              <a:ea typeface="Calibri"/>
              <a:cs typeface="Calibri"/>
              <a:sym typeface="Calibri"/>
            </a:endParaRPr>
          </a:p>
        </p:txBody>
      </p:sp>
      <p:sp>
        <p:nvSpPr>
          <p:cNvPr id="1079" name="Google Shape;1079;p19"/>
          <p:cNvSpPr/>
          <p:nvPr/>
        </p:nvSpPr>
        <p:spPr>
          <a:xfrm>
            <a:off x="9070848" y="5454396"/>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19"/>
          <p:cNvSpPr/>
          <p:nvPr/>
        </p:nvSpPr>
        <p:spPr>
          <a:xfrm>
            <a:off x="6510528" y="5509260"/>
            <a:ext cx="5266944" cy="496062"/>
          </a:xfrm>
          <a:prstGeom prst="roundRect">
            <a:avLst>
              <a:gd name="adj" fmla="val 9217"/>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19"/>
          <p:cNvSpPr/>
          <p:nvPr/>
        </p:nvSpPr>
        <p:spPr>
          <a:xfrm>
            <a:off x="6547104" y="5509260"/>
            <a:ext cx="5193792" cy="49606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Population-weighted</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average per boundary</a:t>
            </a:r>
            <a:endParaRPr sz="760" b="0" i="0" u="none" strike="noStrike" cap="none">
              <a:solidFill>
                <a:schemeClr val="dk1"/>
              </a:solidFill>
              <a:latin typeface="Calibri"/>
              <a:ea typeface="Calibri"/>
              <a:cs typeface="Calibri"/>
              <a:sym typeface="Calibri"/>
            </a:endParaRPr>
          </a:p>
        </p:txBody>
      </p:sp>
      <p:sp>
        <p:nvSpPr>
          <p:cNvPr id="1082" name="Google Shape;1082;p19"/>
          <p:cNvSpPr/>
          <p:nvPr/>
        </p:nvSpPr>
        <p:spPr>
          <a:xfrm>
            <a:off x="9070848" y="6009894"/>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19"/>
          <p:cNvSpPr/>
          <p:nvPr/>
        </p:nvSpPr>
        <p:spPr>
          <a:xfrm>
            <a:off x="6510528" y="6064758"/>
            <a:ext cx="5266944" cy="496062"/>
          </a:xfrm>
          <a:prstGeom prst="roundRect">
            <a:avLst>
              <a:gd name="adj" fmla="val 9217"/>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19"/>
          <p:cNvSpPr/>
          <p:nvPr/>
        </p:nvSpPr>
        <p:spPr>
          <a:xfrm>
            <a:off x="6547104" y="6064758"/>
            <a:ext cx="5193792" cy="49606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Rendered choropleth,</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gaps disclosed</a:t>
            </a:r>
            <a:endParaRPr sz="760" b="0" i="0" u="none" strike="noStrike" cap="none">
              <a:solidFill>
                <a:schemeClr val="dk1"/>
              </a:solidFill>
              <a:latin typeface="Calibri"/>
              <a:ea typeface="Calibri"/>
              <a:cs typeface="Calibri"/>
              <a:sym typeface="Calibri"/>
            </a:endParaRPr>
          </a:p>
        </p:txBody>
      </p:sp>
      <p:sp>
        <p:nvSpPr>
          <p:cNvPr id="1085" name="Google Shape;1085;p19"/>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19"/>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19"/>
          <p:cNvSpPr/>
          <p:nvPr/>
        </p:nvSpPr>
        <p:spPr>
          <a:xfrm>
            <a:off x="4648200" y="6565392"/>
            <a:ext cx="2895600" cy="292608"/>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19"/>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19"/>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19"/>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19"/>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1092" name="Google Shape;1092;p19"/>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19</a:t>
            </a:r>
            <a:endParaRPr sz="600" b="0" i="0" u="none" strike="noStrike" cap="none">
              <a:solidFill>
                <a:schemeClr val="dk1"/>
              </a:solidFill>
              <a:latin typeface="Calibri"/>
              <a:ea typeface="Calibri"/>
              <a:cs typeface="Calibri"/>
              <a:sym typeface="Calibri"/>
            </a:endParaRPr>
          </a:p>
        </p:txBody>
      </p:sp>
      <p:sp>
        <p:nvSpPr>
          <p:cNvPr id="3" name="TextBox 2">
            <a:extLst>
              <a:ext uri="{FF2B5EF4-FFF2-40B4-BE49-F238E27FC236}">
                <a16:creationId xmlns:a16="http://schemas.microsoft.com/office/drawing/2014/main" id="{B983ABF1-F63B-A391-5E72-03BFF22381A9}"/>
              </a:ext>
            </a:extLst>
          </p:cNvPr>
          <p:cNvSpPr txBox="1"/>
          <p:nvPr/>
        </p:nvSpPr>
        <p:spPr>
          <a:xfrm>
            <a:off x="2490707" y="2054176"/>
            <a:ext cx="2521385" cy="200055"/>
          </a:xfrm>
          <a:prstGeom prst="rect">
            <a:avLst/>
          </a:prstGeom>
          <a:noFill/>
        </p:spPr>
        <p:txBody>
          <a:bodyPr wrap="square">
            <a:spAutoFit/>
          </a:bodyPr>
          <a:lstStyle/>
          <a:p>
            <a:endParaRPr lang="en-IN" sz="700" dirty="0"/>
          </a:p>
        </p:txBody>
      </p:sp>
      <p:sp>
        <p:nvSpPr>
          <p:cNvPr id="4" name="Rectangle 3">
            <a:extLst>
              <a:ext uri="{FF2B5EF4-FFF2-40B4-BE49-F238E27FC236}">
                <a16:creationId xmlns:a16="http://schemas.microsoft.com/office/drawing/2014/main" id="{F68FBE81-E091-049D-6F49-06228E39BC6C}"/>
              </a:ext>
            </a:extLst>
          </p:cNvPr>
          <p:cNvSpPr/>
          <p:nvPr/>
        </p:nvSpPr>
        <p:spPr>
          <a:xfrm>
            <a:off x="1122499" y="2054176"/>
            <a:ext cx="2628900" cy="628650"/>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r>
              <a:rPr lang="en-IN" sz="800" dirty="0"/>
              <a:t>Kashmir/Ladakh: district scores exist in our full results table, but reliable boundary geometry for this region isn't available in the open-source map data we used — a known limitation of publicly available India boundary files for this specific area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97"/>
        <p:cNvGrpSpPr/>
        <p:nvPr/>
      </p:nvGrpSpPr>
      <p:grpSpPr>
        <a:xfrm>
          <a:off x="0" y="0"/>
          <a:ext cx="0" cy="0"/>
          <a:chOff x="0" y="0"/>
          <a:chExt cx="0" cy="0"/>
        </a:xfrm>
      </p:grpSpPr>
      <p:sp>
        <p:nvSpPr>
          <p:cNvPr id="1098" name="Google Shape;1098;p20"/>
          <p:cNvSpPr/>
          <p:nvPr/>
        </p:nvSpPr>
        <p:spPr>
          <a:xfrm>
            <a:off x="0" y="0"/>
            <a:ext cx="12161520" cy="1051560"/>
          </a:xfrm>
          <a:prstGeom prst="rect">
            <a:avLst/>
          </a:prstGeom>
          <a:solidFill>
            <a:srgbClr val="F4EE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99" name="Google Shape;1099;p20" descr="logo/trilytics_logo_clean.png"/>
          <p:cNvPicPr preferRelativeResize="0"/>
          <p:nvPr/>
        </p:nvPicPr>
        <p:blipFill rotWithShape="1">
          <a:blip r:embed="rId3">
            <a:alphaModFix/>
          </a:blip>
          <a:srcRect/>
          <a:stretch/>
        </p:blipFill>
        <p:spPr>
          <a:xfrm>
            <a:off x="274320" y="128016"/>
            <a:ext cx="1417938" cy="777240"/>
          </a:xfrm>
          <a:prstGeom prst="rect">
            <a:avLst/>
          </a:prstGeom>
          <a:noFill/>
          <a:ln>
            <a:noFill/>
          </a:ln>
        </p:spPr>
      </p:pic>
      <p:pic>
        <p:nvPicPr>
          <p:cNvPr id="1100" name="Google Shape;1100;p20" descr="logo/iimu_logo_clean.png"/>
          <p:cNvPicPr preferRelativeResize="0"/>
          <p:nvPr/>
        </p:nvPicPr>
        <p:blipFill rotWithShape="1">
          <a:blip r:embed="rId4">
            <a:alphaModFix/>
          </a:blip>
          <a:srcRect/>
          <a:stretch/>
        </p:blipFill>
        <p:spPr>
          <a:xfrm>
            <a:off x="11064240" y="109728"/>
            <a:ext cx="822960" cy="822960"/>
          </a:xfrm>
          <a:prstGeom prst="rect">
            <a:avLst/>
          </a:prstGeom>
          <a:noFill/>
          <a:ln>
            <a:noFill/>
          </a:ln>
        </p:spPr>
      </p:pic>
      <p:cxnSp>
        <p:nvCxnSpPr>
          <p:cNvPr id="1101" name="Google Shape;1101;p20"/>
          <p:cNvCxnSpPr/>
          <p:nvPr/>
        </p:nvCxnSpPr>
        <p:spPr>
          <a:xfrm>
            <a:off x="0" y="1051560"/>
            <a:ext cx="6080760" cy="0"/>
          </a:xfrm>
          <a:prstGeom prst="straightConnector1">
            <a:avLst/>
          </a:prstGeom>
          <a:noFill/>
          <a:ln w="25400" cap="flat" cmpd="sng">
            <a:solidFill>
              <a:srgbClr val="5F32F2"/>
            </a:solidFill>
            <a:prstDash val="solid"/>
            <a:round/>
            <a:headEnd type="none" w="sm" len="sm"/>
            <a:tailEnd type="none" w="sm" len="sm"/>
          </a:ln>
        </p:spPr>
      </p:cxnSp>
      <p:cxnSp>
        <p:nvCxnSpPr>
          <p:cNvPr id="1102" name="Google Shape;1102;p20"/>
          <p:cNvCxnSpPr/>
          <p:nvPr/>
        </p:nvCxnSpPr>
        <p:spPr>
          <a:xfrm>
            <a:off x="6080760" y="1051560"/>
            <a:ext cx="6080760" cy="0"/>
          </a:xfrm>
          <a:prstGeom prst="straightConnector1">
            <a:avLst/>
          </a:prstGeom>
          <a:noFill/>
          <a:ln w="25400" cap="flat" cmpd="sng">
            <a:solidFill>
              <a:srgbClr val="4B6E32"/>
            </a:solidFill>
            <a:prstDash val="solid"/>
            <a:round/>
            <a:headEnd type="none" w="sm" len="sm"/>
            <a:tailEnd type="none" w="sm" len="sm"/>
          </a:ln>
        </p:spPr>
      </p:cxnSp>
      <p:sp>
        <p:nvSpPr>
          <p:cNvPr id="1103" name="Google Shape;1103;p20"/>
          <p:cNvSpPr/>
          <p:nvPr/>
        </p:nvSpPr>
        <p:spPr>
          <a:xfrm>
            <a:off x="320040" y="1097280"/>
            <a:ext cx="1152144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2200"/>
              <a:buFont typeface="Arial"/>
              <a:buNone/>
            </a:pPr>
            <a:r>
              <a:rPr lang="en-US" sz="2200" b="1" i="0" u="none" strike="noStrike" cap="none">
                <a:solidFill>
                  <a:srgbClr val="160A6E"/>
                </a:solidFill>
                <a:latin typeface="Arial"/>
                <a:ea typeface="Arial"/>
                <a:cs typeface="Arial"/>
                <a:sym typeface="Arial"/>
              </a:rPr>
              <a:t>Roadmap, Limitations &amp; Recommendations</a:t>
            </a:r>
            <a:endParaRPr sz="2200" b="0" i="0" u="none" strike="noStrike" cap="none">
              <a:solidFill>
                <a:schemeClr val="dk1"/>
              </a:solidFill>
              <a:latin typeface="Calibri"/>
              <a:ea typeface="Calibri"/>
              <a:cs typeface="Calibri"/>
              <a:sym typeface="Calibri"/>
            </a:endParaRPr>
          </a:p>
        </p:txBody>
      </p:sp>
      <p:sp>
        <p:nvSpPr>
          <p:cNvPr id="1104" name="Google Shape;1104;p20"/>
          <p:cNvSpPr/>
          <p:nvPr/>
        </p:nvSpPr>
        <p:spPr>
          <a:xfrm>
            <a:off x="274320" y="1536192"/>
            <a:ext cx="6309360" cy="5120640"/>
          </a:xfrm>
          <a:prstGeom prst="rect">
            <a:avLst/>
          </a:prstGeom>
          <a:solidFill>
            <a:srgbClr val="FBF8FE"/>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0"/>
          <p:cNvSpPr/>
          <p:nvPr/>
        </p:nvSpPr>
        <p:spPr>
          <a:xfrm>
            <a:off x="457200" y="1645920"/>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Known Limitations, Disclosed in Full</a:t>
            </a:r>
            <a:endParaRPr sz="1150" b="0" i="0" u="none" strike="noStrike" cap="none">
              <a:solidFill>
                <a:schemeClr val="dk1"/>
              </a:solidFill>
              <a:latin typeface="Calibri"/>
              <a:ea typeface="Calibri"/>
              <a:cs typeface="Calibri"/>
              <a:sym typeface="Calibri"/>
            </a:endParaRPr>
          </a:p>
        </p:txBody>
      </p:sp>
      <p:sp>
        <p:nvSpPr>
          <p:cNvPr id="1106" name="Google Shape;1106;p20"/>
          <p:cNvSpPr/>
          <p:nvPr/>
        </p:nvSpPr>
        <p:spPr>
          <a:xfrm>
            <a:off x="457200" y="1865376"/>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58 districts (8.2%) have no hospital-directory crosswalk match and are mean-imputed for Access-pillar variables. 118 districts (16.7%) have apportioned, not directly measured, population. Ladakh is entirely absent from GDP, HMIS, and Census sources. The 15% population floor is a disclosed manual override, not a data-derived constant and K-Means clustering uses index-derived weights, so it should be read as a segmentation of the index, not an independent unsupervised finding.</a:t>
            </a:r>
            <a:endParaRPr sz="920" b="0" i="0" u="none" strike="noStrike" cap="none">
              <a:solidFill>
                <a:schemeClr val="dk1"/>
              </a:solidFill>
              <a:latin typeface="Calibri"/>
              <a:ea typeface="Calibri"/>
              <a:cs typeface="Calibri"/>
              <a:sym typeface="Calibri"/>
            </a:endParaRPr>
          </a:p>
        </p:txBody>
      </p:sp>
      <p:sp>
        <p:nvSpPr>
          <p:cNvPr id="1107" name="Google Shape;1107;p20"/>
          <p:cNvSpPr/>
          <p:nvPr/>
        </p:nvSpPr>
        <p:spPr>
          <a:xfrm>
            <a:off x="457200" y="2871216"/>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Replicability &amp; Scalability</a:t>
            </a:r>
            <a:endParaRPr sz="1150" b="0" i="0" u="none" strike="noStrike" cap="none">
              <a:solidFill>
                <a:schemeClr val="dk1"/>
              </a:solidFill>
              <a:latin typeface="Calibri"/>
              <a:ea typeface="Calibri"/>
              <a:cs typeface="Calibri"/>
              <a:sym typeface="Calibri"/>
            </a:endParaRPr>
          </a:p>
        </p:txBody>
      </p:sp>
      <p:sp>
        <p:nvSpPr>
          <p:cNvPr id="1108" name="Google Shape;1108;p20"/>
          <p:cNvSpPr/>
          <p:nvPr/>
        </p:nvSpPr>
        <p:spPr>
          <a:xfrm>
            <a:off x="457200" y="3090672"/>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The same normalize-weight-aggregate pipeline scales from our verified panel to the full 700+ district universe with no methodology change, only a larger merged dataset. A new therapy-specific index requires only redefining the manual re-weighting vector. District scores roll up cleanly to state-level, population-weighted views for board-level reporting.</a:t>
            </a:r>
            <a:endParaRPr sz="920" b="0" i="0" u="none" strike="noStrike" cap="none">
              <a:solidFill>
                <a:schemeClr val="dk1"/>
              </a:solidFill>
              <a:latin typeface="Calibri"/>
              <a:ea typeface="Calibri"/>
              <a:cs typeface="Calibri"/>
              <a:sym typeface="Calibri"/>
            </a:endParaRPr>
          </a:p>
        </p:txBody>
      </p:sp>
      <p:sp>
        <p:nvSpPr>
          <p:cNvPr id="1109" name="Google Shape;1109;p20"/>
          <p:cNvSpPr/>
          <p:nvPr/>
        </p:nvSpPr>
        <p:spPr>
          <a:xfrm>
            <a:off x="457200" y="4096512"/>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Recommended Next Steps</a:t>
            </a:r>
            <a:endParaRPr sz="1150" b="0" i="0" u="none" strike="noStrike" cap="none">
              <a:solidFill>
                <a:schemeClr val="dk1"/>
              </a:solidFill>
              <a:latin typeface="Calibri"/>
              <a:ea typeface="Calibri"/>
              <a:cs typeface="Calibri"/>
              <a:sym typeface="Calibri"/>
            </a:endParaRPr>
          </a:p>
        </p:txBody>
      </p:sp>
      <p:sp>
        <p:nvSpPr>
          <p:cNvPr id="1110" name="Google Shape;1110;p20"/>
          <p:cNvSpPr/>
          <p:nvPr/>
        </p:nvSpPr>
        <p:spPr>
          <a:xfrm>
            <a:off x="457200" y="4315968"/>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Source real district-level doctor/bed-density data (Rural Health Statistics) to replace the current hospital-count-only Access proxy. Acquire the full NNMS microdata with geographic identifiers. Formally request PMJAY claims-utilisation data at district level to sharpen the Affordability pillar beyond enrollment counts alone.</a:t>
            </a:r>
            <a:endParaRPr sz="920" b="0" i="0" u="none" strike="noStrike" cap="none">
              <a:solidFill>
                <a:schemeClr val="dk1"/>
              </a:solidFill>
              <a:latin typeface="Calibri"/>
              <a:ea typeface="Calibri"/>
              <a:cs typeface="Calibri"/>
              <a:sym typeface="Calibri"/>
            </a:endParaRPr>
          </a:p>
        </p:txBody>
      </p:sp>
      <p:sp>
        <p:nvSpPr>
          <p:cNvPr id="1111" name="Google Shape;1111;p20"/>
          <p:cNvSpPr/>
          <p:nvPr/>
        </p:nvSpPr>
        <p:spPr>
          <a:xfrm>
            <a:off x="457200" y="5321808"/>
            <a:ext cx="594360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F32F2"/>
              </a:buClr>
              <a:buSzPts val="1150"/>
              <a:buFont typeface="Arial"/>
              <a:buNone/>
            </a:pPr>
            <a:r>
              <a:rPr lang="en-US" sz="1150" b="1" i="0" u="none" strike="noStrike" cap="none">
                <a:solidFill>
                  <a:srgbClr val="5F32F2"/>
                </a:solidFill>
                <a:latin typeface="Arial"/>
                <a:ea typeface="Arial"/>
                <a:cs typeface="Arial"/>
                <a:sym typeface="Arial"/>
              </a:rPr>
              <a:t>Closing</a:t>
            </a:r>
            <a:endParaRPr sz="1150" b="0" i="0" u="none" strike="noStrike" cap="none">
              <a:solidFill>
                <a:schemeClr val="dk1"/>
              </a:solidFill>
              <a:latin typeface="Calibri"/>
              <a:ea typeface="Calibri"/>
              <a:cs typeface="Calibri"/>
              <a:sym typeface="Calibri"/>
            </a:endParaRPr>
          </a:p>
        </p:txBody>
      </p:sp>
      <p:sp>
        <p:nvSpPr>
          <p:cNvPr id="1112" name="Google Shape;1112;p20"/>
          <p:cNvSpPr/>
          <p:nvPr/>
        </p:nvSpPr>
        <p:spPr>
          <a:xfrm>
            <a:off x="457200" y="5541264"/>
            <a:ext cx="5943600" cy="969264"/>
          </a:xfrm>
          <a:prstGeom prst="rect">
            <a:avLst/>
          </a:prstGeom>
          <a:noFill/>
          <a:ln>
            <a:noFill/>
          </a:ln>
        </p:spPr>
        <p:txBody>
          <a:bodyPr spcFirstLastPara="1" wrap="square" lIns="0" tIns="0" rIns="0" bIns="0" anchor="ctr" anchorCtr="0">
            <a:noAutofit/>
          </a:bodyPr>
          <a:lstStyle/>
          <a:p>
            <a:pPr marL="0" marR="0" lvl="0" indent="0" algn="just" rtl="0">
              <a:lnSpc>
                <a:spcPct val="116000"/>
              </a:lnSpc>
              <a:spcBef>
                <a:spcPts val="0"/>
              </a:spcBef>
              <a:spcAft>
                <a:spcPts val="0"/>
              </a:spcAft>
              <a:buClr>
                <a:srgbClr val="241B3D"/>
              </a:buClr>
              <a:buSzPts val="920"/>
              <a:buFont typeface="Arial"/>
              <a:buNone/>
            </a:pPr>
            <a:r>
              <a:rPr lang="en-US" sz="920" b="0" i="0" u="none" strike="noStrike" cap="none">
                <a:solidFill>
                  <a:srgbClr val="241B3D"/>
                </a:solidFill>
                <a:latin typeface="Arial"/>
                <a:ea typeface="Arial"/>
                <a:cs typeface="Arial"/>
                <a:sym typeface="Arial"/>
              </a:rPr>
              <a:t>This submission prioritizes transparent, defensible reasoning over black-box sophistication. Every weight, every judgment call, and every bug we found and fixed is disclosed rather than hidden — because in a market where competitors can replicate any published methodology, the trust a rigorous, honest analysis earns is the actual differentiator.</a:t>
            </a:r>
            <a:endParaRPr sz="920" b="0" i="0" u="none" strike="noStrike" cap="none">
              <a:solidFill>
                <a:schemeClr val="dk1"/>
              </a:solidFill>
              <a:latin typeface="Calibri"/>
              <a:ea typeface="Calibri"/>
              <a:cs typeface="Calibri"/>
              <a:sym typeface="Calibri"/>
            </a:endParaRPr>
          </a:p>
        </p:txBody>
      </p:sp>
      <p:sp>
        <p:nvSpPr>
          <p:cNvPr id="1113" name="Google Shape;1113;p20"/>
          <p:cNvSpPr/>
          <p:nvPr/>
        </p:nvSpPr>
        <p:spPr>
          <a:xfrm>
            <a:off x="68122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0"/>
          <p:cNvSpPr/>
          <p:nvPr/>
        </p:nvSpPr>
        <p:spPr>
          <a:xfrm>
            <a:off x="68854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Limitations at a Glance</a:t>
            </a:r>
            <a:endParaRPr sz="800" b="0" i="0" u="none" strike="noStrike" cap="none">
              <a:solidFill>
                <a:schemeClr val="dk1"/>
              </a:solidFill>
              <a:latin typeface="Calibri"/>
              <a:ea typeface="Calibri"/>
              <a:cs typeface="Calibri"/>
              <a:sym typeface="Calibri"/>
            </a:endParaRPr>
          </a:p>
        </p:txBody>
      </p:sp>
      <p:sp>
        <p:nvSpPr>
          <p:cNvPr id="1115" name="Google Shape;1115;p20"/>
          <p:cNvSpPr/>
          <p:nvPr/>
        </p:nvSpPr>
        <p:spPr>
          <a:xfrm>
            <a:off x="6903720" y="1792224"/>
            <a:ext cx="1113282" cy="1069848"/>
          </a:xfrm>
          <a:prstGeom prst="rect">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1116;p20"/>
          <p:cNvSpPr/>
          <p:nvPr/>
        </p:nvSpPr>
        <p:spPr>
          <a:xfrm>
            <a:off x="6949440" y="1810512"/>
            <a:ext cx="1021842" cy="103327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8.2% DISTRICTS</a:t>
            </a:r>
            <a:endParaRPr sz="6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Mean-imputed hospital-count data</a:t>
            </a:r>
            <a:endParaRPr sz="630" b="0" i="0" u="none" strike="noStrike" cap="none">
              <a:solidFill>
                <a:schemeClr val="dk1"/>
              </a:solidFill>
              <a:latin typeface="Calibri"/>
              <a:ea typeface="Calibri"/>
              <a:cs typeface="Calibri"/>
              <a:sym typeface="Calibri"/>
            </a:endParaRPr>
          </a:p>
        </p:txBody>
      </p:sp>
      <p:sp>
        <p:nvSpPr>
          <p:cNvPr id="1117" name="Google Shape;1117;p20"/>
          <p:cNvSpPr/>
          <p:nvPr/>
        </p:nvSpPr>
        <p:spPr>
          <a:xfrm>
            <a:off x="8053578" y="1792224"/>
            <a:ext cx="1113282" cy="1069848"/>
          </a:xfrm>
          <a:prstGeom prst="rect">
            <a:avLst/>
          </a:prstGeom>
          <a:solidFill>
            <a:srgbClr val="B414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0"/>
          <p:cNvSpPr/>
          <p:nvPr/>
        </p:nvSpPr>
        <p:spPr>
          <a:xfrm>
            <a:off x="8099298" y="1810512"/>
            <a:ext cx="1021842" cy="103327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16.7% DISTRICTS</a:t>
            </a:r>
            <a:endParaRPr sz="6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Apportioned population, not measured</a:t>
            </a:r>
            <a:endParaRPr sz="630" b="0" i="0" u="none" strike="noStrike" cap="none">
              <a:solidFill>
                <a:schemeClr val="dk1"/>
              </a:solidFill>
              <a:latin typeface="Calibri"/>
              <a:ea typeface="Calibri"/>
              <a:cs typeface="Calibri"/>
              <a:sym typeface="Calibri"/>
            </a:endParaRPr>
          </a:p>
        </p:txBody>
      </p:sp>
      <p:sp>
        <p:nvSpPr>
          <p:cNvPr id="1119" name="Google Shape;1119;p20"/>
          <p:cNvSpPr/>
          <p:nvPr/>
        </p:nvSpPr>
        <p:spPr>
          <a:xfrm>
            <a:off x="6903720" y="2898648"/>
            <a:ext cx="1113282" cy="1069848"/>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20"/>
          <p:cNvSpPr/>
          <p:nvPr/>
        </p:nvSpPr>
        <p:spPr>
          <a:xfrm>
            <a:off x="6949440" y="2916936"/>
            <a:ext cx="1021842" cy="103327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POPULATION FLOOR</a:t>
            </a:r>
            <a:endParaRPr sz="6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Disclosed judgment override</a:t>
            </a:r>
            <a:endParaRPr sz="630" b="0" i="0" u="none" strike="noStrike" cap="none">
              <a:solidFill>
                <a:schemeClr val="dk1"/>
              </a:solidFill>
              <a:latin typeface="Calibri"/>
              <a:ea typeface="Calibri"/>
              <a:cs typeface="Calibri"/>
              <a:sym typeface="Calibri"/>
            </a:endParaRPr>
          </a:p>
        </p:txBody>
      </p:sp>
      <p:sp>
        <p:nvSpPr>
          <p:cNvPr id="1121" name="Google Shape;1121;p20"/>
          <p:cNvSpPr/>
          <p:nvPr/>
        </p:nvSpPr>
        <p:spPr>
          <a:xfrm>
            <a:off x="8053578" y="2898648"/>
            <a:ext cx="1113282" cy="1069848"/>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0"/>
          <p:cNvSpPr/>
          <p:nvPr/>
        </p:nvSpPr>
        <p:spPr>
          <a:xfrm>
            <a:off x="8099298" y="2916936"/>
            <a:ext cx="1021842" cy="1033272"/>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CLUSTERING</a:t>
            </a:r>
            <a:endParaRPr sz="630" b="0" i="0" u="none" strike="noStrike" cap="none">
              <a:solidFill>
                <a:schemeClr val="dk1"/>
              </a:solidFill>
              <a:latin typeface="Calibri"/>
              <a:ea typeface="Calibri"/>
              <a:cs typeface="Calibri"/>
              <a:sym typeface="Calibri"/>
            </a:endParaRPr>
          </a:p>
          <a:p>
            <a:pPr marL="0" marR="0" lvl="0" indent="0" algn="l" rtl="0">
              <a:lnSpc>
                <a:spcPct val="105000"/>
              </a:lnSpc>
              <a:spcBef>
                <a:spcPts val="0"/>
              </a:spcBef>
              <a:spcAft>
                <a:spcPts val="0"/>
              </a:spcAft>
              <a:buClr>
                <a:srgbClr val="FFFFFF"/>
              </a:buClr>
              <a:buSzPts val="630"/>
              <a:buFont typeface="Arial"/>
              <a:buNone/>
            </a:pPr>
            <a:r>
              <a:rPr lang="en-US" sz="630" b="0" i="0" u="none" strike="noStrike" cap="none">
                <a:solidFill>
                  <a:srgbClr val="FFFFFF"/>
                </a:solidFill>
                <a:latin typeface="Arial"/>
                <a:ea typeface="Arial"/>
                <a:cs typeface="Arial"/>
                <a:sym typeface="Arial"/>
              </a:rPr>
              <a:t>Weighted to match index, not independent</a:t>
            </a:r>
            <a:endParaRPr sz="630" b="0" i="0" u="none" strike="noStrike" cap="none">
              <a:solidFill>
                <a:schemeClr val="dk1"/>
              </a:solidFill>
              <a:latin typeface="Calibri"/>
              <a:ea typeface="Calibri"/>
              <a:cs typeface="Calibri"/>
              <a:sym typeface="Calibri"/>
            </a:endParaRPr>
          </a:p>
        </p:txBody>
      </p:sp>
      <p:sp>
        <p:nvSpPr>
          <p:cNvPr id="1123" name="Google Shape;1123;p20"/>
          <p:cNvSpPr/>
          <p:nvPr/>
        </p:nvSpPr>
        <p:spPr>
          <a:xfrm>
            <a:off x="9441180" y="1536192"/>
            <a:ext cx="2446020" cy="2468880"/>
          </a:xfrm>
          <a:prstGeom prst="rect">
            <a:avLst/>
          </a:prstGeom>
          <a:solidFill>
            <a:srgbClr val="FFFFFF"/>
          </a:solidFill>
          <a:ln w="12700" cap="flat" cmpd="sng">
            <a:solidFill>
              <a:srgbClr val="D9D0EC"/>
            </a:solidFill>
            <a:prstDash val="solid"/>
            <a:round/>
            <a:headEnd type="none" w="sm" len="sm"/>
            <a:tailEnd type="none" w="sm" len="sm"/>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0"/>
          <p:cNvSpPr/>
          <p:nvPr/>
        </p:nvSpPr>
        <p:spPr>
          <a:xfrm>
            <a:off x="9514332" y="1572768"/>
            <a:ext cx="2299716" cy="16459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60A6E"/>
              </a:buClr>
              <a:buSzPts val="800"/>
              <a:buFont typeface="Arial"/>
              <a:buNone/>
            </a:pPr>
            <a:r>
              <a:rPr lang="en-US" sz="800" b="1" i="0" u="none" strike="noStrike" cap="none">
                <a:solidFill>
                  <a:srgbClr val="160A6E"/>
                </a:solidFill>
                <a:latin typeface="Arial"/>
                <a:ea typeface="Arial"/>
                <a:cs typeface="Arial"/>
                <a:sym typeface="Arial"/>
              </a:rPr>
              <a:t>District Tier Distribution</a:t>
            </a:r>
            <a:endParaRPr sz="800" b="0" i="0" u="none" strike="noStrike" cap="none">
              <a:solidFill>
                <a:schemeClr val="dk1"/>
              </a:solidFill>
              <a:latin typeface="Calibri"/>
              <a:ea typeface="Calibri"/>
              <a:cs typeface="Calibri"/>
              <a:sym typeface="Calibri"/>
            </a:endParaRPr>
          </a:p>
        </p:txBody>
      </p:sp>
      <p:pic>
        <p:nvPicPr>
          <p:cNvPr id="1125" name="Google Shape;1125;p20" descr="charts/15_tier_distribution.png"/>
          <p:cNvPicPr preferRelativeResize="0"/>
          <p:nvPr/>
        </p:nvPicPr>
        <p:blipFill rotWithShape="1">
          <a:blip r:embed="rId5">
            <a:alphaModFix/>
          </a:blip>
          <a:srcRect/>
          <a:stretch/>
        </p:blipFill>
        <p:spPr>
          <a:xfrm>
            <a:off x="9532620" y="1755648"/>
            <a:ext cx="2263140" cy="1810512"/>
          </a:xfrm>
          <a:prstGeom prst="rect">
            <a:avLst/>
          </a:prstGeom>
          <a:noFill/>
          <a:ln>
            <a:noFill/>
          </a:ln>
        </p:spPr>
      </p:pic>
      <p:sp>
        <p:nvSpPr>
          <p:cNvPr id="1126" name="Google Shape;1126;p20"/>
          <p:cNvSpPr/>
          <p:nvPr/>
        </p:nvSpPr>
        <p:spPr>
          <a:xfrm>
            <a:off x="9514332" y="3602736"/>
            <a:ext cx="2299716" cy="384048"/>
          </a:xfrm>
          <a:prstGeom prst="rect">
            <a:avLst/>
          </a:prstGeom>
          <a:noFill/>
          <a:ln>
            <a:noFill/>
          </a:ln>
        </p:spPr>
        <p:txBody>
          <a:bodyPr spcFirstLastPara="1" wrap="square" lIns="0" tIns="0" rIns="0" bIns="0" anchor="t" anchorCtr="0">
            <a:noAutofit/>
          </a:bodyPr>
          <a:lstStyle/>
          <a:p>
            <a:pPr marL="0" marR="0" lvl="0" indent="0" algn="l" rtl="0">
              <a:lnSpc>
                <a:spcPct val="105000"/>
              </a:lnSpc>
              <a:spcBef>
                <a:spcPts val="0"/>
              </a:spcBef>
              <a:spcAft>
                <a:spcPts val="0"/>
              </a:spcAft>
              <a:buClr>
                <a:srgbClr val="6B6280"/>
              </a:buClr>
              <a:buSzPts val="630"/>
              <a:buFont typeface="Arial"/>
              <a:buNone/>
            </a:pPr>
            <a:r>
              <a:rPr lang="en-US" sz="630" b="0" i="1" u="none" strike="noStrike" cap="none">
                <a:solidFill>
                  <a:srgbClr val="6B6280"/>
                </a:solidFill>
                <a:latin typeface="Arial"/>
                <a:ea typeface="Arial"/>
                <a:cs typeface="Arial"/>
                <a:sym typeface="Arial"/>
              </a:rPr>
              <a:t>Bar chart shown again here as a reference point: the tiering system this roadmap builds on is evenly balanced across all 706 districts (177/176/176/177 per tier).</a:t>
            </a:r>
            <a:endParaRPr sz="630" b="0" i="0" u="none" strike="noStrike" cap="none">
              <a:solidFill>
                <a:schemeClr val="dk1"/>
              </a:solidFill>
              <a:latin typeface="Calibri"/>
              <a:ea typeface="Calibri"/>
              <a:cs typeface="Calibri"/>
              <a:sym typeface="Calibri"/>
            </a:endParaRPr>
          </a:p>
        </p:txBody>
      </p:sp>
      <p:sp>
        <p:nvSpPr>
          <p:cNvPr id="1127" name="Google Shape;1127;p20"/>
          <p:cNvSpPr/>
          <p:nvPr/>
        </p:nvSpPr>
        <p:spPr>
          <a:xfrm>
            <a:off x="6812280" y="4187952"/>
            <a:ext cx="2446020" cy="2468880"/>
          </a:xfrm>
          <a:prstGeom prst="rect">
            <a:avLst/>
          </a:prstGeom>
          <a:solidFill>
            <a:srgbClr val="160A6E"/>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0"/>
          <p:cNvSpPr/>
          <p:nvPr/>
        </p:nvSpPr>
        <p:spPr>
          <a:xfrm>
            <a:off x="68854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Path to Full Scale</a:t>
            </a:r>
            <a:endParaRPr sz="800" b="0" i="0" u="none" strike="noStrike" cap="none">
              <a:solidFill>
                <a:schemeClr val="dk1"/>
              </a:solidFill>
              <a:latin typeface="Calibri"/>
              <a:ea typeface="Calibri"/>
              <a:cs typeface="Calibri"/>
              <a:sym typeface="Calibri"/>
            </a:endParaRPr>
          </a:p>
        </p:txBody>
      </p:sp>
      <p:sp>
        <p:nvSpPr>
          <p:cNvPr id="1129" name="Google Shape;1129;p20"/>
          <p:cNvSpPr/>
          <p:nvPr/>
        </p:nvSpPr>
        <p:spPr>
          <a:xfrm>
            <a:off x="69220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1130;p20"/>
          <p:cNvSpPr/>
          <p:nvPr/>
        </p:nvSpPr>
        <p:spPr>
          <a:xfrm>
            <a:off x="69585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706-district</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verified pilot</a:t>
            </a:r>
            <a:endParaRPr sz="760" b="0" i="0" u="none" strike="noStrike" cap="none">
              <a:solidFill>
                <a:schemeClr val="dk1"/>
              </a:solidFill>
              <a:latin typeface="Calibri"/>
              <a:ea typeface="Calibri"/>
              <a:cs typeface="Calibri"/>
              <a:sym typeface="Calibri"/>
            </a:endParaRPr>
          </a:p>
        </p:txBody>
      </p:sp>
      <p:sp>
        <p:nvSpPr>
          <p:cNvPr id="1131" name="Google Shape;1131;p20"/>
          <p:cNvSpPr/>
          <p:nvPr/>
        </p:nvSpPr>
        <p:spPr>
          <a:xfrm>
            <a:off x="79621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0"/>
          <p:cNvSpPr/>
          <p:nvPr/>
        </p:nvSpPr>
        <p:spPr>
          <a:xfrm>
            <a:off x="6922008" y="5042916"/>
            <a:ext cx="2226564" cy="466344"/>
          </a:xfrm>
          <a:prstGeom prst="roundRect">
            <a:avLst>
              <a:gd name="adj" fmla="val 9804"/>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20"/>
          <p:cNvSpPr/>
          <p:nvPr/>
        </p:nvSpPr>
        <p:spPr>
          <a:xfrm>
            <a:off x="69585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Source remaining</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real data gaps</a:t>
            </a:r>
            <a:endParaRPr sz="760" b="0" i="0" u="none" strike="noStrike" cap="none">
              <a:solidFill>
                <a:schemeClr val="dk1"/>
              </a:solidFill>
              <a:latin typeface="Calibri"/>
              <a:ea typeface="Calibri"/>
              <a:cs typeface="Calibri"/>
              <a:sym typeface="Calibri"/>
            </a:endParaRPr>
          </a:p>
        </p:txBody>
      </p:sp>
      <p:sp>
        <p:nvSpPr>
          <p:cNvPr id="1134" name="Google Shape;1134;p20"/>
          <p:cNvSpPr/>
          <p:nvPr/>
        </p:nvSpPr>
        <p:spPr>
          <a:xfrm>
            <a:off x="79621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20"/>
          <p:cNvSpPr/>
          <p:nvPr/>
        </p:nvSpPr>
        <p:spPr>
          <a:xfrm>
            <a:off x="69220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20"/>
          <p:cNvSpPr/>
          <p:nvPr/>
        </p:nvSpPr>
        <p:spPr>
          <a:xfrm>
            <a:off x="69585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Full 700+</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district run</a:t>
            </a:r>
            <a:endParaRPr sz="760" b="0" i="0" u="none" strike="noStrike" cap="none">
              <a:solidFill>
                <a:schemeClr val="dk1"/>
              </a:solidFill>
              <a:latin typeface="Calibri"/>
              <a:ea typeface="Calibri"/>
              <a:cs typeface="Calibri"/>
              <a:sym typeface="Calibri"/>
            </a:endParaRPr>
          </a:p>
        </p:txBody>
      </p:sp>
      <p:sp>
        <p:nvSpPr>
          <p:cNvPr id="1137" name="Google Shape;1137;p20"/>
          <p:cNvSpPr/>
          <p:nvPr/>
        </p:nvSpPr>
        <p:spPr>
          <a:xfrm>
            <a:off x="79621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1138;p20"/>
          <p:cNvSpPr/>
          <p:nvPr/>
        </p:nvSpPr>
        <p:spPr>
          <a:xfrm>
            <a:off x="6922008" y="6094476"/>
            <a:ext cx="2226564" cy="466344"/>
          </a:xfrm>
          <a:prstGeom prst="roundRect">
            <a:avLst>
              <a:gd name="adj" fmla="val 9804"/>
            </a:avLst>
          </a:prstGeom>
          <a:solidFill>
            <a:srgbClr val="3852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20"/>
          <p:cNvSpPr/>
          <p:nvPr/>
        </p:nvSpPr>
        <p:spPr>
          <a:xfrm>
            <a:off x="69585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Quarterly</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index refresh</a:t>
            </a:r>
            <a:endParaRPr sz="760" b="0" i="0" u="none" strike="noStrike" cap="none">
              <a:solidFill>
                <a:schemeClr val="dk1"/>
              </a:solidFill>
              <a:latin typeface="Calibri"/>
              <a:ea typeface="Calibri"/>
              <a:cs typeface="Calibri"/>
              <a:sym typeface="Calibri"/>
            </a:endParaRPr>
          </a:p>
        </p:txBody>
      </p:sp>
      <p:sp>
        <p:nvSpPr>
          <p:cNvPr id="1140" name="Google Shape;1140;p20"/>
          <p:cNvSpPr/>
          <p:nvPr/>
        </p:nvSpPr>
        <p:spPr>
          <a:xfrm>
            <a:off x="9441180" y="4187952"/>
            <a:ext cx="2446020" cy="2468880"/>
          </a:xfrm>
          <a:prstGeom prst="rect">
            <a:avLst/>
          </a:prstGeom>
          <a:solidFill>
            <a:srgbClr val="38521F"/>
          </a:solidFill>
          <a:ln>
            <a:noFill/>
          </a:ln>
          <a:effectLst>
            <a:outerShdw blurRad="63500" dist="15240" dir="5400000" algn="bl" rotWithShape="0">
              <a:srgbClr val="000000">
                <a:alpha val="10196"/>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20"/>
          <p:cNvSpPr/>
          <p:nvPr/>
        </p:nvSpPr>
        <p:spPr>
          <a:xfrm>
            <a:off x="9514332" y="4224528"/>
            <a:ext cx="2299716" cy="29260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0DC3C"/>
              </a:buClr>
              <a:buSzPts val="800"/>
              <a:buFont typeface="Arial"/>
              <a:buNone/>
            </a:pPr>
            <a:r>
              <a:rPr lang="en-US" sz="800" b="1" i="0" u="none" strike="noStrike" cap="none">
                <a:solidFill>
                  <a:srgbClr val="F0DC3C"/>
                </a:solidFill>
                <a:latin typeface="Arial"/>
                <a:ea typeface="Arial"/>
                <a:cs typeface="Arial"/>
                <a:sym typeface="Arial"/>
              </a:rPr>
              <a:t>What We'd Add Next</a:t>
            </a:r>
            <a:endParaRPr sz="800" b="0" i="0" u="none" strike="noStrike" cap="none">
              <a:solidFill>
                <a:schemeClr val="dk1"/>
              </a:solidFill>
              <a:latin typeface="Calibri"/>
              <a:ea typeface="Calibri"/>
              <a:cs typeface="Calibri"/>
              <a:sym typeface="Calibri"/>
            </a:endParaRPr>
          </a:p>
        </p:txBody>
      </p:sp>
      <p:sp>
        <p:nvSpPr>
          <p:cNvPr id="1142" name="Google Shape;1142;p20"/>
          <p:cNvSpPr/>
          <p:nvPr/>
        </p:nvSpPr>
        <p:spPr>
          <a:xfrm>
            <a:off x="9550908" y="451713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1143;p20"/>
          <p:cNvSpPr/>
          <p:nvPr/>
        </p:nvSpPr>
        <p:spPr>
          <a:xfrm>
            <a:off x="9587484" y="451713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Rural Health</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Statistics (doctors)</a:t>
            </a:r>
            <a:endParaRPr sz="760" b="0" i="0" u="none" strike="noStrike" cap="none">
              <a:solidFill>
                <a:schemeClr val="dk1"/>
              </a:solidFill>
              <a:latin typeface="Calibri"/>
              <a:ea typeface="Calibri"/>
              <a:cs typeface="Calibri"/>
              <a:sym typeface="Calibri"/>
            </a:endParaRPr>
          </a:p>
        </p:txBody>
      </p:sp>
      <p:sp>
        <p:nvSpPr>
          <p:cNvPr id="1144" name="Google Shape;1144;p20"/>
          <p:cNvSpPr/>
          <p:nvPr/>
        </p:nvSpPr>
        <p:spPr>
          <a:xfrm>
            <a:off x="10591038" y="498805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20"/>
          <p:cNvSpPr/>
          <p:nvPr/>
        </p:nvSpPr>
        <p:spPr>
          <a:xfrm>
            <a:off x="9550908" y="5042916"/>
            <a:ext cx="2226564" cy="466344"/>
          </a:xfrm>
          <a:prstGeom prst="roundRect">
            <a:avLst>
              <a:gd name="adj" fmla="val 9804"/>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0"/>
          <p:cNvSpPr/>
          <p:nvPr/>
        </p:nvSpPr>
        <p:spPr>
          <a:xfrm>
            <a:off x="9587484" y="504291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Full NNMS survey</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(geo-tagged)</a:t>
            </a:r>
            <a:endParaRPr sz="760" b="0" i="0" u="none" strike="noStrike" cap="none">
              <a:solidFill>
                <a:schemeClr val="dk1"/>
              </a:solidFill>
              <a:latin typeface="Calibri"/>
              <a:ea typeface="Calibri"/>
              <a:cs typeface="Calibri"/>
              <a:sym typeface="Calibri"/>
            </a:endParaRPr>
          </a:p>
        </p:txBody>
      </p:sp>
      <p:sp>
        <p:nvSpPr>
          <p:cNvPr id="1147" name="Google Shape;1147;p20"/>
          <p:cNvSpPr/>
          <p:nvPr/>
        </p:nvSpPr>
        <p:spPr>
          <a:xfrm>
            <a:off x="10591038" y="551383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0"/>
          <p:cNvSpPr/>
          <p:nvPr/>
        </p:nvSpPr>
        <p:spPr>
          <a:xfrm>
            <a:off x="9550908" y="5568696"/>
            <a:ext cx="2226564" cy="466344"/>
          </a:xfrm>
          <a:prstGeom prst="roundRect">
            <a:avLst>
              <a:gd name="adj" fmla="val 9804"/>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1149;p20"/>
          <p:cNvSpPr/>
          <p:nvPr/>
        </p:nvSpPr>
        <p:spPr>
          <a:xfrm>
            <a:off x="9587484" y="556869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PMJAY claims</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data (district)</a:t>
            </a:r>
            <a:endParaRPr sz="760" b="0" i="0" u="none" strike="noStrike" cap="none">
              <a:solidFill>
                <a:schemeClr val="dk1"/>
              </a:solidFill>
              <a:latin typeface="Calibri"/>
              <a:ea typeface="Calibri"/>
              <a:cs typeface="Calibri"/>
              <a:sym typeface="Calibri"/>
            </a:endParaRPr>
          </a:p>
        </p:txBody>
      </p:sp>
      <p:sp>
        <p:nvSpPr>
          <p:cNvPr id="1150" name="Google Shape;1150;p20"/>
          <p:cNvSpPr/>
          <p:nvPr/>
        </p:nvSpPr>
        <p:spPr>
          <a:xfrm>
            <a:off x="10591038" y="6039612"/>
            <a:ext cx="146304" cy="128016"/>
          </a:xfrm>
          <a:prstGeom prst="downArrow">
            <a:avLst>
              <a:gd name="adj1" fmla="val 50000"/>
              <a:gd name="adj2" fmla="val 50000"/>
            </a:avLst>
          </a:prstGeom>
          <a:solidFill>
            <a:srgbClr val="C9BE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0"/>
          <p:cNvSpPr/>
          <p:nvPr/>
        </p:nvSpPr>
        <p:spPr>
          <a:xfrm>
            <a:off x="9550908" y="6094476"/>
            <a:ext cx="2226564" cy="466344"/>
          </a:xfrm>
          <a:prstGeom prst="roundRect">
            <a:avLst>
              <a:gd name="adj" fmla="val 9804"/>
            </a:avLst>
          </a:prstGeom>
          <a:solidFill>
            <a:srgbClr val="5F32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0"/>
          <p:cNvSpPr/>
          <p:nvPr/>
        </p:nvSpPr>
        <p:spPr>
          <a:xfrm>
            <a:off x="9587484" y="6094476"/>
            <a:ext cx="2153412" cy="46634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Competitor therapy-</a:t>
            </a:r>
            <a:endParaRPr sz="76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FFFFFF"/>
              </a:buClr>
              <a:buSzPts val="760"/>
              <a:buFont typeface="Arial"/>
              <a:buNone/>
            </a:pPr>
            <a:r>
              <a:rPr lang="en-US" sz="760" b="1" i="0" u="none" strike="noStrike" cap="none">
                <a:solidFill>
                  <a:srgbClr val="FFFFFF"/>
                </a:solidFill>
                <a:latin typeface="Arial"/>
                <a:ea typeface="Arial"/>
                <a:cs typeface="Arial"/>
                <a:sym typeface="Arial"/>
              </a:rPr>
              <a:t>area presence</a:t>
            </a:r>
            <a:endParaRPr sz="760" b="0" i="0" u="none" strike="noStrike" cap="none">
              <a:solidFill>
                <a:schemeClr val="dk1"/>
              </a:solidFill>
              <a:latin typeface="Calibri"/>
              <a:ea typeface="Calibri"/>
              <a:cs typeface="Calibri"/>
              <a:sym typeface="Calibri"/>
            </a:endParaRPr>
          </a:p>
        </p:txBody>
      </p:sp>
      <p:sp>
        <p:nvSpPr>
          <p:cNvPr id="1153" name="Google Shape;1153;p20"/>
          <p:cNvSpPr/>
          <p:nvPr/>
        </p:nvSpPr>
        <p:spPr>
          <a:xfrm>
            <a:off x="-274320" y="6656832"/>
            <a:ext cx="2895600" cy="20116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0"/>
          <p:cNvSpPr/>
          <p:nvPr/>
        </p:nvSpPr>
        <p:spPr>
          <a:xfrm>
            <a:off x="2186940" y="6611112"/>
            <a:ext cx="2895600" cy="246888"/>
          </a:xfrm>
          <a:prstGeom prst="triangle">
            <a:avLst>
              <a:gd name="adj" fmla="val 50000"/>
            </a:avLst>
          </a:prstGeom>
          <a:solidFill>
            <a:srgbClr val="5F32F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0"/>
          <p:cNvSpPr/>
          <p:nvPr/>
        </p:nvSpPr>
        <p:spPr>
          <a:xfrm>
            <a:off x="4648200" y="6565392"/>
            <a:ext cx="2895600" cy="292608"/>
          </a:xfrm>
          <a:prstGeom prst="triangle">
            <a:avLst>
              <a:gd name="adj" fmla="val 50000"/>
            </a:avLst>
          </a:prstGeom>
          <a:solidFill>
            <a:srgbClr val="8AAE6E">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20"/>
          <p:cNvSpPr/>
          <p:nvPr/>
        </p:nvSpPr>
        <p:spPr>
          <a:xfrm>
            <a:off x="7109460" y="6656832"/>
            <a:ext cx="2895600" cy="201168"/>
          </a:xfrm>
          <a:prstGeom prst="triangle">
            <a:avLst>
              <a:gd name="adj" fmla="val 50000"/>
            </a:avLst>
          </a:prstGeom>
          <a:solidFill>
            <a:srgbClr val="4B6E32">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1157;p20"/>
          <p:cNvSpPr/>
          <p:nvPr/>
        </p:nvSpPr>
        <p:spPr>
          <a:xfrm>
            <a:off x="9570720" y="6611112"/>
            <a:ext cx="2895600" cy="246888"/>
          </a:xfrm>
          <a:prstGeom prst="triangle">
            <a:avLst>
              <a:gd name="adj" fmla="val 50000"/>
            </a:avLst>
          </a:prstGeom>
          <a:solidFill>
            <a:srgbClr val="D8C9F7">
              <a:alpha val="85098"/>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1158;p20"/>
          <p:cNvSpPr/>
          <p:nvPr/>
        </p:nvSpPr>
        <p:spPr>
          <a:xfrm>
            <a:off x="0" y="6729984"/>
            <a:ext cx="12161520" cy="128016"/>
          </a:xfrm>
          <a:prstGeom prst="rect">
            <a:avLst/>
          </a:prstGeom>
          <a:solidFill>
            <a:srgbClr val="160A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1159;p20"/>
          <p:cNvSpPr/>
          <p:nvPr/>
        </p:nvSpPr>
        <p:spPr>
          <a:xfrm>
            <a:off x="274320" y="6729984"/>
            <a:ext cx="7315200" cy="12801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TRILYTICS 2026  ·  IIM UDAIPUR  ·  SUN PHARMA CASE CHALLENGE</a:t>
            </a:r>
            <a:endParaRPr sz="600" b="0" i="0" u="none" strike="noStrike" cap="none">
              <a:solidFill>
                <a:schemeClr val="dk1"/>
              </a:solidFill>
              <a:latin typeface="Calibri"/>
              <a:ea typeface="Calibri"/>
              <a:cs typeface="Calibri"/>
              <a:sym typeface="Calibri"/>
            </a:endParaRPr>
          </a:p>
        </p:txBody>
      </p:sp>
      <p:sp>
        <p:nvSpPr>
          <p:cNvPr id="1160" name="Google Shape;1160;p20"/>
          <p:cNvSpPr/>
          <p:nvPr/>
        </p:nvSpPr>
        <p:spPr>
          <a:xfrm>
            <a:off x="11612880" y="6729984"/>
            <a:ext cx="365760" cy="128016"/>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FFFFFF"/>
              </a:buClr>
              <a:buSzPts val="600"/>
              <a:buFont typeface="Arial"/>
              <a:buNone/>
            </a:pPr>
            <a:r>
              <a:rPr lang="en-US" sz="600" b="1" i="0" u="none" strike="noStrike" cap="none">
                <a:solidFill>
                  <a:srgbClr val="FFFFFF"/>
                </a:solidFill>
                <a:latin typeface="Arial"/>
                <a:ea typeface="Arial"/>
                <a:cs typeface="Arial"/>
                <a:sym typeface="Arial"/>
              </a:rPr>
              <a:t>20</a:t>
            </a:r>
            <a:endParaRPr sz="600" b="0" i="0" u="none" strike="noStrike" cap="non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61520" cy="1051560"/>
          </a:xfrm>
          <a:prstGeom prst="rect">
            <a:avLst/>
          </a:prstGeom>
          <a:solidFill>
            <a:srgbClr val="F4EEFB"/>
          </a:solidFill>
          <a:ln/>
        </p:spPr>
        <p:txBody>
          <a:bodyPr/>
          <a:lstStyle/>
          <a:p>
            <a:endParaRPr lang="en-IN"/>
          </a:p>
        </p:txBody>
      </p:sp>
      <p:pic>
        <p:nvPicPr>
          <p:cNvPr id="3" name="Image 0" descr="logo/trilytics_logo_clean.png"/>
          <p:cNvPicPr>
            <a:picLocks noChangeAspect="1"/>
          </p:cNvPicPr>
          <p:nvPr/>
        </p:nvPicPr>
        <p:blipFill>
          <a:blip r:embed="rId3"/>
          <a:stretch>
            <a:fillRect/>
          </a:stretch>
        </p:blipFill>
        <p:spPr>
          <a:xfrm>
            <a:off x="274320" y="128016"/>
            <a:ext cx="1417938" cy="777240"/>
          </a:xfrm>
          <a:prstGeom prst="rect">
            <a:avLst/>
          </a:prstGeom>
        </p:spPr>
      </p:pic>
      <p:pic>
        <p:nvPicPr>
          <p:cNvPr id="4" name="Image 1" descr="logo/iimu_logo_clean.png"/>
          <p:cNvPicPr>
            <a:picLocks noChangeAspect="1"/>
          </p:cNvPicPr>
          <p:nvPr/>
        </p:nvPicPr>
        <p:blipFill>
          <a:blip r:embed="rId4"/>
          <a:stretch>
            <a:fillRect/>
          </a:stretch>
        </p:blipFill>
        <p:spPr>
          <a:xfrm>
            <a:off x="11064240" y="109728"/>
            <a:ext cx="822960" cy="822960"/>
          </a:xfrm>
          <a:prstGeom prst="rect">
            <a:avLst/>
          </a:prstGeom>
        </p:spPr>
      </p:pic>
      <p:sp>
        <p:nvSpPr>
          <p:cNvPr id="5" name="Text 1"/>
          <p:cNvSpPr/>
          <p:nvPr/>
        </p:nvSpPr>
        <p:spPr>
          <a:xfrm>
            <a:off x="274320" y="914400"/>
            <a:ext cx="2332338" cy="128016"/>
          </a:xfrm>
          <a:prstGeom prst="rect">
            <a:avLst/>
          </a:prstGeom>
          <a:noFill/>
          <a:ln/>
        </p:spPr>
        <p:txBody>
          <a:bodyPr wrap="square" lIns="0" tIns="0" rIns="0" bIns="0" rtlCol="0" anchor="ctr"/>
          <a:lstStyle/>
          <a:p>
            <a:pPr marL="0" indent="0">
              <a:buNone/>
            </a:pPr>
            <a:r>
              <a:rPr lang="en-US" sz="650" b="1" kern="0" spc="80" dirty="0">
                <a:solidFill>
                  <a:srgbClr val="B4143C"/>
                </a:solidFill>
                <a:latin typeface="Arial" pitchFamily="34" charset="0"/>
                <a:ea typeface="Arial" pitchFamily="34" charset="-122"/>
                <a:cs typeface="Arial" pitchFamily="34" charset="-120"/>
              </a:rPr>
              <a:t>SUPPLEMENTARY MATERIAL</a:t>
            </a:r>
            <a:endParaRPr lang="en-US" sz="650" dirty="0"/>
          </a:p>
        </p:txBody>
      </p:sp>
      <p:sp>
        <p:nvSpPr>
          <p:cNvPr id="6" name="Shape 2"/>
          <p:cNvSpPr/>
          <p:nvPr/>
        </p:nvSpPr>
        <p:spPr>
          <a:xfrm>
            <a:off x="0" y="1051560"/>
            <a:ext cx="6080760" cy="0"/>
          </a:xfrm>
          <a:prstGeom prst="line">
            <a:avLst/>
          </a:prstGeom>
          <a:noFill/>
          <a:ln w="25400">
            <a:solidFill>
              <a:srgbClr val="5F32F2"/>
            </a:solidFill>
            <a:prstDash val="solid"/>
          </a:ln>
        </p:spPr>
        <p:txBody>
          <a:bodyPr/>
          <a:lstStyle/>
          <a:p>
            <a:endParaRPr lang="en-IN"/>
          </a:p>
        </p:txBody>
      </p:sp>
      <p:sp>
        <p:nvSpPr>
          <p:cNvPr id="7" name="Shape 3"/>
          <p:cNvSpPr/>
          <p:nvPr/>
        </p:nvSpPr>
        <p:spPr>
          <a:xfrm>
            <a:off x="6080760" y="1051560"/>
            <a:ext cx="6080760" cy="0"/>
          </a:xfrm>
          <a:prstGeom prst="line">
            <a:avLst/>
          </a:prstGeom>
          <a:noFill/>
          <a:ln w="25400">
            <a:solidFill>
              <a:srgbClr val="4B6E32"/>
            </a:solidFill>
            <a:prstDash val="solid"/>
          </a:ln>
        </p:spPr>
        <p:txBody>
          <a:bodyPr/>
          <a:lstStyle/>
          <a:p>
            <a:endParaRPr lang="en-IN"/>
          </a:p>
        </p:txBody>
      </p:sp>
      <p:sp>
        <p:nvSpPr>
          <p:cNvPr id="8" name="Text 4"/>
          <p:cNvSpPr/>
          <p:nvPr/>
        </p:nvSpPr>
        <p:spPr>
          <a:xfrm>
            <a:off x="320040" y="1097280"/>
            <a:ext cx="11521440" cy="384048"/>
          </a:xfrm>
          <a:prstGeom prst="rect">
            <a:avLst/>
          </a:prstGeom>
          <a:noFill/>
          <a:ln/>
        </p:spPr>
        <p:txBody>
          <a:bodyPr wrap="square" lIns="0" tIns="0" rIns="0" bIns="0" rtlCol="0" anchor="ctr"/>
          <a:lstStyle/>
          <a:p>
            <a:pPr marL="0" indent="0">
              <a:buNone/>
            </a:pPr>
            <a:r>
              <a:rPr lang="en-US" sz="2200" b="1" dirty="0">
                <a:solidFill>
                  <a:srgbClr val="160A6E"/>
                </a:solidFill>
                <a:latin typeface="Arial" pitchFamily="34" charset="0"/>
                <a:ea typeface="Arial" pitchFamily="34" charset="-122"/>
                <a:cs typeface="Arial" pitchFamily="34" charset="-120"/>
              </a:rPr>
              <a:t>Bonus: Interactive District-Level Dashboard</a:t>
            </a:r>
            <a:endParaRPr lang="en-US" sz="2200" dirty="0"/>
          </a:p>
        </p:txBody>
      </p:sp>
      <p:sp>
        <p:nvSpPr>
          <p:cNvPr id="9" name="Text 5"/>
          <p:cNvSpPr/>
          <p:nvPr/>
        </p:nvSpPr>
        <p:spPr>
          <a:xfrm>
            <a:off x="320040" y="1481328"/>
            <a:ext cx="11521440" cy="256032"/>
          </a:xfrm>
          <a:prstGeom prst="rect">
            <a:avLst/>
          </a:prstGeom>
          <a:noFill/>
          <a:ln/>
        </p:spPr>
        <p:txBody>
          <a:bodyPr wrap="square" lIns="0" tIns="0" rIns="0" bIns="0" rtlCol="0" anchor="ctr"/>
          <a:lstStyle/>
          <a:p>
            <a:pPr marL="0" indent="0">
              <a:buNone/>
            </a:pPr>
            <a:r>
              <a:rPr lang="en-US" sz="1050" i="1" dirty="0">
                <a:solidFill>
                  <a:srgbClr val="6B6280"/>
                </a:solidFill>
                <a:latin typeface="Arial" pitchFamily="34" charset="0"/>
                <a:ea typeface="Arial" pitchFamily="34" charset="-122"/>
                <a:cs typeface="Arial" pitchFamily="34" charset="-120"/>
              </a:rPr>
              <a:t>Included as an additional supporting file alongside this presentation — a live, explorable companion to the static charts in this deck.</a:t>
            </a:r>
            <a:endParaRPr lang="en-US" sz="1050" dirty="0"/>
          </a:p>
        </p:txBody>
      </p:sp>
      <p:sp>
        <p:nvSpPr>
          <p:cNvPr id="10" name="Shape 6"/>
          <p:cNvSpPr/>
          <p:nvPr/>
        </p:nvSpPr>
        <p:spPr>
          <a:xfrm>
            <a:off x="274320" y="1773936"/>
            <a:ext cx="6309360" cy="4882896"/>
          </a:xfrm>
          <a:prstGeom prst="rect">
            <a:avLst/>
          </a:prstGeom>
          <a:solidFill>
            <a:srgbClr val="FBF8FE"/>
          </a:solidFill>
          <a:ln w="12700">
            <a:solidFill>
              <a:srgbClr val="D9D0EC"/>
            </a:solidFill>
            <a:prstDash val="solid"/>
          </a:ln>
          <a:effectLst>
            <a:outerShdw blurRad="63500" dist="15240" dir="5400000" algn="bl" rotWithShape="0">
              <a:srgbClr val="000000">
                <a:alpha val="10000"/>
              </a:srgbClr>
            </a:outerShdw>
          </a:effectLst>
        </p:spPr>
        <p:txBody>
          <a:bodyPr/>
          <a:lstStyle/>
          <a:p>
            <a:endParaRPr lang="en-IN"/>
          </a:p>
        </p:txBody>
      </p:sp>
      <p:sp>
        <p:nvSpPr>
          <p:cNvPr id="11" name="Text 7"/>
          <p:cNvSpPr/>
          <p:nvPr/>
        </p:nvSpPr>
        <p:spPr>
          <a:xfrm>
            <a:off x="457200" y="1883664"/>
            <a:ext cx="5943600" cy="201168"/>
          </a:xfrm>
          <a:prstGeom prst="rect">
            <a:avLst/>
          </a:prstGeom>
          <a:noFill/>
          <a:ln/>
        </p:spPr>
        <p:txBody>
          <a:bodyPr wrap="square" lIns="0" tIns="0" rIns="0" bIns="0" rtlCol="0" anchor="ctr"/>
          <a:lstStyle/>
          <a:p>
            <a:pPr marL="0" indent="0">
              <a:buNone/>
            </a:pPr>
            <a:r>
              <a:rPr lang="en-US" sz="1150" b="1" dirty="0">
                <a:solidFill>
                  <a:srgbClr val="5F32F2"/>
                </a:solidFill>
                <a:latin typeface="Arial" pitchFamily="34" charset="0"/>
                <a:ea typeface="Arial" pitchFamily="34" charset="-122"/>
                <a:cs typeface="Arial" pitchFamily="34" charset="-120"/>
              </a:rPr>
              <a:t>What This Is</a:t>
            </a:r>
            <a:endParaRPr lang="en-US" sz="1150" dirty="0"/>
          </a:p>
        </p:txBody>
      </p:sp>
      <p:sp>
        <p:nvSpPr>
          <p:cNvPr id="12" name="Text 8"/>
          <p:cNvSpPr/>
          <p:nvPr/>
        </p:nvSpPr>
        <p:spPr>
          <a:xfrm>
            <a:off x="457200" y="2103120"/>
            <a:ext cx="5943600" cy="1298448"/>
          </a:xfrm>
          <a:prstGeom prst="rect">
            <a:avLst/>
          </a:prstGeom>
          <a:noFill/>
          <a:ln/>
        </p:spPr>
        <p:txBody>
          <a:bodyPr wrap="square" lIns="0" tIns="0" rIns="0" bIns="0" rtlCol="0" anchor="ctr"/>
          <a:lstStyle/>
          <a:p>
            <a:pPr marL="0" indent="0" algn="just">
              <a:lnSpc>
                <a:spcPct val="116000"/>
              </a:lnSpc>
              <a:buNone/>
            </a:pPr>
            <a:r>
              <a:rPr lang="en-US" sz="920" dirty="0">
                <a:solidFill>
                  <a:srgbClr val="241B3D"/>
                </a:solidFill>
                <a:latin typeface="Arial" pitchFamily="34" charset="0"/>
                <a:ea typeface="Arial" pitchFamily="34" charset="-122"/>
                <a:cs typeface="Arial" pitchFamily="34" charset="-120"/>
              </a:rPr>
              <a:t>A single, self-contained HTML file (Trilytics_Interactive_Dashboard.html) built from the exact same verified, final scored dataset used throughout this presentation — all 706 districts, every pillar score, cluster, tier, and rank. It requires no installation, no internet connection, and no additional software: any evaluator can simply double-click the file and it opens directly in a web browser.</a:t>
            </a:r>
            <a:endParaRPr lang="en-US" sz="920" dirty="0"/>
          </a:p>
        </p:txBody>
      </p:sp>
      <p:sp>
        <p:nvSpPr>
          <p:cNvPr id="13" name="Text 9"/>
          <p:cNvSpPr/>
          <p:nvPr/>
        </p:nvSpPr>
        <p:spPr>
          <a:xfrm>
            <a:off x="457200" y="3438144"/>
            <a:ext cx="5943600" cy="201168"/>
          </a:xfrm>
          <a:prstGeom prst="rect">
            <a:avLst/>
          </a:prstGeom>
          <a:noFill/>
          <a:ln/>
        </p:spPr>
        <p:txBody>
          <a:bodyPr wrap="square" lIns="0" tIns="0" rIns="0" bIns="0" rtlCol="0" anchor="ctr"/>
          <a:lstStyle/>
          <a:p>
            <a:pPr marL="0" indent="0">
              <a:buNone/>
            </a:pPr>
            <a:r>
              <a:rPr lang="en-US" sz="1150" b="1" dirty="0">
                <a:solidFill>
                  <a:srgbClr val="5F32F2"/>
                </a:solidFill>
                <a:latin typeface="Arial" pitchFamily="34" charset="0"/>
                <a:ea typeface="Arial" pitchFamily="34" charset="-122"/>
                <a:cs typeface="Arial" pitchFamily="34" charset="-120"/>
              </a:rPr>
              <a:t>What It Lets You Do</a:t>
            </a:r>
            <a:endParaRPr lang="en-US" sz="1150" dirty="0"/>
          </a:p>
        </p:txBody>
      </p:sp>
      <p:sp>
        <p:nvSpPr>
          <p:cNvPr id="14" name="Text 10"/>
          <p:cNvSpPr/>
          <p:nvPr/>
        </p:nvSpPr>
        <p:spPr>
          <a:xfrm>
            <a:off x="457200" y="3657600"/>
            <a:ext cx="5943600" cy="1298448"/>
          </a:xfrm>
          <a:prstGeom prst="rect">
            <a:avLst/>
          </a:prstGeom>
          <a:noFill/>
          <a:ln/>
        </p:spPr>
        <p:txBody>
          <a:bodyPr wrap="square" lIns="0" tIns="0" rIns="0" bIns="0" rtlCol="0" anchor="ctr"/>
          <a:lstStyle/>
          <a:p>
            <a:pPr marL="0" indent="0" algn="just">
              <a:lnSpc>
                <a:spcPct val="116000"/>
              </a:lnSpc>
              <a:buNone/>
            </a:pPr>
            <a:r>
              <a:rPr lang="en-US" sz="920" dirty="0">
                <a:solidFill>
                  <a:srgbClr val="241B3D"/>
                </a:solidFill>
                <a:latin typeface="Arial" pitchFamily="34" charset="0"/>
                <a:ea typeface="Arial" pitchFamily="34" charset="-122"/>
                <a:cs typeface="Arial" pitchFamily="34" charset="-120"/>
              </a:rPr>
              <a:t>Filter all 706 districts live by State, Archetype, or Tier, or search by district name. Sort the full results table by any column with a single click. Explore an interactive Top-20 ranking chart and a Chronic-vs-Acute scatter plot, both of which redraw instantly based on your filters. Click on any district, in the table or directly on the scatter plot, to open a full pillar-by-pillar breakdown: Chronic, Acute, Overlap, and Momentum scores, current and 3-year future rank, and sales-force rep allocation.</a:t>
            </a:r>
            <a:endParaRPr lang="en-US" sz="920" dirty="0"/>
          </a:p>
        </p:txBody>
      </p:sp>
      <p:sp>
        <p:nvSpPr>
          <p:cNvPr id="15" name="Text 11"/>
          <p:cNvSpPr/>
          <p:nvPr/>
        </p:nvSpPr>
        <p:spPr>
          <a:xfrm>
            <a:off x="457200" y="4992624"/>
            <a:ext cx="5943600" cy="201168"/>
          </a:xfrm>
          <a:prstGeom prst="rect">
            <a:avLst/>
          </a:prstGeom>
          <a:noFill/>
          <a:ln/>
        </p:spPr>
        <p:txBody>
          <a:bodyPr wrap="square" lIns="0" tIns="0" rIns="0" bIns="0" rtlCol="0" anchor="ctr"/>
          <a:lstStyle/>
          <a:p>
            <a:pPr marL="0" indent="0">
              <a:buNone/>
            </a:pPr>
            <a:r>
              <a:rPr lang="en-US" sz="1150" b="1" dirty="0">
                <a:solidFill>
                  <a:srgbClr val="5F32F2"/>
                </a:solidFill>
                <a:latin typeface="Arial" pitchFamily="34" charset="0"/>
                <a:ea typeface="Arial" pitchFamily="34" charset="-122"/>
                <a:cs typeface="Arial" pitchFamily="34" charset="-120"/>
              </a:rPr>
              <a:t>Why We Built This</a:t>
            </a:r>
            <a:endParaRPr lang="en-US" sz="1150" dirty="0"/>
          </a:p>
        </p:txBody>
      </p:sp>
      <p:sp>
        <p:nvSpPr>
          <p:cNvPr id="16" name="Text 12"/>
          <p:cNvSpPr/>
          <p:nvPr/>
        </p:nvSpPr>
        <p:spPr>
          <a:xfrm>
            <a:off x="457200" y="5212080"/>
            <a:ext cx="5943600" cy="1298448"/>
          </a:xfrm>
          <a:prstGeom prst="rect">
            <a:avLst/>
          </a:prstGeom>
          <a:noFill/>
          <a:ln/>
        </p:spPr>
        <p:txBody>
          <a:bodyPr wrap="square" lIns="0" tIns="0" rIns="0" bIns="0" rtlCol="0" anchor="ctr"/>
          <a:lstStyle/>
          <a:p>
            <a:pPr marL="0" indent="0" algn="just">
              <a:lnSpc>
                <a:spcPct val="116000"/>
              </a:lnSpc>
              <a:buNone/>
            </a:pPr>
            <a:r>
              <a:rPr lang="en-US" sz="920" dirty="0">
                <a:solidFill>
                  <a:srgbClr val="241B3D"/>
                </a:solidFill>
                <a:latin typeface="Arial" pitchFamily="34" charset="0"/>
                <a:ea typeface="Arial" pitchFamily="34" charset="-122"/>
                <a:cs typeface="Arial" pitchFamily="34" charset="-120"/>
              </a:rPr>
              <a:t>A static deck can only show a handful of pre-selected views of a 706-district model. This dashboard lets an evaluator ask their own questions of the real data directly — for example, filtering to just their own state, or comparing two specific districts side by side — without needing to open a spreadsheet or run any code themselves.</a:t>
            </a:r>
            <a:endParaRPr lang="en-US" sz="920" dirty="0"/>
          </a:p>
        </p:txBody>
      </p:sp>
      <p:sp>
        <p:nvSpPr>
          <p:cNvPr id="17" name="Shape 13"/>
          <p:cNvSpPr/>
          <p:nvPr/>
        </p:nvSpPr>
        <p:spPr>
          <a:xfrm>
            <a:off x="6812280" y="1773936"/>
            <a:ext cx="2446020" cy="2350008"/>
          </a:xfrm>
          <a:prstGeom prst="rect">
            <a:avLst/>
          </a:prstGeom>
          <a:solidFill>
            <a:srgbClr val="FFFFFF"/>
          </a:solidFill>
          <a:ln w="12700">
            <a:solidFill>
              <a:srgbClr val="D9D0EC"/>
            </a:solidFill>
            <a:prstDash val="solid"/>
          </a:ln>
          <a:effectLst>
            <a:outerShdw blurRad="63500" dist="15240" dir="5400000" algn="bl" rotWithShape="0">
              <a:srgbClr val="000000">
                <a:alpha val="10000"/>
              </a:srgbClr>
            </a:outerShdw>
          </a:effectLst>
        </p:spPr>
        <p:txBody>
          <a:bodyPr/>
          <a:lstStyle/>
          <a:p>
            <a:endParaRPr lang="en-IN"/>
          </a:p>
        </p:txBody>
      </p:sp>
      <p:sp>
        <p:nvSpPr>
          <p:cNvPr id="18" name="Text 14"/>
          <p:cNvSpPr/>
          <p:nvPr/>
        </p:nvSpPr>
        <p:spPr>
          <a:xfrm>
            <a:off x="6885432" y="1810512"/>
            <a:ext cx="2299716" cy="164592"/>
          </a:xfrm>
          <a:prstGeom prst="rect">
            <a:avLst/>
          </a:prstGeom>
          <a:noFill/>
          <a:ln/>
        </p:spPr>
        <p:txBody>
          <a:bodyPr wrap="square" lIns="0" tIns="0" rIns="0" bIns="0" rtlCol="0" anchor="ctr"/>
          <a:lstStyle/>
          <a:p>
            <a:pPr marL="0" indent="0">
              <a:buNone/>
            </a:pPr>
            <a:r>
              <a:rPr lang="en-US" sz="800" b="1" dirty="0">
                <a:solidFill>
                  <a:srgbClr val="160A6E"/>
                </a:solidFill>
                <a:latin typeface="Arial" pitchFamily="34" charset="0"/>
                <a:ea typeface="Arial" pitchFamily="34" charset="-122"/>
                <a:cs typeface="Arial" pitchFamily="34" charset="-120"/>
              </a:rPr>
              <a:t>Dashboard Features</a:t>
            </a:r>
            <a:endParaRPr lang="en-US" sz="800" dirty="0"/>
          </a:p>
        </p:txBody>
      </p:sp>
      <p:sp>
        <p:nvSpPr>
          <p:cNvPr id="19" name="Shape 15"/>
          <p:cNvSpPr/>
          <p:nvPr/>
        </p:nvSpPr>
        <p:spPr>
          <a:xfrm>
            <a:off x="6903720" y="2029968"/>
            <a:ext cx="1113282" cy="1010412"/>
          </a:xfrm>
          <a:prstGeom prst="rect">
            <a:avLst/>
          </a:prstGeom>
          <a:solidFill>
            <a:srgbClr val="160A6E"/>
          </a:solidFill>
          <a:ln/>
        </p:spPr>
        <p:txBody>
          <a:bodyPr/>
          <a:lstStyle/>
          <a:p>
            <a:endParaRPr lang="en-IN"/>
          </a:p>
        </p:txBody>
      </p:sp>
      <p:sp>
        <p:nvSpPr>
          <p:cNvPr id="20" name="Text 16"/>
          <p:cNvSpPr/>
          <p:nvPr/>
        </p:nvSpPr>
        <p:spPr>
          <a:xfrm>
            <a:off x="6949440" y="2048256"/>
            <a:ext cx="1021842" cy="973836"/>
          </a:xfrm>
          <a:prstGeom prst="rect">
            <a:avLst/>
          </a:prstGeom>
          <a:noFill/>
          <a:ln/>
        </p:spPr>
        <p:txBody>
          <a:bodyPr wrap="square" lIns="0" tIns="0" rIns="0" bIns="0" rtlCol="0" anchor="t"/>
          <a:lstStyle/>
          <a:p>
            <a:pPr marL="0" indent="0">
              <a:lnSpc>
                <a:spcPct val="105000"/>
              </a:lnSpc>
              <a:buNone/>
            </a:pPr>
            <a:r>
              <a:rPr lang="en-US" sz="630" dirty="0">
                <a:solidFill>
                  <a:srgbClr val="FFFFFF"/>
                </a:solidFill>
                <a:latin typeface="Arial" pitchFamily="34" charset="0"/>
                <a:ea typeface="Arial" pitchFamily="34" charset="-122"/>
                <a:cs typeface="Arial" pitchFamily="34" charset="-120"/>
              </a:rPr>
              <a:t>LIVE FILTERS</a:t>
            </a:r>
            <a:endParaRPr lang="en-US" sz="630" dirty="0"/>
          </a:p>
          <a:p>
            <a:pPr marL="0" indent="0">
              <a:lnSpc>
                <a:spcPct val="105000"/>
              </a:lnSpc>
              <a:buNone/>
            </a:pPr>
            <a:r>
              <a:rPr lang="en-US" sz="630" dirty="0">
                <a:solidFill>
                  <a:srgbClr val="FFFFFF"/>
                </a:solidFill>
                <a:latin typeface="Arial" pitchFamily="34" charset="0"/>
                <a:ea typeface="Arial" pitchFamily="34" charset="-122"/>
                <a:cs typeface="Arial" pitchFamily="34" charset="-120"/>
              </a:rPr>
              <a:t>State, Archetype, Tier, district search</a:t>
            </a:r>
            <a:endParaRPr lang="en-US" sz="630" dirty="0"/>
          </a:p>
        </p:txBody>
      </p:sp>
      <p:sp>
        <p:nvSpPr>
          <p:cNvPr id="21" name="Shape 17"/>
          <p:cNvSpPr/>
          <p:nvPr/>
        </p:nvSpPr>
        <p:spPr>
          <a:xfrm>
            <a:off x="8053578" y="2029968"/>
            <a:ext cx="1113282" cy="1010412"/>
          </a:xfrm>
          <a:prstGeom prst="rect">
            <a:avLst/>
          </a:prstGeom>
          <a:solidFill>
            <a:srgbClr val="5F32F2"/>
          </a:solidFill>
          <a:ln/>
        </p:spPr>
        <p:txBody>
          <a:bodyPr/>
          <a:lstStyle/>
          <a:p>
            <a:endParaRPr lang="en-IN"/>
          </a:p>
        </p:txBody>
      </p:sp>
      <p:sp>
        <p:nvSpPr>
          <p:cNvPr id="22" name="Text 18"/>
          <p:cNvSpPr/>
          <p:nvPr/>
        </p:nvSpPr>
        <p:spPr>
          <a:xfrm>
            <a:off x="8099298" y="2048256"/>
            <a:ext cx="1021842" cy="973836"/>
          </a:xfrm>
          <a:prstGeom prst="rect">
            <a:avLst/>
          </a:prstGeom>
          <a:noFill/>
          <a:ln/>
        </p:spPr>
        <p:txBody>
          <a:bodyPr wrap="square" lIns="0" tIns="0" rIns="0" bIns="0" rtlCol="0" anchor="t"/>
          <a:lstStyle/>
          <a:p>
            <a:pPr marL="0" indent="0">
              <a:lnSpc>
                <a:spcPct val="105000"/>
              </a:lnSpc>
              <a:buNone/>
            </a:pPr>
            <a:r>
              <a:rPr lang="en-US" sz="630" dirty="0">
                <a:solidFill>
                  <a:srgbClr val="FFFFFF"/>
                </a:solidFill>
                <a:latin typeface="Arial" pitchFamily="34" charset="0"/>
                <a:ea typeface="Arial" pitchFamily="34" charset="-122"/>
                <a:cs typeface="Arial" pitchFamily="34" charset="-120"/>
              </a:rPr>
              <a:t>SORTABLE TABLE</a:t>
            </a:r>
            <a:endParaRPr lang="en-US" sz="630" dirty="0"/>
          </a:p>
          <a:p>
            <a:pPr marL="0" indent="0">
              <a:lnSpc>
                <a:spcPct val="105000"/>
              </a:lnSpc>
              <a:buNone/>
            </a:pPr>
            <a:r>
              <a:rPr lang="en-US" sz="630" dirty="0">
                <a:solidFill>
                  <a:srgbClr val="FFFFFF"/>
                </a:solidFill>
                <a:latin typeface="Arial" pitchFamily="34" charset="0"/>
                <a:ea typeface="Arial" pitchFamily="34" charset="-122"/>
                <a:cs typeface="Arial" pitchFamily="34" charset="-120"/>
              </a:rPr>
              <a:t>All 706 districts, every scored column</a:t>
            </a:r>
            <a:endParaRPr lang="en-US" sz="630" dirty="0"/>
          </a:p>
        </p:txBody>
      </p:sp>
      <p:sp>
        <p:nvSpPr>
          <p:cNvPr id="23" name="Shape 19"/>
          <p:cNvSpPr/>
          <p:nvPr/>
        </p:nvSpPr>
        <p:spPr>
          <a:xfrm>
            <a:off x="6903720" y="3076956"/>
            <a:ext cx="1113282" cy="1010412"/>
          </a:xfrm>
          <a:prstGeom prst="rect">
            <a:avLst/>
          </a:prstGeom>
          <a:solidFill>
            <a:srgbClr val="38521F"/>
          </a:solidFill>
          <a:ln/>
        </p:spPr>
        <p:txBody>
          <a:bodyPr/>
          <a:lstStyle/>
          <a:p>
            <a:endParaRPr lang="en-IN"/>
          </a:p>
        </p:txBody>
      </p:sp>
      <p:sp>
        <p:nvSpPr>
          <p:cNvPr id="24" name="Text 20"/>
          <p:cNvSpPr/>
          <p:nvPr/>
        </p:nvSpPr>
        <p:spPr>
          <a:xfrm>
            <a:off x="6949440" y="3095244"/>
            <a:ext cx="1021842" cy="973836"/>
          </a:xfrm>
          <a:prstGeom prst="rect">
            <a:avLst/>
          </a:prstGeom>
          <a:noFill/>
          <a:ln/>
        </p:spPr>
        <p:txBody>
          <a:bodyPr wrap="square" lIns="0" tIns="0" rIns="0" bIns="0" rtlCol="0" anchor="t"/>
          <a:lstStyle/>
          <a:p>
            <a:pPr marL="0" indent="0">
              <a:lnSpc>
                <a:spcPct val="105000"/>
              </a:lnSpc>
              <a:buNone/>
            </a:pPr>
            <a:r>
              <a:rPr lang="en-US" sz="630" dirty="0">
                <a:solidFill>
                  <a:srgbClr val="FFFFFF"/>
                </a:solidFill>
                <a:latin typeface="Arial" pitchFamily="34" charset="0"/>
                <a:ea typeface="Arial" pitchFamily="34" charset="-122"/>
                <a:cs typeface="Arial" pitchFamily="34" charset="-120"/>
              </a:rPr>
              <a:t>INTERACTIVE CHARTS</a:t>
            </a:r>
            <a:endParaRPr lang="en-US" sz="630" dirty="0"/>
          </a:p>
          <a:p>
            <a:pPr marL="0" indent="0">
              <a:lnSpc>
                <a:spcPct val="105000"/>
              </a:lnSpc>
              <a:buNone/>
            </a:pPr>
            <a:r>
              <a:rPr lang="en-US" sz="630" dirty="0">
                <a:solidFill>
                  <a:srgbClr val="FFFFFF"/>
                </a:solidFill>
                <a:latin typeface="Arial" pitchFamily="34" charset="0"/>
                <a:ea typeface="Arial" pitchFamily="34" charset="-122"/>
                <a:cs typeface="Arial" pitchFamily="34" charset="-120"/>
              </a:rPr>
              <a:t>Top-20 ranking + Chronic-vs-Acute scatter</a:t>
            </a:r>
            <a:endParaRPr lang="en-US" sz="630" dirty="0"/>
          </a:p>
        </p:txBody>
      </p:sp>
      <p:sp>
        <p:nvSpPr>
          <p:cNvPr id="25" name="Shape 21"/>
          <p:cNvSpPr/>
          <p:nvPr/>
        </p:nvSpPr>
        <p:spPr>
          <a:xfrm>
            <a:off x="8053578" y="3076956"/>
            <a:ext cx="1113282" cy="1010412"/>
          </a:xfrm>
          <a:prstGeom prst="rect">
            <a:avLst/>
          </a:prstGeom>
          <a:solidFill>
            <a:srgbClr val="B4143C"/>
          </a:solidFill>
          <a:ln/>
        </p:spPr>
        <p:txBody>
          <a:bodyPr/>
          <a:lstStyle/>
          <a:p>
            <a:endParaRPr lang="en-IN"/>
          </a:p>
        </p:txBody>
      </p:sp>
      <p:sp>
        <p:nvSpPr>
          <p:cNvPr id="26" name="Text 22"/>
          <p:cNvSpPr/>
          <p:nvPr/>
        </p:nvSpPr>
        <p:spPr>
          <a:xfrm>
            <a:off x="8099298" y="3095244"/>
            <a:ext cx="1021842" cy="973836"/>
          </a:xfrm>
          <a:prstGeom prst="rect">
            <a:avLst/>
          </a:prstGeom>
          <a:noFill/>
          <a:ln/>
        </p:spPr>
        <p:txBody>
          <a:bodyPr wrap="square" lIns="0" tIns="0" rIns="0" bIns="0" rtlCol="0" anchor="t"/>
          <a:lstStyle/>
          <a:p>
            <a:pPr marL="0" indent="0">
              <a:lnSpc>
                <a:spcPct val="105000"/>
              </a:lnSpc>
              <a:buNone/>
            </a:pPr>
            <a:r>
              <a:rPr lang="en-US" sz="630" dirty="0">
                <a:solidFill>
                  <a:srgbClr val="FFFFFF"/>
                </a:solidFill>
                <a:latin typeface="Arial" pitchFamily="34" charset="0"/>
                <a:ea typeface="Arial" pitchFamily="34" charset="-122"/>
                <a:cs typeface="Arial" pitchFamily="34" charset="-120"/>
              </a:rPr>
              <a:t>DISTRICT DRILL-DOWN</a:t>
            </a:r>
            <a:endParaRPr lang="en-US" sz="630" dirty="0"/>
          </a:p>
          <a:p>
            <a:pPr marL="0" indent="0">
              <a:lnSpc>
                <a:spcPct val="105000"/>
              </a:lnSpc>
              <a:buNone/>
            </a:pPr>
            <a:r>
              <a:rPr lang="en-US" sz="630" dirty="0">
                <a:solidFill>
                  <a:srgbClr val="FFFFFF"/>
                </a:solidFill>
                <a:latin typeface="Arial" pitchFamily="34" charset="0"/>
                <a:ea typeface="Arial" pitchFamily="34" charset="-122"/>
                <a:cs typeface="Arial" pitchFamily="34" charset="-120"/>
              </a:rPr>
              <a:t>Click any district for full pillar breakdown</a:t>
            </a:r>
            <a:endParaRPr lang="en-US" sz="630" dirty="0"/>
          </a:p>
        </p:txBody>
      </p:sp>
      <p:sp>
        <p:nvSpPr>
          <p:cNvPr id="27" name="Shape 23"/>
          <p:cNvSpPr/>
          <p:nvPr/>
        </p:nvSpPr>
        <p:spPr>
          <a:xfrm>
            <a:off x="9441180" y="1773936"/>
            <a:ext cx="2446020" cy="2350008"/>
          </a:xfrm>
          <a:prstGeom prst="rect">
            <a:avLst/>
          </a:prstGeom>
          <a:solidFill>
            <a:srgbClr val="160A6E"/>
          </a:solidFill>
          <a:ln/>
          <a:effectLst>
            <a:outerShdw blurRad="63500" dist="15240" dir="5400000" algn="bl" rotWithShape="0">
              <a:srgbClr val="000000">
                <a:alpha val="10000"/>
              </a:srgbClr>
            </a:outerShdw>
          </a:effectLst>
        </p:spPr>
        <p:txBody>
          <a:bodyPr/>
          <a:lstStyle/>
          <a:p>
            <a:endParaRPr lang="en-IN"/>
          </a:p>
        </p:txBody>
      </p:sp>
      <p:sp>
        <p:nvSpPr>
          <p:cNvPr id="28" name="Text 24"/>
          <p:cNvSpPr/>
          <p:nvPr/>
        </p:nvSpPr>
        <p:spPr>
          <a:xfrm>
            <a:off x="9514332" y="1810512"/>
            <a:ext cx="2299716" cy="292608"/>
          </a:xfrm>
          <a:prstGeom prst="rect">
            <a:avLst/>
          </a:prstGeom>
          <a:noFill/>
          <a:ln/>
        </p:spPr>
        <p:txBody>
          <a:bodyPr wrap="square" lIns="0" tIns="0" rIns="0" bIns="0" rtlCol="0" anchor="ctr"/>
          <a:lstStyle/>
          <a:p>
            <a:pPr marL="0" indent="0">
              <a:lnSpc>
                <a:spcPct val="100000"/>
              </a:lnSpc>
              <a:buNone/>
            </a:pPr>
            <a:r>
              <a:rPr lang="en-US" sz="800" b="1" dirty="0">
                <a:solidFill>
                  <a:srgbClr val="F0DC3C"/>
                </a:solidFill>
                <a:latin typeface="Arial" pitchFamily="34" charset="0"/>
                <a:ea typeface="Arial" pitchFamily="34" charset="-122"/>
                <a:cs typeface="Arial" pitchFamily="34" charset="-120"/>
              </a:rPr>
              <a:t>How to Open It</a:t>
            </a:r>
            <a:endParaRPr lang="en-US" sz="800" dirty="0"/>
          </a:p>
        </p:txBody>
      </p:sp>
      <p:sp>
        <p:nvSpPr>
          <p:cNvPr id="29" name="Shape 25"/>
          <p:cNvSpPr/>
          <p:nvPr/>
        </p:nvSpPr>
        <p:spPr>
          <a:xfrm>
            <a:off x="9550908" y="2103120"/>
            <a:ext cx="2226564" cy="436626"/>
          </a:xfrm>
          <a:prstGeom prst="roundRect">
            <a:avLst>
              <a:gd name="adj" fmla="val 10471"/>
            </a:avLst>
          </a:prstGeom>
          <a:solidFill>
            <a:srgbClr val="160A6E"/>
          </a:solidFill>
          <a:ln/>
        </p:spPr>
        <p:txBody>
          <a:bodyPr/>
          <a:lstStyle/>
          <a:p>
            <a:endParaRPr lang="en-IN"/>
          </a:p>
        </p:txBody>
      </p:sp>
      <p:sp>
        <p:nvSpPr>
          <p:cNvPr id="30" name="Text 26"/>
          <p:cNvSpPr/>
          <p:nvPr/>
        </p:nvSpPr>
        <p:spPr>
          <a:xfrm>
            <a:off x="9587484" y="2103120"/>
            <a:ext cx="2153412" cy="436626"/>
          </a:xfrm>
          <a:prstGeom prst="rect">
            <a:avLst/>
          </a:prstGeom>
          <a:noFill/>
          <a:ln/>
        </p:spPr>
        <p:txBody>
          <a:bodyPr wrap="square" lIns="0" tIns="0" rIns="0" bIns="0" rtlCol="0" anchor="ctr"/>
          <a:lstStyle/>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Locate</a:t>
            </a:r>
            <a:endParaRPr lang="en-US" sz="760" dirty="0"/>
          </a:p>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Trilytics_Interactive_Dashboard.html</a:t>
            </a:r>
            <a:endParaRPr lang="en-US" sz="760" dirty="0"/>
          </a:p>
        </p:txBody>
      </p:sp>
      <p:sp>
        <p:nvSpPr>
          <p:cNvPr id="31" name="Shape 27"/>
          <p:cNvSpPr/>
          <p:nvPr/>
        </p:nvSpPr>
        <p:spPr>
          <a:xfrm>
            <a:off x="10591038" y="2544318"/>
            <a:ext cx="146304" cy="128016"/>
          </a:xfrm>
          <a:prstGeom prst="downArrow">
            <a:avLst/>
          </a:prstGeom>
          <a:solidFill>
            <a:srgbClr val="C9BEE8"/>
          </a:solidFill>
          <a:ln/>
        </p:spPr>
        <p:txBody>
          <a:bodyPr/>
          <a:lstStyle/>
          <a:p>
            <a:endParaRPr lang="en-IN"/>
          </a:p>
        </p:txBody>
      </p:sp>
      <p:sp>
        <p:nvSpPr>
          <p:cNvPr id="32" name="Shape 28"/>
          <p:cNvSpPr/>
          <p:nvPr/>
        </p:nvSpPr>
        <p:spPr>
          <a:xfrm>
            <a:off x="9550908" y="2599182"/>
            <a:ext cx="2226564" cy="436626"/>
          </a:xfrm>
          <a:prstGeom prst="roundRect">
            <a:avLst>
              <a:gd name="adj" fmla="val 10471"/>
            </a:avLst>
          </a:prstGeom>
          <a:solidFill>
            <a:srgbClr val="38521F"/>
          </a:solidFill>
          <a:ln/>
        </p:spPr>
        <p:txBody>
          <a:bodyPr/>
          <a:lstStyle/>
          <a:p>
            <a:endParaRPr lang="en-IN"/>
          </a:p>
        </p:txBody>
      </p:sp>
      <p:sp>
        <p:nvSpPr>
          <p:cNvPr id="33" name="Text 29"/>
          <p:cNvSpPr/>
          <p:nvPr/>
        </p:nvSpPr>
        <p:spPr>
          <a:xfrm>
            <a:off x="9587484" y="2599182"/>
            <a:ext cx="2153412" cy="436626"/>
          </a:xfrm>
          <a:prstGeom prst="rect">
            <a:avLst/>
          </a:prstGeom>
          <a:noFill/>
          <a:ln/>
        </p:spPr>
        <p:txBody>
          <a:bodyPr wrap="square" lIns="0" tIns="0" rIns="0" bIns="0" rtlCol="0" anchor="ctr"/>
          <a:lstStyle/>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Double-click</a:t>
            </a:r>
            <a:endParaRPr lang="en-US" sz="760" dirty="0"/>
          </a:p>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(no install needed)</a:t>
            </a:r>
            <a:endParaRPr lang="en-US" sz="760" dirty="0"/>
          </a:p>
        </p:txBody>
      </p:sp>
      <p:sp>
        <p:nvSpPr>
          <p:cNvPr id="34" name="Shape 30"/>
          <p:cNvSpPr/>
          <p:nvPr/>
        </p:nvSpPr>
        <p:spPr>
          <a:xfrm>
            <a:off x="10591038" y="3040380"/>
            <a:ext cx="146304" cy="128016"/>
          </a:xfrm>
          <a:prstGeom prst="downArrow">
            <a:avLst/>
          </a:prstGeom>
          <a:solidFill>
            <a:srgbClr val="C9BEE8"/>
          </a:solidFill>
          <a:ln/>
        </p:spPr>
        <p:txBody>
          <a:bodyPr/>
          <a:lstStyle/>
          <a:p>
            <a:endParaRPr lang="en-IN"/>
          </a:p>
        </p:txBody>
      </p:sp>
      <p:sp>
        <p:nvSpPr>
          <p:cNvPr id="35" name="Shape 31"/>
          <p:cNvSpPr/>
          <p:nvPr/>
        </p:nvSpPr>
        <p:spPr>
          <a:xfrm>
            <a:off x="9550908" y="3095244"/>
            <a:ext cx="2226564" cy="436626"/>
          </a:xfrm>
          <a:prstGeom prst="roundRect">
            <a:avLst>
              <a:gd name="adj" fmla="val 10471"/>
            </a:avLst>
          </a:prstGeom>
          <a:solidFill>
            <a:srgbClr val="160A6E"/>
          </a:solidFill>
          <a:ln/>
        </p:spPr>
        <p:txBody>
          <a:bodyPr/>
          <a:lstStyle/>
          <a:p>
            <a:endParaRPr lang="en-IN"/>
          </a:p>
        </p:txBody>
      </p:sp>
      <p:sp>
        <p:nvSpPr>
          <p:cNvPr id="36" name="Text 32"/>
          <p:cNvSpPr/>
          <p:nvPr/>
        </p:nvSpPr>
        <p:spPr>
          <a:xfrm>
            <a:off x="9587484" y="3095244"/>
            <a:ext cx="2153412" cy="436626"/>
          </a:xfrm>
          <a:prstGeom prst="rect">
            <a:avLst/>
          </a:prstGeom>
          <a:noFill/>
          <a:ln/>
        </p:spPr>
        <p:txBody>
          <a:bodyPr wrap="square" lIns="0" tIns="0" rIns="0" bIns="0" rtlCol="0" anchor="ctr"/>
          <a:lstStyle/>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Opens in any</a:t>
            </a:r>
            <a:endParaRPr lang="en-US" sz="760" dirty="0"/>
          </a:p>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web browser</a:t>
            </a:r>
            <a:endParaRPr lang="en-US" sz="760" dirty="0"/>
          </a:p>
        </p:txBody>
      </p:sp>
      <p:sp>
        <p:nvSpPr>
          <p:cNvPr id="37" name="Shape 33"/>
          <p:cNvSpPr/>
          <p:nvPr/>
        </p:nvSpPr>
        <p:spPr>
          <a:xfrm>
            <a:off x="10591038" y="3536442"/>
            <a:ext cx="146304" cy="128016"/>
          </a:xfrm>
          <a:prstGeom prst="downArrow">
            <a:avLst/>
          </a:prstGeom>
          <a:solidFill>
            <a:srgbClr val="C9BEE8"/>
          </a:solidFill>
          <a:ln/>
        </p:spPr>
        <p:txBody>
          <a:bodyPr/>
          <a:lstStyle/>
          <a:p>
            <a:endParaRPr lang="en-IN"/>
          </a:p>
        </p:txBody>
      </p:sp>
      <p:sp>
        <p:nvSpPr>
          <p:cNvPr id="38" name="Shape 34"/>
          <p:cNvSpPr/>
          <p:nvPr/>
        </p:nvSpPr>
        <p:spPr>
          <a:xfrm>
            <a:off x="9550908" y="3591306"/>
            <a:ext cx="2226564" cy="436626"/>
          </a:xfrm>
          <a:prstGeom prst="roundRect">
            <a:avLst>
              <a:gd name="adj" fmla="val 10471"/>
            </a:avLst>
          </a:prstGeom>
          <a:solidFill>
            <a:srgbClr val="38521F"/>
          </a:solidFill>
          <a:ln/>
        </p:spPr>
        <p:txBody>
          <a:bodyPr/>
          <a:lstStyle/>
          <a:p>
            <a:endParaRPr lang="en-IN"/>
          </a:p>
        </p:txBody>
      </p:sp>
      <p:sp>
        <p:nvSpPr>
          <p:cNvPr id="39" name="Text 35"/>
          <p:cNvSpPr/>
          <p:nvPr/>
        </p:nvSpPr>
        <p:spPr>
          <a:xfrm>
            <a:off x="9587484" y="3591306"/>
            <a:ext cx="2153412" cy="436626"/>
          </a:xfrm>
          <a:prstGeom prst="rect">
            <a:avLst/>
          </a:prstGeom>
          <a:noFill/>
          <a:ln/>
        </p:spPr>
        <p:txBody>
          <a:bodyPr wrap="square" lIns="0" tIns="0" rIns="0" bIns="0" rtlCol="0" anchor="ctr"/>
          <a:lstStyle/>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No internet</a:t>
            </a:r>
            <a:endParaRPr lang="en-US" sz="760" dirty="0"/>
          </a:p>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connection required</a:t>
            </a:r>
            <a:endParaRPr lang="en-US" sz="760" dirty="0"/>
          </a:p>
        </p:txBody>
      </p:sp>
      <p:sp>
        <p:nvSpPr>
          <p:cNvPr id="40" name="Shape 36"/>
          <p:cNvSpPr/>
          <p:nvPr/>
        </p:nvSpPr>
        <p:spPr>
          <a:xfrm>
            <a:off x="6812280" y="4306824"/>
            <a:ext cx="2446020" cy="2350008"/>
          </a:xfrm>
          <a:prstGeom prst="rect">
            <a:avLst/>
          </a:prstGeom>
          <a:solidFill>
            <a:srgbClr val="38521F"/>
          </a:solidFill>
          <a:ln/>
          <a:effectLst>
            <a:outerShdw blurRad="63500" dist="15240" dir="5400000" algn="bl" rotWithShape="0">
              <a:srgbClr val="000000">
                <a:alpha val="10000"/>
              </a:srgbClr>
            </a:outerShdw>
          </a:effectLst>
        </p:spPr>
        <p:txBody>
          <a:bodyPr/>
          <a:lstStyle/>
          <a:p>
            <a:endParaRPr lang="en-IN"/>
          </a:p>
        </p:txBody>
      </p:sp>
      <p:sp>
        <p:nvSpPr>
          <p:cNvPr id="41" name="Text 37"/>
          <p:cNvSpPr/>
          <p:nvPr/>
        </p:nvSpPr>
        <p:spPr>
          <a:xfrm>
            <a:off x="6885432" y="4343400"/>
            <a:ext cx="2299716" cy="292608"/>
          </a:xfrm>
          <a:prstGeom prst="rect">
            <a:avLst/>
          </a:prstGeom>
          <a:noFill/>
          <a:ln/>
        </p:spPr>
        <p:txBody>
          <a:bodyPr wrap="square" lIns="0" tIns="0" rIns="0" bIns="0" rtlCol="0" anchor="ctr"/>
          <a:lstStyle/>
          <a:p>
            <a:pPr marL="0" indent="0">
              <a:lnSpc>
                <a:spcPct val="100000"/>
              </a:lnSpc>
              <a:buNone/>
            </a:pPr>
            <a:r>
              <a:rPr lang="en-US" sz="800" b="1" dirty="0">
                <a:solidFill>
                  <a:srgbClr val="F0DC3C"/>
                </a:solidFill>
                <a:latin typeface="Arial" pitchFamily="34" charset="0"/>
                <a:ea typeface="Arial" pitchFamily="34" charset="-122"/>
                <a:cs typeface="Arial" pitchFamily="34" charset="-120"/>
              </a:rPr>
              <a:t>Built From Real Data</a:t>
            </a:r>
            <a:endParaRPr lang="en-US" sz="800" dirty="0"/>
          </a:p>
        </p:txBody>
      </p:sp>
      <p:sp>
        <p:nvSpPr>
          <p:cNvPr id="42" name="Shape 38"/>
          <p:cNvSpPr/>
          <p:nvPr/>
        </p:nvSpPr>
        <p:spPr>
          <a:xfrm>
            <a:off x="6922008" y="4636008"/>
            <a:ext cx="2226564" cy="436626"/>
          </a:xfrm>
          <a:prstGeom prst="roundRect">
            <a:avLst>
              <a:gd name="adj" fmla="val 10471"/>
            </a:avLst>
          </a:prstGeom>
          <a:solidFill>
            <a:srgbClr val="160A6E"/>
          </a:solidFill>
          <a:ln/>
        </p:spPr>
        <p:txBody>
          <a:bodyPr/>
          <a:lstStyle/>
          <a:p>
            <a:endParaRPr lang="en-IN"/>
          </a:p>
        </p:txBody>
      </p:sp>
      <p:sp>
        <p:nvSpPr>
          <p:cNvPr id="43" name="Text 39"/>
          <p:cNvSpPr/>
          <p:nvPr/>
        </p:nvSpPr>
        <p:spPr>
          <a:xfrm>
            <a:off x="6958584" y="4636008"/>
            <a:ext cx="2153412" cy="436626"/>
          </a:xfrm>
          <a:prstGeom prst="rect">
            <a:avLst/>
          </a:prstGeom>
          <a:noFill/>
          <a:ln/>
        </p:spPr>
        <p:txBody>
          <a:bodyPr wrap="square" lIns="0" tIns="0" rIns="0" bIns="0" rtlCol="0" anchor="ctr"/>
          <a:lstStyle/>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Same final_district_</a:t>
            </a:r>
            <a:endParaRPr lang="en-US" sz="760" dirty="0"/>
          </a:p>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mai_scores.csv</a:t>
            </a:r>
            <a:endParaRPr lang="en-US" sz="760" dirty="0"/>
          </a:p>
        </p:txBody>
      </p:sp>
      <p:sp>
        <p:nvSpPr>
          <p:cNvPr id="44" name="Shape 40"/>
          <p:cNvSpPr/>
          <p:nvPr/>
        </p:nvSpPr>
        <p:spPr>
          <a:xfrm>
            <a:off x="7962138" y="5077206"/>
            <a:ext cx="146304" cy="128016"/>
          </a:xfrm>
          <a:prstGeom prst="downArrow">
            <a:avLst/>
          </a:prstGeom>
          <a:solidFill>
            <a:srgbClr val="C9BEE8"/>
          </a:solidFill>
          <a:ln/>
        </p:spPr>
        <p:txBody>
          <a:bodyPr/>
          <a:lstStyle/>
          <a:p>
            <a:endParaRPr lang="en-IN"/>
          </a:p>
        </p:txBody>
      </p:sp>
      <p:sp>
        <p:nvSpPr>
          <p:cNvPr id="45" name="Shape 41"/>
          <p:cNvSpPr/>
          <p:nvPr/>
        </p:nvSpPr>
        <p:spPr>
          <a:xfrm>
            <a:off x="6922008" y="5132070"/>
            <a:ext cx="2226564" cy="436626"/>
          </a:xfrm>
          <a:prstGeom prst="roundRect">
            <a:avLst>
              <a:gd name="adj" fmla="val 10471"/>
            </a:avLst>
          </a:prstGeom>
          <a:solidFill>
            <a:srgbClr val="5F32F2"/>
          </a:solidFill>
          <a:ln/>
        </p:spPr>
        <p:txBody>
          <a:bodyPr/>
          <a:lstStyle/>
          <a:p>
            <a:endParaRPr lang="en-IN"/>
          </a:p>
        </p:txBody>
      </p:sp>
      <p:sp>
        <p:nvSpPr>
          <p:cNvPr id="46" name="Text 42"/>
          <p:cNvSpPr/>
          <p:nvPr/>
        </p:nvSpPr>
        <p:spPr>
          <a:xfrm>
            <a:off x="6958584" y="5132070"/>
            <a:ext cx="2153412" cy="436626"/>
          </a:xfrm>
          <a:prstGeom prst="rect">
            <a:avLst/>
          </a:prstGeom>
          <a:noFill/>
          <a:ln/>
        </p:spPr>
        <p:txBody>
          <a:bodyPr wrap="square" lIns="0" tIns="0" rIns="0" bIns="0" rtlCol="0" anchor="ctr"/>
          <a:lstStyle/>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All 706 districts,</a:t>
            </a:r>
            <a:endParaRPr lang="en-US" sz="760" dirty="0"/>
          </a:p>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no placeholders</a:t>
            </a:r>
            <a:endParaRPr lang="en-US" sz="760" dirty="0"/>
          </a:p>
        </p:txBody>
      </p:sp>
      <p:sp>
        <p:nvSpPr>
          <p:cNvPr id="47" name="Shape 43"/>
          <p:cNvSpPr/>
          <p:nvPr/>
        </p:nvSpPr>
        <p:spPr>
          <a:xfrm>
            <a:off x="7962138" y="5573268"/>
            <a:ext cx="146304" cy="128016"/>
          </a:xfrm>
          <a:prstGeom prst="downArrow">
            <a:avLst/>
          </a:prstGeom>
          <a:solidFill>
            <a:srgbClr val="C9BEE8"/>
          </a:solidFill>
          <a:ln/>
        </p:spPr>
        <p:txBody>
          <a:bodyPr/>
          <a:lstStyle/>
          <a:p>
            <a:endParaRPr lang="en-IN"/>
          </a:p>
        </p:txBody>
      </p:sp>
      <p:sp>
        <p:nvSpPr>
          <p:cNvPr id="48" name="Shape 44"/>
          <p:cNvSpPr/>
          <p:nvPr/>
        </p:nvSpPr>
        <p:spPr>
          <a:xfrm>
            <a:off x="6922008" y="5628132"/>
            <a:ext cx="2226564" cy="436626"/>
          </a:xfrm>
          <a:prstGeom prst="roundRect">
            <a:avLst>
              <a:gd name="adj" fmla="val 10471"/>
            </a:avLst>
          </a:prstGeom>
          <a:solidFill>
            <a:srgbClr val="160A6E"/>
          </a:solidFill>
          <a:ln/>
        </p:spPr>
        <p:txBody>
          <a:bodyPr/>
          <a:lstStyle/>
          <a:p>
            <a:endParaRPr lang="en-IN"/>
          </a:p>
        </p:txBody>
      </p:sp>
      <p:sp>
        <p:nvSpPr>
          <p:cNvPr id="49" name="Text 45"/>
          <p:cNvSpPr/>
          <p:nvPr/>
        </p:nvSpPr>
        <p:spPr>
          <a:xfrm>
            <a:off x="6958584" y="5628132"/>
            <a:ext cx="2153412" cy="436626"/>
          </a:xfrm>
          <a:prstGeom prst="rect">
            <a:avLst/>
          </a:prstGeom>
          <a:noFill/>
          <a:ln/>
        </p:spPr>
        <p:txBody>
          <a:bodyPr wrap="square" lIns="0" tIns="0" rIns="0" bIns="0" rtlCol="0" anchor="ctr"/>
          <a:lstStyle/>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Zero external</a:t>
            </a:r>
            <a:endParaRPr lang="en-US" sz="760" dirty="0"/>
          </a:p>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dependencies</a:t>
            </a:r>
            <a:endParaRPr lang="en-US" sz="760" dirty="0"/>
          </a:p>
        </p:txBody>
      </p:sp>
      <p:sp>
        <p:nvSpPr>
          <p:cNvPr id="50" name="Shape 46"/>
          <p:cNvSpPr/>
          <p:nvPr/>
        </p:nvSpPr>
        <p:spPr>
          <a:xfrm>
            <a:off x="7962138" y="6069330"/>
            <a:ext cx="146304" cy="128016"/>
          </a:xfrm>
          <a:prstGeom prst="downArrow">
            <a:avLst/>
          </a:prstGeom>
          <a:solidFill>
            <a:srgbClr val="C9BEE8"/>
          </a:solidFill>
          <a:ln/>
        </p:spPr>
        <p:txBody>
          <a:bodyPr/>
          <a:lstStyle/>
          <a:p>
            <a:endParaRPr lang="en-IN"/>
          </a:p>
        </p:txBody>
      </p:sp>
      <p:sp>
        <p:nvSpPr>
          <p:cNvPr id="51" name="Shape 47"/>
          <p:cNvSpPr/>
          <p:nvPr/>
        </p:nvSpPr>
        <p:spPr>
          <a:xfrm>
            <a:off x="6922008" y="6124194"/>
            <a:ext cx="2226564" cy="436626"/>
          </a:xfrm>
          <a:prstGeom prst="roundRect">
            <a:avLst>
              <a:gd name="adj" fmla="val 10471"/>
            </a:avLst>
          </a:prstGeom>
          <a:solidFill>
            <a:srgbClr val="5F32F2"/>
          </a:solidFill>
          <a:ln/>
        </p:spPr>
        <p:txBody>
          <a:bodyPr/>
          <a:lstStyle/>
          <a:p>
            <a:endParaRPr lang="en-IN"/>
          </a:p>
        </p:txBody>
      </p:sp>
      <p:sp>
        <p:nvSpPr>
          <p:cNvPr id="52" name="Text 48"/>
          <p:cNvSpPr/>
          <p:nvPr/>
        </p:nvSpPr>
        <p:spPr>
          <a:xfrm>
            <a:off x="6958584" y="6124194"/>
            <a:ext cx="2153412" cy="436626"/>
          </a:xfrm>
          <a:prstGeom prst="rect">
            <a:avLst/>
          </a:prstGeom>
          <a:noFill/>
          <a:ln/>
        </p:spPr>
        <p:txBody>
          <a:bodyPr wrap="square" lIns="0" tIns="0" rIns="0" bIns="0" rtlCol="0" anchor="ctr"/>
          <a:lstStyle/>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Fully offline-</a:t>
            </a:r>
            <a:endParaRPr lang="en-US" sz="760" dirty="0"/>
          </a:p>
          <a:p>
            <a:pPr marL="0" indent="0" algn="ctr">
              <a:lnSpc>
                <a:spcPct val="100000"/>
              </a:lnSpc>
              <a:buNone/>
            </a:pPr>
            <a:r>
              <a:rPr lang="en-US" sz="760" b="1" dirty="0">
                <a:solidFill>
                  <a:srgbClr val="FFFFFF"/>
                </a:solidFill>
                <a:latin typeface="Arial" pitchFamily="34" charset="0"/>
                <a:ea typeface="Arial" pitchFamily="34" charset="-122"/>
                <a:cs typeface="Arial" pitchFamily="34" charset="-120"/>
              </a:rPr>
              <a:t>capable</a:t>
            </a:r>
            <a:endParaRPr lang="en-US" sz="760" dirty="0"/>
          </a:p>
        </p:txBody>
      </p:sp>
      <p:sp>
        <p:nvSpPr>
          <p:cNvPr id="53" name="Shape 49"/>
          <p:cNvSpPr/>
          <p:nvPr/>
        </p:nvSpPr>
        <p:spPr>
          <a:xfrm>
            <a:off x="-274320" y="6656832"/>
            <a:ext cx="2895600" cy="201168"/>
          </a:xfrm>
          <a:prstGeom prst="triangle">
            <a:avLst/>
          </a:prstGeom>
          <a:solidFill>
            <a:srgbClr val="D8C9F7">
              <a:alpha val="85000"/>
            </a:srgbClr>
          </a:solidFill>
          <a:ln/>
        </p:spPr>
        <p:txBody>
          <a:bodyPr/>
          <a:lstStyle/>
          <a:p>
            <a:endParaRPr lang="en-IN"/>
          </a:p>
        </p:txBody>
      </p:sp>
      <p:sp>
        <p:nvSpPr>
          <p:cNvPr id="54" name="Shape 50"/>
          <p:cNvSpPr/>
          <p:nvPr/>
        </p:nvSpPr>
        <p:spPr>
          <a:xfrm>
            <a:off x="2186940" y="6611112"/>
            <a:ext cx="2895600" cy="246888"/>
          </a:xfrm>
          <a:prstGeom prst="triangle">
            <a:avLst/>
          </a:prstGeom>
          <a:solidFill>
            <a:srgbClr val="5F32F2">
              <a:alpha val="85000"/>
            </a:srgbClr>
          </a:solidFill>
          <a:ln/>
        </p:spPr>
        <p:txBody>
          <a:bodyPr/>
          <a:lstStyle/>
          <a:p>
            <a:endParaRPr lang="en-IN"/>
          </a:p>
        </p:txBody>
      </p:sp>
      <p:sp>
        <p:nvSpPr>
          <p:cNvPr id="55" name="Shape 51"/>
          <p:cNvSpPr/>
          <p:nvPr/>
        </p:nvSpPr>
        <p:spPr>
          <a:xfrm>
            <a:off x="4648200" y="6565392"/>
            <a:ext cx="2895600" cy="292608"/>
          </a:xfrm>
          <a:prstGeom prst="triangle">
            <a:avLst/>
          </a:prstGeom>
          <a:solidFill>
            <a:srgbClr val="8AAE6E">
              <a:alpha val="85000"/>
            </a:srgbClr>
          </a:solidFill>
          <a:ln/>
        </p:spPr>
        <p:txBody>
          <a:bodyPr/>
          <a:lstStyle/>
          <a:p>
            <a:endParaRPr lang="en-IN"/>
          </a:p>
        </p:txBody>
      </p:sp>
      <p:sp>
        <p:nvSpPr>
          <p:cNvPr id="56" name="Shape 52"/>
          <p:cNvSpPr/>
          <p:nvPr/>
        </p:nvSpPr>
        <p:spPr>
          <a:xfrm>
            <a:off x="7109460" y="6656832"/>
            <a:ext cx="2895600" cy="201168"/>
          </a:xfrm>
          <a:prstGeom prst="triangle">
            <a:avLst/>
          </a:prstGeom>
          <a:solidFill>
            <a:srgbClr val="4B6E32">
              <a:alpha val="85000"/>
            </a:srgbClr>
          </a:solidFill>
          <a:ln/>
        </p:spPr>
        <p:txBody>
          <a:bodyPr/>
          <a:lstStyle/>
          <a:p>
            <a:endParaRPr lang="en-IN"/>
          </a:p>
        </p:txBody>
      </p:sp>
      <p:sp>
        <p:nvSpPr>
          <p:cNvPr id="57" name="Shape 53"/>
          <p:cNvSpPr/>
          <p:nvPr/>
        </p:nvSpPr>
        <p:spPr>
          <a:xfrm>
            <a:off x="9570720" y="6611112"/>
            <a:ext cx="2895600" cy="246888"/>
          </a:xfrm>
          <a:prstGeom prst="triangle">
            <a:avLst/>
          </a:prstGeom>
          <a:solidFill>
            <a:srgbClr val="D8C9F7">
              <a:alpha val="85000"/>
            </a:srgbClr>
          </a:solidFill>
          <a:ln/>
        </p:spPr>
        <p:txBody>
          <a:bodyPr/>
          <a:lstStyle/>
          <a:p>
            <a:endParaRPr lang="en-IN"/>
          </a:p>
        </p:txBody>
      </p:sp>
      <p:sp>
        <p:nvSpPr>
          <p:cNvPr id="58" name="Shape 54"/>
          <p:cNvSpPr/>
          <p:nvPr/>
        </p:nvSpPr>
        <p:spPr>
          <a:xfrm>
            <a:off x="0" y="6729984"/>
            <a:ext cx="12161520" cy="128016"/>
          </a:xfrm>
          <a:prstGeom prst="rect">
            <a:avLst/>
          </a:prstGeom>
          <a:solidFill>
            <a:srgbClr val="160A6E"/>
          </a:solidFill>
          <a:ln/>
        </p:spPr>
        <p:txBody>
          <a:bodyPr/>
          <a:lstStyle/>
          <a:p>
            <a:endParaRPr lang="en-IN"/>
          </a:p>
        </p:txBody>
      </p:sp>
      <p:sp>
        <p:nvSpPr>
          <p:cNvPr id="59" name="Text 55"/>
          <p:cNvSpPr/>
          <p:nvPr/>
        </p:nvSpPr>
        <p:spPr>
          <a:xfrm>
            <a:off x="274320" y="6729984"/>
            <a:ext cx="7315200" cy="128016"/>
          </a:xfrm>
          <a:prstGeom prst="rect">
            <a:avLst/>
          </a:prstGeom>
          <a:noFill/>
          <a:ln/>
        </p:spPr>
        <p:txBody>
          <a:bodyPr wrap="square" lIns="0" tIns="0" rIns="0" bIns="0" rtlCol="0" anchor="ctr"/>
          <a:lstStyle/>
          <a:p>
            <a:pPr marL="0" indent="0">
              <a:buNone/>
            </a:pPr>
            <a:r>
              <a:rPr lang="en-US" sz="600" b="1" dirty="0">
                <a:solidFill>
                  <a:srgbClr val="FFFFFF"/>
                </a:solidFill>
                <a:latin typeface="Arial" pitchFamily="34" charset="0"/>
                <a:ea typeface="Arial" pitchFamily="34" charset="-122"/>
                <a:cs typeface="Arial" pitchFamily="34" charset="-120"/>
              </a:rPr>
              <a:t>TRILYTICS 2026  ·  IIM UDAIPUR  ·  SUN PHARMA CASE CHALLENGE</a:t>
            </a:r>
            <a:endParaRPr lang="en-US" sz="600" dirty="0"/>
          </a:p>
        </p:txBody>
      </p:sp>
      <p:sp>
        <p:nvSpPr>
          <p:cNvPr id="60" name="Text 56"/>
          <p:cNvSpPr/>
          <p:nvPr/>
        </p:nvSpPr>
        <p:spPr>
          <a:xfrm>
            <a:off x="11612880" y="6729984"/>
            <a:ext cx="365760" cy="128016"/>
          </a:xfrm>
          <a:prstGeom prst="rect">
            <a:avLst/>
          </a:prstGeom>
          <a:noFill/>
          <a:ln/>
        </p:spPr>
        <p:txBody>
          <a:bodyPr wrap="square" lIns="0" tIns="0" rIns="0" bIns="0" rtlCol="0" anchor="ctr"/>
          <a:lstStyle/>
          <a:p>
            <a:pPr marL="0" indent="0" algn="r">
              <a:buNone/>
            </a:pPr>
            <a:r>
              <a:rPr lang="en-US" sz="600" b="1" dirty="0">
                <a:solidFill>
                  <a:srgbClr val="FFFFFF"/>
                </a:solidFill>
                <a:latin typeface="Arial" pitchFamily="34" charset="0"/>
                <a:ea typeface="Arial" pitchFamily="34" charset="-122"/>
                <a:cs typeface="Arial" pitchFamily="34" charset="-120"/>
              </a:rPr>
              <a:t>1</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8955</Words>
  <Application>Microsoft Office PowerPoint</Application>
  <PresentationFormat>Widescreen</PresentationFormat>
  <Paragraphs>744</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Saimanasa Chadalavada</cp:lastModifiedBy>
  <cp:revision>1</cp:revision>
  <dcterms:created xsi:type="dcterms:W3CDTF">2026-07-21T13:47:42Z</dcterms:created>
  <dcterms:modified xsi:type="dcterms:W3CDTF">2026-07-22T01:54:27Z</dcterms:modified>
</cp:coreProperties>
</file>